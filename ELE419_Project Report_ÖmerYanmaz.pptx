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73" r:id="rId4"/>
    <p:sldId id="271" r:id="rId5"/>
    <p:sldId id="272" r:id="rId6"/>
    <p:sldId id="257" r:id="rId7"/>
    <p:sldId id="274" r:id="rId8"/>
    <p:sldId id="278" r:id="rId9"/>
    <p:sldId id="276" r:id="rId10"/>
    <p:sldId id="277" r:id="rId11"/>
    <p:sldId id="280" r:id="rId12"/>
    <p:sldId id="281" r:id="rId13"/>
    <p:sldId id="275" r:id="rId14"/>
    <p:sldId id="279" r:id="rId15"/>
    <p:sldId id="286" r:id="rId16"/>
    <p:sldId id="284" r:id="rId17"/>
    <p:sldId id="285" r:id="rId18"/>
    <p:sldId id="258" r:id="rId19"/>
    <p:sldId id="259" r:id="rId20"/>
    <p:sldId id="302" r:id="rId21"/>
    <p:sldId id="303" r:id="rId22"/>
    <p:sldId id="304" r:id="rId23"/>
    <p:sldId id="263" r:id="rId24"/>
    <p:sldId id="290" r:id="rId25"/>
    <p:sldId id="305" r:id="rId26"/>
    <p:sldId id="306" r:id="rId27"/>
    <p:sldId id="307" r:id="rId28"/>
    <p:sldId id="260" r:id="rId29"/>
    <p:sldId id="308" r:id="rId30"/>
    <p:sldId id="309" r:id="rId31"/>
    <p:sldId id="310" r:id="rId32"/>
    <p:sldId id="269" r:id="rId33"/>
    <p:sldId id="311" r:id="rId34"/>
    <p:sldId id="312" r:id="rId35"/>
    <p:sldId id="313" r:id="rId36"/>
    <p:sldId id="262" r:id="rId37"/>
    <p:sldId id="314" r:id="rId38"/>
    <p:sldId id="315" r:id="rId39"/>
    <p:sldId id="264" r:id="rId40"/>
    <p:sldId id="26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7" autoAdjust="0"/>
    <p:restoredTop sz="94660"/>
  </p:normalViewPr>
  <p:slideViewPr>
    <p:cSldViewPr snapToGrid="0">
      <p:cViewPr varScale="1">
        <p:scale>
          <a:sx n="104" d="100"/>
          <a:sy n="104" d="100"/>
        </p:scale>
        <p:origin x="16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9328-B5E6-98CE-062F-4264869BFC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B95F05-9CA8-62E3-5C24-653C31FD4F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B4CC14-AAB9-199A-0E19-8F2638D2F8DC}"/>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C5F29DD4-94D4-8BFB-F0FF-28E6A4CB72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9121E9-AC7C-D419-157B-1113EA3234A2}"/>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264676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B25C-D568-2F2C-B3F8-FB22DCC0B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09DFAE-88C6-3DFD-CF64-ADCBA1492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7E1AE-8747-C17C-F6BC-74D9C70E18D0}"/>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6A0786E1-79E6-A6B7-81A4-7A3DF6469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BF6D8E-F049-47DB-7521-0136B95E4F7B}"/>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872882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A03E-F32B-EF97-EB5D-D9265F02CC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37730F-58BC-FBB5-FCCB-57141A1935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B751D2-89E8-CD17-A2D0-7B69BDDC4D9D}"/>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777B0289-6411-1E09-6CFC-81584CC67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C9661-30FD-C6CD-FECF-2A348C795CEB}"/>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53403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B4D5-AC0C-15B2-1A30-6110B1695C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54A9F-47AE-1D99-CB18-F5BE66C3DC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6468E2-5A6D-737F-8C1B-CC0BB299C0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CB0069-3478-FA03-9F33-47E944821929}"/>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6" name="Footer Placeholder 5">
            <a:extLst>
              <a:ext uri="{FF2B5EF4-FFF2-40B4-BE49-F238E27FC236}">
                <a16:creationId xmlns:a16="http://schemas.microsoft.com/office/drawing/2014/main" id="{7F4776F2-2B59-7792-65FE-D9B783B141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99DA99-1A03-5C05-094C-61B60690A54A}"/>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154642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4F451-1CD1-BD36-09F0-F3D81AE23E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8695AE-2AFE-9B6B-B6CF-2BF31F4041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75D8E2-AB58-63BD-B3C0-6766F8FC50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79982E-2C12-F6E5-D7D8-179F81A80C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DFB461-9DCD-BF66-E220-1800363DF1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4A8091-3178-5C74-EEBF-03441B4A91A1}"/>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8" name="Footer Placeholder 7">
            <a:extLst>
              <a:ext uri="{FF2B5EF4-FFF2-40B4-BE49-F238E27FC236}">
                <a16:creationId xmlns:a16="http://schemas.microsoft.com/office/drawing/2014/main" id="{BD0EF472-81D1-B95E-3263-E822F09027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3CAD9E-FA99-2C86-15AB-515F22F6F581}"/>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243542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4231-1C18-38FB-71F7-CEDE64D5C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57DE4B-0173-29AA-EB6C-6DB0F530012E}"/>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4" name="Footer Placeholder 3">
            <a:extLst>
              <a:ext uri="{FF2B5EF4-FFF2-40B4-BE49-F238E27FC236}">
                <a16:creationId xmlns:a16="http://schemas.microsoft.com/office/drawing/2014/main" id="{E01616F7-9926-2255-99F5-7C62B41C29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D21911-7096-1D7E-8DDB-814118A7B169}"/>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46107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10A48E-5FCB-0324-0E20-DF96A917ABAD}"/>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3" name="Footer Placeholder 2">
            <a:extLst>
              <a:ext uri="{FF2B5EF4-FFF2-40B4-BE49-F238E27FC236}">
                <a16:creationId xmlns:a16="http://schemas.microsoft.com/office/drawing/2014/main" id="{5BD36B5B-A162-3839-8EBF-80228955B0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EEE1E3-0ADE-6B97-31D9-06D9D5AE9E80}"/>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5271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693C1-3612-A881-DA9B-B67CE58F94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04E551-9FAE-1E03-562F-515E84588E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DC52AA-6825-B487-A894-2E682E2E5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91E27C-1C0F-563F-2074-88B254E8B0EC}"/>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6" name="Footer Placeholder 5">
            <a:extLst>
              <a:ext uri="{FF2B5EF4-FFF2-40B4-BE49-F238E27FC236}">
                <a16:creationId xmlns:a16="http://schemas.microsoft.com/office/drawing/2014/main" id="{19A89293-EBE2-2A93-4BFB-6D74D9B46C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0DF0F8-416C-6ADB-5F4A-2C8F42593297}"/>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2406818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8405-1F07-3B7C-3807-0F516521B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490-180B-8060-D6FF-7D0B3B5025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37DA8B-D57D-C7E4-8CBB-AA81303A6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C3F2F0-06AE-DD93-1D13-D9747D0C30CD}"/>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6" name="Footer Placeholder 5">
            <a:extLst>
              <a:ext uri="{FF2B5EF4-FFF2-40B4-BE49-F238E27FC236}">
                <a16:creationId xmlns:a16="http://schemas.microsoft.com/office/drawing/2014/main" id="{692F0934-F9E5-15B9-29E1-A3BFC33D29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EC418-84B7-38C4-5324-9276594A6369}"/>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3710587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D338-B0CF-7567-D84E-A990F015A9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4C8BD-23E0-3D1A-F74F-65F62F1659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EAF10-C048-774D-FAB9-ECBD46665AE4}"/>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3F9093B2-DA37-77F5-A076-FC7A3B2B2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BDD94-664A-3523-7E79-8D7FC2BC986A}"/>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4208933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59ED2-E01B-DB3A-9EC2-4BCB3F4F6B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2504DE-0D5C-F8C4-2ADA-20DDE6396D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ADCF3-BCD5-89EF-2E75-805085E7EE0F}"/>
              </a:ext>
            </a:extLst>
          </p:cNvPr>
          <p:cNvSpPr>
            <a:spLocks noGrp="1"/>
          </p:cNvSpPr>
          <p:nvPr>
            <p:ph type="dt" sz="half" idx="10"/>
          </p:nvPr>
        </p:nvSpPr>
        <p:spPr/>
        <p:txBody>
          <a:body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10595A05-0C90-E908-5B88-E26E6C249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01E78-0BBD-7B63-E74F-B9769929329C}"/>
              </a:ext>
            </a:extLst>
          </p:cNvPr>
          <p:cNvSpPr>
            <a:spLocks noGrp="1"/>
          </p:cNvSpPr>
          <p:nvPr>
            <p:ph type="sldNum" sz="quarter" idx="12"/>
          </p:nvPr>
        </p:nvSpPr>
        <p:spPr/>
        <p:txBody>
          <a:bodyPr/>
          <a:lstStyle/>
          <a:p>
            <a:fld id="{6B2789F5-F626-42C6-B915-664D7C5E39D2}" type="slidenum">
              <a:rPr lang="en-US" smtClean="0"/>
              <a:t>‹#›</a:t>
            </a:fld>
            <a:endParaRPr lang="en-US"/>
          </a:p>
        </p:txBody>
      </p:sp>
    </p:spTree>
    <p:extLst>
      <p:ext uri="{BB962C8B-B14F-4D97-AF65-F5344CB8AC3E}">
        <p14:creationId xmlns:p14="http://schemas.microsoft.com/office/powerpoint/2010/main" val="130155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F78D73-1D3E-9874-D40E-7F8C2E9F19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2CFFA1-5BF4-0B98-CD1D-9B7E2EF5B5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2C092-5704-2312-AD46-859F84D134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7E0D16-E236-4B4E-8FDF-1821910D2C78}" type="datetimeFigureOut">
              <a:rPr lang="en-US" smtClean="0"/>
              <a:t>1/1/2026</a:t>
            </a:fld>
            <a:endParaRPr lang="en-US"/>
          </a:p>
        </p:txBody>
      </p:sp>
      <p:sp>
        <p:nvSpPr>
          <p:cNvPr id="5" name="Footer Placeholder 4">
            <a:extLst>
              <a:ext uri="{FF2B5EF4-FFF2-40B4-BE49-F238E27FC236}">
                <a16:creationId xmlns:a16="http://schemas.microsoft.com/office/drawing/2014/main" id="{64E8C68A-3471-88E5-DC24-E15826DA90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ECDAA8-3125-D778-CDEB-C1369AEC2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2789F5-F626-42C6-B915-664D7C5E39D2}" type="slidenum">
              <a:rPr lang="en-US" smtClean="0"/>
              <a:t>‹#›</a:t>
            </a:fld>
            <a:endParaRPr lang="en-US"/>
          </a:p>
        </p:txBody>
      </p:sp>
    </p:spTree>
    <p:extLst>
      <p:ext uri="{BB962C8B-B14F-4D97-AF65-F5344CB8AC3E}">
        <p14:creationId xmlns:p14="http://schemas.microsoft.com/office/powerpoint/2010/main" val="1914171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MupsaVTT6iw"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F6BB-219F-B772-63E6-440FFEC1E628}"/>
              </a:ext>
            </a:extLst>
          </p:cNvPr>
          <p:cNvSpPr>
            <a:spLocks noGrp="1"/>
          </p:cNvSpPr>
          <p:nvPr>
            <p:ph type="ctrTitle"/>
          </p:nvPr>
        </p:nvSpPr>
        <p:spPr>
          <a:xfrm>
            <a:off x="1524000" y="868363"/>
            <a:ext cx="9144000" cy="2387600"/>
          </a:xfrm>
        </p:spPr>
        <p:txBody>
          <a:bodyPr/>
          <a:lstStyle/>
          <a:p>
            <a:r>
              <a:rPr lang="en-US" dirty="0"/>
              <a:t>ELE419 </a:t>
            </a:r>
            <a:br>
              <a:rPr lang="en-US" dirty="0"/>
            </a:br>
            <a:r>
              <a:rPr lang="en-US" dirty="0"/>
              <a:t>IC Design Project</a:t>
            </a:r>
          </a:p>
        </p:txBody>
      </p:sp>
      <p:sp>
        <p:nvSpPr>
          <p:cNvPr id="3" name="Subtitle 2">
            <a:extLst>
              <a:ext uri="{FF2B5EF4-FFF2-40B4-BE49-F238E27FC236}">
                <a16:creationId xmlns:a16="http://schemas.microsoft.com/office/drawing/2014/main" id="{B92CEE88-DE5B-A410-D7DF-9F9285BC8465}"/>
              </a:ext>
            </a:extLst>
          </p:cNvPr>
          <p:cNvSpPr>
            <a:spLocks noGrp="1"/>
          </p:cNvSpPr>
          <p:nvPr>
            <p:ph type="subTitle" idx="1"/>
          </p:nvPr>
        </p:nvSpPr>
        <p:spPr>
          <a:xfrm>
            <a:off x="1524000" y="3602037"/>
            <a:ext cx="9144000" cy="2769733"/>
          </a:xfrm>
        </p:spPr>
        <p:txBody>
          <a:bodyPr/>
          <a:lstStyle/>
          <a:p>
            <a:pPr lvl="0"/>
            <a:r>
              <a:rPr lang="en-US" sz="2800" b="1" dirty="0"/>
              <a:t>Physical VLSI </a:t>
            </a:r>
            <a:r>
              <a:rPr lang="tr-TR" sz="2800" b="1" dirty="0"/>
              <a:t>D</a:t>
            </a:r>
            <a:r>
              <a:rPr lang="en-US" sz="2800" b="1" dirty="0" err="1"/>
              <a:t>esign</a:t>
            </a:r>
            <a:r>
              <a:rPr lang="en-US" sz="2800" b="1" dirty="0"/>
              <a:t> of 8-bit ALU with Extended Opcode Set</a:t>
            </a:r>
            <a:endParaRPr lang="tr-TR" sz="2800" b="1" dirty="0"/>
          </a:p>
          <a:p>
            <a:pPr lvl="0"/>
            <a:endParaRPr lang="en-US" sz="3200" dirty="0"/>
          </a:p>
          <a:p>
            <a:r>
              <a:rPr lang="tr-TR" sz="2800" dirty="0"/>
              <a:t>Ömer Yanmaz</a:t>
            </a:r>
            <a:br>
              <a:rPr lang="en-US" sz="2800" dirty="0"/>
            </a:br>
            <a:r>
              <a:rPr lang="tr-TR" sz="2800" dirty="0"/>
              <a:t>2210357025</a:t>
            </a:r>
            <a:endParaRPr lang="en-US" sz="2800" dirty="0"/>
          </a:p>
        </p:txBody>
      </p:sp>
    </p:spTree>
    <p:extLst>
      <p:ext uri="{BB962C8B-B14F-4D97-AF65-F5344CB8AC3E}">
        <p14:creationId xmlns:p14="http://schemas.microsoft.com/office/powerpoint/2010/main" val="2876591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1B77-999E-8F95-6DA8-B2D546F384E4}"/>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C1BA2707-5AB8-C68C-250D-A720EA617005}"/>
              </a:ext>
            </a:extLst>
          </p:cNvPr>
          <p:cNvSpPr>
            <a:spLocks noGrp="1"/>
          </p:cNvSpPr>
          <p:nvPr>
            <p:ph idx="1"/>
          </p:nvPr>
        </p:nvSpPr>
        <p:spPr>
          <a:xfrm>
            <a:off x="838200" y="1427197"/>
            <a:ext cx="10515600" cy="5201065"/>
          </a:xfrm>
        </p:spPr>
        <p:txBody>
          <a:bodyPr>
            <a:noAutofit/>
          </a:bodyPr>
          <a:lstStyle/>
          <a:p>
            <a:pPr marL="0" indent="0">
              <a:buNone/>
            </a:pPr>
            <a:r>
              <a:rPr lang="en-US" sz="1600" b="1" dirty="0"/>
              <a:t>Full Adder Design</a:t>
            </a:r>
          </a:p>
          <a:p>
            <a:r>
              <a:rPr lang="en-US" sz="1600" dirty="0"/>
              <a:t>In this work, a conventional full adder architecture was used for the arithmetic operations of the 8-bit ALU. The conventional full adder is widely preferred in digital circuit design due to its simplicity, reliability, and ease of implementation using basic logic gates. It consists of two XOR gates, two AND gates, and one OR gate to generate the sum and carry outputs. This structure provides stable operation and is commonly used in educational and industrial VLSI designs.</a:t>
            </a:r>
          </a:p>
          <a:p>
            <a:pPr marL="0" indent="0">
              <a:buNone/>
            </a:pPr>
            <a:r>
              <a:rPr lang="en-US" sz="1600" b="1" dirty="0"/>
              <a:t>Reference:</a:t>
            </a:r>
            <a:endParaRPr lang="en-US" sz="1600" dirty="0"/>
          </a:p>
          <a:p>
            <a:r>
              <a:rPr lang="en-US" sz="1600" dirty="0" err="1"/>
              <a:t>Rabaey</a:t>
            </a:r>
            <a:r>
              <a:rPr lang="en-US" sz="1600" dirty="0"/>
              <a:t>, J. M., Chandrakasan, A., &amp; Nikolić, B. </a:t>
            </a:r>
            <a:r>
              <a:rPr lang="en-US" sz="1600" i="1" dirty="0"/>
              <a:t>Digital Integrated Circuits: A Design Perspective</a:t>
            </a:r>
            <a:r>
              <a:rPr lang="en-US" sz="1600" dirty="0"/>
              <a:t>. Prentice Hall, 2003.</a:t>
            </a:r>
          </a:p>
          <a:p>
            <a:r>
              <a:rPr lang="en-US" sz="1600" dirty="0"/>
              <a:t>Weste, N. H. E., &amp; Harris, D. </a:t>
            </a:r>
            <a:r>
              <a:rPr lang="en-US" sz="1600" i="1" dirty="0"/>
              <a:t>CMOS VLSI Design: A Circuits and Systems Perspective</a:t>
            </a:r>
            <a:r>
              <a:rPr lang="en-US" sz="1600" dirty="0"/>
              <a:t>. Pearson, 2011.</a:t>
            </a:r>
            <a:br>
              <a:rPr lang="en-US" sz="1600" dirty="0"/>
            </a:br>
            <a:endParaRPr lang="en-US" sz="1600" dirty="0"/>
          </a:p>
          <a:p>
            <a:pPr marL="0" indent="0">
              <a:buNone/>
            </a:pPr>
            <a:r>
              <a:rPr lang="en-US" sz="1600" b="1" dirty="0"/>
              <a:t>Shift Operation Design</a:t>
            </a:r>
          </a:p>
          <a:p>
            <a:r>
              <a:rPr lang="en-US" sz="1600" dirty="0"/>
              <a:t>For shift operations in the ALU, </a:t>
            </a:r>
            <a:r>
              <a:rPr lang="en-US" sz="1600" b="1" dirty="0"/>
              <a:t>buffer-based shift logic</a:t>
            </a:r>
            <a:r>
              <a:rPr lang="en-US" sz="1600" dirty="0"/>
              <a:t> was implemented. Buffers are commonly used in shift operations to ensure proper signal propagation and to minimize delay caused by loading effects. Using buffers provides fast and reliable data transfer between stages, making them suitable for high-speed digital circuits such as ALUs.</a:t>
            </a:r>
          </a:p>
          <a:p>
            <a:pPr marL="0" indent="0">
              <a:buNone/>
            </a:pPr>
            <a:r>
              <a:rPr lang="en-US" sz="1600" b="1" dirty="0"/>
              <a:t>Reference:</a:t>
            </a:r>
            <a:endParaRPr lang="en-US" sz="1600" dirty="0"/>
          </a:p>
          <a:p>
            <a:r>
              <a:rPr lang="en-US" sz="1600" dirty="0"/>
              <a:t>Kang, S. M., &amp; </a:t>
            </a:r>
            <a:r>
              <a:rPr lang="en-US" sz="1600" dirty="0" err="1"/>
              <a:t>Leblebici</a:t>
            </a:r>
            <a:r>
              <a:rPr lang="en-US" sz="1600" dirty="0"/>
              <a:t>, Y. </a:t>
            </a:r>
            <a:r>
              <a:rPr lang="en-US" sz="1600" i="1" dirty="0"/>
              <a:t>CMOS Digital Integrated Circuits: Analysis and Design</a:t>
            </a:r>
            <a:r>
              <a:rPr lang="en-US" sz="1600" dirty="0"/>
              <a:t>. McGraw-Hill, 2003.</a:t>
            </a:r>
          </a:p>
          <a:p>
            <a:r>
              <a:rPr lang="en-US" sz="1600" dirty="0"/>
              <a:t>Mano, M. M., &amp; Ciletti, M. </a:t>
            </a:r>
            <a:r>
              <a:rPr lang="en-US" sz="1600" i="1" dirty="0"/>
              <a:t>Digital Design</a:t>
            </a:r>
            <a:r>
              <a:rPr lang="en-US" sz="1600" dirty="0"/>
              <a:t>. Pearson Education, 2017.</a:t>
            </a:r>
          </a:p>
        </p:txBody>
      </p:sp>
    </p:spTree>
    <p:extLst>
      <p:ext uri="{BB962C8B-B14F-4D97-AF65-F5344CB8AC3E}">
        <p14:creationId xmlns:p14="http://schemas.microsoft.com/office/powerpoint/2010/main" val="3634297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CF03D8-6F73-5406-EBBD-890196985ABF}"/>
              </a:ext>
            </a:extLst>
          </p:cNvPr>
          <p:cNvSpPr>
            <a:spLocks noGrp="1"/>
          </p:cNvSpPr>
          <p:nvPr>
            <p:ph type="title"/>
          </p:nvPr>
        </p:nvSpPr>
        <p:spPr/>
        <p:txBody>
          <a:bodyPr/>
          <a:lstStyle/>
          <a:p>
            <a:r>
              <a:rPr lang="en-US" dirty="0"/>
              <a:t>Literature Review</a:t>
            </a:r>
            <a:endParaRPr lang="tr-TR" dirty="0"/>
          </a:p>
        </p:txBody>
      </p:sp>
      <p:sp>
        <p:nvSpPr>
          <p:cNvPr id="3" name="İçerik Yer Tutucusu 2">
            <a:extLst>
              <a:ext uri="{FF2B5EF4-FFF2-40B4-BE49-F238E27FC236}">
                <a16:creationId xmlns:a16="http://schemas.microsoft.com/office/drawing/2014/main" id="{205F1CCA-DF20-B41E-86B3-A7B03157C64E}"/>
              </a:ext>
            </a:extLst>
          </p:cNvPr>
          <p:cNvSpPr>
            <a:spLocks noGrp="1"/>
          </p:cNvSpPr>
          <p:nvPr>
            <p:ph idx="1"/>
          </p:nvPr>
        </p:nvSpPr>
        <p:spPr/>
        <p:txBody>
          <a:bodyPr>
            <a:normAutofit/>
          </a:bodyPr>
          <a:lstStyle/>
          <a:p>
            <a:r>
              <a:rPr lang="en-US" sz="1800" dirty="0"/>
              <a:t>In this work, the multiplexer (MUX) is implemented using transmission gate (TG) logic instead of conventional CMOS logic. Transmission gates are widely used in VLSI design due to their reduced transistor count, lower power consumption, and improved signal integrity compared to standard CMOS gate-based multiplexers.</a:t>
            </a:r>
            <a:endParaRPr lang="tr-TR" sz="1800" dirty="0"/>
          </a:p>
          <a:p>
            <a:r>
              <a:rPr lang="en-US" sz="1800" dirty="0"/>
              <a:t>Compared to conventional CMOS MUX implementations, which often require a larger number of transistors, transmission gate–based designs significantly reduce hardware complexity. For example, a 2:1 multiplexer implemented using transmission gates typically requires fewer transistors than a logic-gate-based design, making it highly efficient for ALU architectures where multiple multiplexers are used.</a:t>
            </a:r>
            <a:endParaRPr lang="tr-TR" sz="1800" dirty="0"/>
          </a:p>
        </p:txBody>
      </p:sp>
    </p:spTree>
    <p:extLst>
      <p:ext uri="{BB962C8B-B14F-4D97-AF65-F5344CB8AC3E}">
        <p14:creationId xmlns:p14="http://schemas.microsoft.com/office/powerpoint/2010/main" val="4259624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4DEC541-B07E-2FD4-EE70-0CB9DFA1D6B9}"/>
              </a:ext>
            </a:extLst>
          </p:cNvPr>
          <p:cNvSpPr>
            <a:spLocks noGrp="1"/>
          </p:cNvSpPr>
          <p:nvPr>
            <p:ph type="title"/>
          </p:nvPr>
        </p:nvSpPr>
        <p:spPr/>
        <p:txBody>
          <a:bodyPr/>
          <a:lstStyle/>
          <a:p>
            <a:r>
              <a:rPr lang="en-US" dirty="0"/>
              <a:t>Literature Review</a:t>
            </a:r>
            <a:endParaRPr lang="tr-TR" dirty="0"/>
          </a:p>
        </p:txBody>
      </p:sp>
      <p:sp>
        <p:nvSpPr>
          <p:cNvPr id="3" name="İçerik Yer Tutucusu 2">
            <a:extLst>
              <a:ext uri="{FF2B5EF4-FFF2-40B4-BE49-F238E27FC236}">
                <a16:creationId xmlns:a16="http://schemas.microsoft.com/office/drawing/2014/main" id="{C1FA02A0-875C-9D8A-2A06-883F40B3B16E}"/>
              </a:ext>
            </a:extLst>
          </p:cNvPr>
          <p:cNvSpPr>
            <a:spLocks noGrp="1"/>
          </p:cNvSpPr>
          <p:nvPr>
            <p:ph idx="1"/>
          </p:nvPr>
        </p:nvSpPr>
        <p:spPr>
          <a:xfrm>
            <a:off x="838200" y="1463547"/>
            <a:ext cx="10515600" cy="4351338"/>
          </a:xfrm>
        </p:spPr>
        <p:txBody>
          <a:bodyPr>
            <a:noAutofit/>
          </a:bodyPr>
          <a:lstStyle/>
          <a:p>
            <a:pPr marL="0" indent="0">
              <a:buNone/>
            </a:pPr>
            <a:r>
              <a:rPr lang="en-US" sz="1600" dirty="0"/>
              <a:t>Basic logic gates such as </a:t>
            </a:r>
            <a:r>
              <a:rPr lang="en-US" sz="1600" b="1" dirty="0"/>
              <a:t>NAND, NOR, and XOR</a:t>
            </a:r>
            <a:r>
              <a:rPr lang="en-US" sz="1600" dirty="0"/>
              <a:t> are foundational components in digital circuits, including Arithmetic Logic Units (ALUs). In CMOS VLSI design, these gates are implemented using complementary pairs of p-type and n-type MOSFETs, which provide low static power consumption and robust switching behavior.</a:t>
            </a:r>
          </a:p>
          <a:p>
            <a:pPr marL="0" indent="0">
              <a:buNone/>
            </a:pPr>
            <a:r>
              <a:rPr lang="en-US" sz="1600" dirty="0"/>
              <a:t>The </a:t>
            </a:r>
            <a:r>
              <a:rPr lang="en-US" sz="1600" b="1" dirty="0"/>
              <a:t>NAND</a:t>
            </a:r>
            <a:r>
              <a:rPr lang="en-US" sz="1600" dirty="0"/>
              <a:t> and </a:t>
            </a:r>
            <a:r>
              <a:rPr lang="en-US" sz="1600" b="1" dirty="0"/>
              <a:t>NOR</a:t>
            </a:r>
            <a:r>
              <a:rPr lang="en-US" sz="1600" dirty="0"/>
              <a:t> gates are considered universal gates because they can be combined to construct any other Boolean function. In algebraic terms:</a:t>
            </a:r>
          </a:p>
          <a:p>
            <a:pPr marL="0" indent="0">
              <a:buNone/>
            </a:pPr>
            <a:r>
              <a:rPr lang="en-US" sz="1600" b="1" dirty="0"/>
              <a:t>NAND</a:t>
            </a:r>
            <a:r>
              <a:rPr lang="en-US" sz="1600" dirty="0"/>
              <a:t> outputs logic ‘0’ only when all inputs are logic ‘1’.</a:t>
            </a:r>
          </a:p>
          <a:p>
            <a:pPr marL="0" indent="0">
              <a:buNone/>
            </a:pPr>
            <a:r>
              <a:rPr lang="en-US" sz="1600" b="1" dirty="0"/>
              <a:t>NOR</a:t>
            </a:r>
            <a:r>
              <a:rPr lang="en-US" sz="1600" dirty="0"/>
              <a:t> outputs logic ‘1’ only when all inputs are logic ‘0’.</a:t>
            </a:r>
          </a:p>
          <a:p>
            <a:pPr marL="0" indent="0">
              <a:buNone/>
            </a:pPr>
            <a:r>
              <a:rPr lang="en-US" sz="1600" dirty="0"/>
              <a:t>The </a:t>
            </a:r>
            <a:r>
              <a:rPr lang="en-US" sz="1600" b="1" dirty="0"/>
              <a:t>XOR</a:t>
            </a:r>
            <a:r>
              <a:rPr lang="en-US" sz="1600" dirty="0"/>
              <a:t> gate, while not universal in the strict sense, is crucial for arithmetic functions (especially adders). A typical CMOS XOR is built from combinations of NAND/NOR structures to achieve the required logic.</a:t>
            </a:r>
          </a:p>
          <a:p>
            <a:pPr marL="0" indent="0">
              <a:buNone/>
            </a:pPr>
            <a:r>
              <a:rPr lang="en-US" sz="1600" dirty="0"/>
              <a:t>In conventional VLSI design methodologies, these gates are optimized for </a:t>
            </a:r>
            <a:r>
              <a:rPr lang="en-US" sz="1600" b="1" dirty="0"/>
              <a:t>delay, power, and area</a:t>
            </a:r>
            <a:r>
              <a:rPr lang="en-US" sz="1600" dirty="0"/>
              <a:t>, making them suitable for implementation in educational and industrial ALU circuits.</a:t>
            </a:r>
          </a:p>
          <a:p>
            <a:pPr marL="0" indent="0">
              <a:buNone/>
            </a:pPr>
            <a:r>
              <a:rPr lang="en-US" sz="1600" b="1" dirty="0"/>
              <a:t>References:</a:t>
            </a:r>
            <a:endParaRPr lang="en-US" sz="1600" dirty="0"/>
          </a:p>
          <a:p>
            <a:r>
              <a:rPr lang="en-US" sz="1600" dirty="0"/>
              <a:t>Weste, N. H. E., &amp; Harris, D. </a:t>
            </a:r>
            <a:r>
              <a:rPr lang="en-US" sz="1600" i="1" dirty="0"/>
              <a:t>CMOS VLSI Design: A Circuits and Systems Perspective</a:t>
            </a:r>
            <a:r>
              <a:rPr lang="en-US" sz="1600" dirty="0"/>
              <a:t>. Pearson, 2011.</a:t>
            </a:r>
          </a:p>
          <a:p>
            <a:r>
              <a:rPr lang="en-US" sz="1600" dirty="0" err="1"/>
              <a:t>Rabaey</a:t>
            </a:r>
            <a:r>
              <a:rPr lang="en-US" sz="1600" dirty="0"/>
              <a:t>, J. M., Chandrakasan, A., &amp; Nikolić, B. </a:t>
            </a:r>
            <a:r>
              <a:rPr lang="en-US" sz="1600" i="1" dirty="0"/>
              <a:t>Digital Integrated Circuits: A Design Perspective</a:t>
            </a:r>
            <a:r>
              <a:rPr lang="en-US" sz="1600" dirty="0"/>
              <a:t>. Prentice Hall, 2003.</a:t>
            </a:r>
          </a:p>
          <a:p>
            <a:endParaRPr lang="tr-TR" sz="1600" dirty="0"/>
          </a:p>
        </p:txBody>
      </p:sp>
    </p:spTree>
    <p:extLst>
      <p:ext uri="{BB962C8B-B14F-4D97-AF65-F5344CB8AC3E}">
        <p14:creationId xmlns:p14="http://schemas.microsoft.com/office/powerpoint/2010/main" val="3332870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73DD79C-1D8D-E02A-7FAC-F3FAD5C8D6BB}"/>
              </a:ext>
            </a:extLst>
          </p:cNvPr>
          <p:cNvSpPr>
            <a:spLocks noGrp="1"/>
          </p:cNvSpPr>
          <p:nvPr>
            <p:ph type="title"/>
          </p:nvPr>
        </p:nvSpPr>
        <p:spPr/>
        <p:txBody>
          <a:bodyPr/>
          <a:lstStyle/>
          <a:p>
            <a:r>
              <a:rPr lang="en-US" dirty="0"/>
              <a:t>Literature Review</a:t>
            </a:r>
            <a:endParaRPr lang="tr-TR" dirty="0"/>
          </a:p>
        </p:txBody>
      </p:sp>
      <p:sp>
        <p:nvSpPr>
          <p:cNvPr id="3" name="İçerik Yer Tutucusu 2">
            <a:extLst>
              <a:ext uri="{FF2B5EF4-FFF2-40B4-BE49-F238E27FC236}">
                <a16:creationId xmlns:a16="http://schemas.microsoft.com/office/drawing/2014/main" id="{99D629F5-81D7-921A-60C9-841929D54847}"/>
              </a:ext>
            </a:extLst>
          </p:cNvPr>
          <p:cNvSpPr>
            <a:spLocks noGrp="1"/>
          </p:cNvSpPr>
          <p:nvPr>
            <p:ph idx="1"/>
          </p:nvPr>
        </p:nvSpPr>
        <p:spPr/>
        <p:txBody>
          <a:bodyPr>
            <a:normAutofit/>
          </a:bodyPr>
          <a:lstStyle/>
          <a:p>
            <a:pPr marL="0" indent="0">
              <a:buNone/>
            </a:pPr>
            <a:r>
              <a:rPr lang="en-US" sz="1800" b="1" dirty="0"/>
              <a:t>Educational Source — Supporting Material</a:t>
            </a:r>
          </a:p>
          <a:p>
            <a:r>
              <a:rPr lang="en-US" sz="1800" dirty="0"/>
              <a:t>The fundamental behavior and implementation style of these logic gates in digital circuits and VLSI is also explained in educational materials such as the referenced video tutorial, which provides practical visuals and examples for understanding logic gate behaviors and uses in circuits:</a:t>
            </a:r>
          </a:p>
          <a:p>
            <a:r>
              <a:rPr lang="en-US" sz="1800" dirty="0"/>
              <a:t>YouTube Tutorial: </a:t>
            </a:r>
            <a:r>
              <a:rPr lang="en-US" sz="1800" i="1" dirty="0"/>
              <a:t>“CMOS Logic Gates Explained + NAND, NOR, XOR Implementation”</a:t>
            </a:r>
            <a:r>
              <a:rPr lang="en-US" sz="1800" dirty="0"/>
              <a:t>, which demonstrates gate operation and CMOS logic principles learned during this project. (Accessed January 2026) — </a:t>
            </a:r>
            <a:r>
              <a:rPr lang="en-US" sz="1800" dirty="0">
                <a:hlinkClick r:id="rId2"/>
              </a:rPr>
              <a:t>https://www.youtube.com/watch?v=MupsaVTT6iw</a:t>
            </a:r>
            <a:endParaRPr lang="en-US" sz="1800" dirty="0"/>
          </a:p>
          <a:p>
            <a:r>
              <a:rPr lang="en-US" sz="1800" b="1" dirty="0"/>
              <a:t>Note:</a:t>
            </a:r>
            <a:r>
              <a:rPr lang="en-US" sz="1800" dirty="0"/>
              <a:t> While video tutorials are valuable for learning, formal academic sources (textbooks, journals) are used as primary references in the literature review.</a:t>
            </a:r>
          </a:p>
          <a:p>
            <a:endParaRPr lang="tr-TR" sz="1600" dirty="0"/>
          </a:p>
        </p:txBody>
      </p:sp>
    </p:spTree>
    <p:extLst>
      <p:ext uri="{BB962C8B-B14F-4D97-AF65-F5344CB8AC3E}">
        <p14:creationId xmlns:p14="http://schemas.microsoft.com/office/powerpoint/2010/main" val="1067857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61AB3F-043F-9F7D-534F-D6C34A48CF05}"/>
              </a:ext>
            </a:extLst>
          </p:cNvPr>
          <p:cNvSpPr/>
          <p:nvPr/>
        </p:nvSpPr>
        <p:spPr>
          <a:xfrm>
            <a:off x="391886" y="1393371"/>
            <a:ext cx="11451771" cy="534125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A3F5776-0C93-BE72-D4E9-7A98EA3B256D}"/>
              </a:ext>
            </a:extLst>
          </p:cNvPr>
          <p:cNvSpPr>
            <a:spLocks noGrp="1"/>
          </p:cNvSpPr>
          <p:nvPr>
            <p:ph type="title"/>
          </p:nvPr>
        </p:nvSpPr>
        <p:spPr/>
        <p:txBody>
          <a:bodyPr/>
          <a:lstStyle/>
          <a:p>
            <a:r>
              <a:rPr lang="en-US" dirty="0"/>
              <a:t>Physical Layout of the Complete Design</a:t>
            </a:r>
          </a:p>
        </p:txBody>
      </p:sp>
      <p:pic>
        <p:nvPicPr>
          <p:cNvPr id="8" name="Resim 7" descr="ekran görüntüsü, diyagram, grafik, renklilik içeren bir resim&#10;&#10;Yapay zeka tarafından oluşturulmuş içerik yanlış olabilir.">
            <a:extLst>
              <a:ext uri="{FF2B5EF4-FFF2-40B4-BE49-F238E27FC236}">
                <a16:creationId xmlns:a16="http://schemas.microsoft.com/office/drawing/2014/main" id="{929E9BAD-DB3D-4BF0-1716-715E5270E002}"/>
              </a:ext>
            </a:extLst>
          </p:cNvPr>
          <p:cNvPicPr>
            <a:picLocks noChangeAspect="1"/>
          </p:cNvPicPr>
          <p:nvPr/>
        </p:nvPicPr>
        <p:blipFill>
          <a:blip r:embed="rId2">
            <a:extLst>
              <a:ext uri="{28A0092B-C50C-407E-A947-70E740481C1C}">
                <a14:useLocalDpi xmlns:a14="http://schemas.microsoft.com/office/drawing/2010/main" val="0"/>
              </a:ext>
            </a:extLst>
          </a:blip>
          <a:srcRect l="32130" r="30047"/>
          <a:stretch>
            <a:fillRect/>
          </a:stretch>
        </p:blipFill>
        <p:spPr>
          <a:xfrm rot="5400000">
            <a:off x="3447142" y="-1661885"/>
            <a:ext cx="5341258" cy="11451771"/>
          </a:xfrm>
          <a:prstGeom prst="rect">
            <a:avLst/>
          </a:prstGeom>
        </p:spPr>
      </p:pic>
    </p:spTree>
    <p:extLst>
      <p:ext uri="{BB962C8B-B14F-4D97-AF65-F5344CB8AC3E}">
        <p14:creationId xmlns:p14="http://schemas.microsoft.com/office/powerpoint/2010/main" val="7982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8E78E5-5307-6EB9-3BD3-44A80A0DBDAD}"/>
              </a:ext>
            </a:extLst>
          </p:cNvPr>
          <p:cNvSpPr>
            <a:spLocks noGrp="1"/>
          </p:cNvSpPr>
          <p:nvPr>
            <p:ph type="title"/>
          </p:nvPr>
        </p:nvSpPr>
        <p:spPr/>
        <p:txBody>
          <a:bodyPr/>
          <a:lstStyle/>
          <a:p>
            <a:r>
              <a:rPr lang="en-US" dirty="0"/>
              <a:t>Additional Design Material</a:t>
            </a:r>
            <a:r>
              <a:rPr lang="tr-TR" dirty="0"/>
              <a:t> </a:t>
            </a:r>
            <a:br>
              <a:rPr lang="tr-TR" dirty="0"/>
            </a:br>
            <a:r>
              <a:rPr lang="tr-TR" sz="2400" dirty="0"/>
              <a:t>8-Bit </a:t>
            </a:r>
            <a:r>
              <a:rPr lang="tr-TR" sz="2400" dirty="0" err="1"/>
              <a:t>Buffer</a:t>
            </a:r>
            <a:r>
              <a:rPr lang="tr-TR" sz="2400" dirty="0"/>
              <a:t> </a:t>
            </a:r>
            <a:r>
              <a:rPr lang="tr-TR" sz="2400" dirty="0" err="1"/>
              <a:t>Layout</a:t>
            </a:r>
            <a:endParaRPr lang="tr-TR" dirty="0"/>
          </a:p>
        </p:txBody>
      </p:sp>
      <p:pic>
        <p:nvPicPr>
          <p:cNvPr id="5" name="İçerik Yer Tutucusu 4" descr="diyagram, renklilik, çizgi, plan içeren bir resim&#10;&#10;Yapay zeka tarafından oluşturulmuş içerik yanlış olabilir.">
            <a:extLst>
              <a:ext uri="{FF2B5EF4-FFF2-40B4-BE49-F238E27FC236}">
                <a16:creationId xmlns:a16="http://schemas.microsoft.com/office/drawing/2014/main" id="{5631D7AC-D500-E82D-034C-ADCC33249444}"/>
              </a:ext>
            </a:extLst>
          </p:cNvPr>
          <p:cNvPicPr>
            <a:picLocks noGrp="1" noChangeAspect="1"/>
          </p:cNvPicPr>
          <p:nvPr>
            <p:ph idx="1"/>
          </p:nvPr>
        </p:nvPicPr>
        <p:blipFill>
          <a:blip r:embed="rId2"/>
          <a:srcRect l="1974" r="1980" b="6153"/>
          <a:stretch>
            <a:fillRect/>
          </a:stretch>
        </p:blipFill>
        <p:spPr>
          <a:xfrm>
            <a:off x="895174" y="1902354"/>
            <a:ext cx="10401651" cy="4295245"/>
          </a:xfrm>
          <a:prstGeom prst="rect">
            <a:avLst/>
          </a:prstGeom>
        </p:spPr>
      </p:pic>
    </p:spTree>
    <p:extLst>
      <p:ext uri="{BB962C8B-B14F-4D97-AF65-F5344CB8AC3E}">
        <p14:creationId xmlns:p14="http://schemas.microsoft.com/office/powerpoint/2010/main" val="290249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92D2DA6-A779-0E3A-50CA-C09D82A81D16}"/>
              </a:ext>
            </a:extLst>
          </p:cNvPr>
          <p:cNvSpPr>
            <a:spLocks noGrp="1"/>
          </p:cNvSpPr>
          <p:nvPr>
            <p:ph type="title"/>
          </p:nvPr>
        </p:nvSpPr>
        <p:spPr/>
        <p:txBody>
          <a:bodyPr/>
          <a:lstStyle/>
          <a:p>
            <a:r>
              <a:rPr lang="en-US" dirty="0"/>
              <a:t>Additional Design Material</a:t>
            </a:r>
            <a:r>
              <a:rPr lang="tr-TR" dirty="0"/>
              <a:t> </a:t>
            </a:r>
            <a:br>
              <a:rPr lang="tr-TR" dirty="0"/>
            </a:br>
            <a:r>
              <a:rPr lang="tr-TR" sz="2400" dirty="0"/>
              <a:t>8-Bit Full </a:t>
            </a:r>
            <a:r>
              <a:rPr lang="tr-TR" sz="2400" dirty="0" err="1"/>
              <a:t>Adder</a:t>
            </a:r>
            <a:r>
              <a:rPr lang="tr-TR" sz="2400" dirty="0"/>
              <a:t> </a:t>
            </a:r>
            <a:r>
              <a:rPr lang="tr-TR" sz="2400" dirty="0" err="1"/>
              <a:t>Layout</a:t>
            </a:r>
            <a:endParaRPr lang="tr-TR" dirty="0"/>
          </a:p>
        </p:txBody>
      </p:sp>
      <p:pic>
        <p:nvPicPr>
          <p:cNvPr id="5" name="İçerik Yer Tutucusu 4" descr="metin, diyagram, ekran görüntüsü, renklilik içeren bir resim&#10;&#10;Yapay zeka tarafından oluşturulmuş içerik yanlış olabilir.">
            <a:extLst>
              <a:ext uri="{FF2B5EF4-FFF2-40B4-BE49-F238E27FC236}">
                <a16:creationId xmlns:a16="http://schemas.microsoft.com/office/drawing/2014/main" id="{B801A2EA-C183-362D-5032-B63D7041A6C8}"/>
              </a:ext>
            </a:extLst>
          </p:cNvPr>
          <p:cNvPicPr>
            <a:picLocks noGrp="1" noChangeAspect="1"/>
          </p:cNvPicPr>
          <p:nvPr>
            <p:ph idx="1"/>
          </p:nvPr>
        </p:nvPicPr>
        <p:blipFill>
          <a:blip r:embed="rId2"/>
          <a:stretch>
            <a:fillRect/>
          </a:stretch>
        </p:blipFill>
        <p:spPr>
          <a:xfrm>
            <a:off x="3002601" y="1741488"/>
            <a:ext cx="6186797" cy="4716393"/>
          </a:xfrm>
          <a:prstGeom prst="rect">
            <a:avLst/>
          </a:prstGeom>
        </p:spPr>
      </p:pic>
    </p:spTree>
    <p:extLst>
      <p:ext uri="{BB962C8B-B14F-4D97-AF65-F5344CB8AC3E}">
        <p14:creationId xmlns:p14="http://schemas.microsoft.com/office/powerpoint/2010/main" val="1628884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9546CE-A6B9-6BDE-87D9-ABC18F32BCE0}"/>
              </a:ext>
            </a:extLst>
          </p:cNvPr>
          <p:cNvSpPr>
            <a:spLocks noGrp="1"/>
          </p:cNvSpPr>
          <p:nvPr>
            <p:ph type="title"/>
          </p:nvPr>
        </p:nvSpPr>
        <p:spPr/>
        <p:txBody>
          <a:bodyPr/>
          <a:lstStyle/>
          <a:p>
            <a:r>
              <a:rPr lang="en-US" dirty="0"/>
              <a:t>Additional Design Material</a:t>
            </a:r>
            <a:r>
              <a:rPr lang="tr-TR" dirty="0"/>
              <a:t> </a:t>
            </a:r>
            <a:br>
              <a:rPr lang="tr-TR" dirty="0"/>
            </a:br>
            <a:r>
              <a:rPr lang="tr-TR" sz="2400" dirty="0"/>
              <a:t>8-Bit OR </a:t>
            </a:r>
            <a:r>
              <a:rPr lang="tr-TR" sz="2400" dirty="0" err="1"/>
              <a:t>Layout</a:t>
            </a:r>
            <a:endParaRPr lang="tr-TR" dirty="0"/>
          </a:p>
        </p:txBody>
      </p:sp>
      <p:pic>
        <p:nvPicPr>
          <p:cNvPr id="5" name="İçerik Yer Tutucusu 4" descr="diyagram, renklilik, çizgi, plan içeren bir resim&#10;&#10;Yapay zeka tarafından oluşturulmuş içerik yanlış olabilir.">
            <a:extLst>
              <a:ext uri="{FF2B5EF4-FFF2-40B4-BE49-F238E27FC236}">
                <a16:creationId xmlns:a16="http://schemas.microsoft.com/office/drawing/2014/main" id="{A451BA34-2E7E-9028-E148-C3126A5D0D0C}"/>
              </a:ext>
            </a:extLst>
          </p:cNvPr>
          <p:cNvPicPr>
            <a:picLocks noGrp="1" noChangeAspect="1"/>
          </p:cNvPicPr>
          <p:nvPr>
            <p:ph idx="1"/>
          </p:nvPr>
        </p:nvPicPr>
        <p:blipFill>
          <a:blip r:embed="rId2"/>
          <a:stretch>
            <a:fillRect/>
          </a:stretch>
        </p:blipFill>
        <p:spPr>
          <a:xfrm>
            <a:off x="1062566" y="1690688"/>
            <a:ext cx="10066867" cy="4474877"/>
          </a:xfrm>
          <a:prstGeom prst="rect">
            <a:avLst/>
          </a:prstGeom>
        </p:spPr>
      </p:pic>
    </p:spTree>
    <p:extLst>
      <p:ext uri="{BB962C8B-B14F-4D97-AF65-F5344CB8AC3E}">
        <p14:creationId xmlns:p14="http://schemas.microsoft.com/office/powerpoint/2010/main" val="3560078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84555E-AD66-7DCE-C937-106FB36EC965}"/>
              </a:ext>
            </a:extLst>
          </p:cNvPr>
          <p:cNvSpPr>
            <a:spLocks noGrp="1"/>
          </p:cNvSpPr>
          <p:nvPr>
            <p:ph type="title"/>
          </p:nvPr>
        </p:nvSpPr>
        <p:spPr/>
        <p:txBody>
          <a:bodyPr/>
          <a:lstStyle/>
          <a:p>
            <a:r>
              <a:rPr lang="en-US" dirty="0"/>
              <a:t>Additional Design Material</a:t>
            </a:r>
            <a:r>
              <a:rPr lang="tr-TR" dirty="0"/>
              <a:t> </a:t>
            </a:r>
            <a:br>
              <a:rPr lang="tr-TR" dirty="0"/>
            </a:br>
            <a:r>
              <a:rPr lang="tr-TR" sz="2400" dirty="0"/>
              <a:t>8-Bit AND </a:t>
            </a:r>
            <a:r>
              <a:rPr lang="tr-TR" sz="2400" dirty="0" err="1"/>
              <a:t>Layout</a:t>
            </a:r>
            <a:endParaRPr lang="tr-TR" dirty="0"/>
          </a:p>
        </p:txBody>
      </p:sp>
      <p:pic>
        <p:nvPicPr>
          <p:cNvPr id="5" name="İçerik Yer Tutucusu 4" descr="diyagram, renklilik, kalıp, desen, düzen, plan içeren bir resim&#10;&#10;Yapay zeka tarafından oluşturulmuş içerik yanlış olabilir.">
            <a:extLst>
              <a:ext uri="{FF2B5EF4-FFF2-40B4-BE49-F238E27FC236}">
                <a16:creationId xmlns:a16="http://schemas.microsoft.com/office/drawing/2014/main" id="{BF2D28D8-D208-72C1-5797-652D6B16B6EF}"/>
              </a:ext>
            </a:extLst>
          </p:cNvPr>
          <p:cNvPicPr>
            <a:picLocks noGrp="1" noChangeAspect="1"/>
          </p:cNvPicPr>
          <p:nvPr>
            <p:ph idx="1"/>
          </p:nvPr>
        </p:nvPicPr>
        <p:blipFill>
          <a:blip r:embed="rId2"/>
          <a:stretch>
            <a:fillRect/>
          </a:stretch>
        </p:blipFill>
        <p:spPr>
          <a:xfrm>
            <a:off x="1146744" y="1825625"/>
            <a:ext cx="9898511" cy="4351338"/>
          </a:xfrm>
          <a:prstGeom prst="rect">
            <a:avLst/>
          </a:prstGeom>
        </p:spPr>
      </p:pic>
    </p:spTree>
    <p:extLst>
      <p:ext uri="{BB962C8B-B14F-4D97-AF65-F5344CB8AC3E}">
        <p14:creationId xmlns:p14="http://schemas.microsoft.com/office/powerpoint/2010/main" val="867483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F5B46CA-F90F-DE0E-21FB-70AC712FC493}"/>
              </a:ext>
            </a:extLst>
          </p:cNvPr>
          <p:cNvSpPr>
            <a:spLocks noGrp="1"/>
          </p:cNvSpPr>
          <p:nvPr>
            <p:ph type="title"/>
          </p:nvPr>
        </p:nvSpPr>
        <p:spPr/>
        <p:txBody>
          <a:bodyPr/>
          <a:lstStyle/>
          <a:p>
            <a:r>
              <a:rPr lang="en-US" dirty="0"/>
              <a:t>Additional Design Material</a:t>
            </a:r>
            <a:r>
              <a:rPr lang="tr-TR" dirty="0"/>
              <a:t> </a:t>
            </a:r>
            <a:br>
              <a:rPr lang="tr-TR" dirty="0"/>
            </a:br>
            <a:r>
              <a:rPr lang="tr-TR" sz="2400" dirty="0"/>
              <a:t>8-Bit XOR </a:t>
            </a:r>
            <a:r>
              <a:rPr lang="tr-TR" sz="2400" dirty="0" err="1"/>
              <a:t>Layout</a:t>
            </a:r>
            <a:endParaRPr lang="tr-TR" dirty="0"/>
          </a:p>
        </p:txBody>
      </p:sp>
      <p:pic>
        <p:nvPicPr>
          <p:cNvPr id="5" name="İçerik Yer Tutucusu 4" descr="kalıp, desen, düzen, renklilik, dikdörtgen, leylak içeren bir resim&#10;&#10;Yapay zeka tarafından oluşturulmuş içerik yanlış olabilir.">
            <a:extLst>
              <a:ext uri="{FF2B5EF4-FFF2-40B4-BE49-F238E27FC236}">
                <a16:creationId xmlns:a16="http://schemas.microsoft.com/office/drawing/2014/main" id="{D98CE17C-E4DB-7C0C-BA73-B76A4A319624}"/>
              </a:ext>
            </a:extLst>
          </p:cNvPr>
          <p:cNvPicPr>
            <a:picLocks noGrp="1" noChangeAspect="1"/>
          </p:cNvPicPr>
          <p:nvPr>
            <p:ph idx="1"/>
          </p:nvPr>
        </p:nvPicPr>
        <p:blipFill>
          <a:blip r:embed="rId2"/>
          <a:stretch>
            <a:fillRect/>
          </a:stretch>
        </p:blipFill>
        <p:spPr>
          <a:xfrm>
            <a:off x="448962" y="1690688"/>
            <a:ext cx="11294075" cy="4202112"/>
          </a:xfrm>
          <a:prstGeom prst="rect">
            <a:avLst/>
          </a:prstGeom>
        </p:spPr>
      </p:pic>
    </p:spTree>
    <p:extLst>
      <p:ext uri="{BB962C8B-B14F-4D97-AF65-F5344CB8AC3E}">
        <p14:creationId xmlns:p14="http://schemas.microsoft.com/office/powerpoint/2010/main" val="1490130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17F2E65-9265-A492-7A4A-423266339ADB}"/>
              </a:ext>
            </a:extLst>
          </p:cNvPr>
          <p:cNvSpPr>
            <a:spLocks noGrp="1"/>
          </p:cNvSpPr>
          <p:nvPr>
            <p:ph type="title"/>
          </p:nvPr>
        </p:nvSpPr>
        <p:spPr/>
        <p:txBody>
          <a:bodyPr/>
          <a:lstStyle/>
          <a:p>
            <a:r>
              <a:rPr lang="en-US" dirty="0"/>
              <a:t>Additional Design Material</a:t>
            </a:r>
            <a:r>
              <a:rPr lang="tr-TR" dirty="0"/>
              <a:t> </a:t>
            </a:r>
            <a:br>
              <a:rPr lang="tr-TR" dirty="0"/>
            </a:br>
            <a:r>
              <a:rPr lang="tr-TR" sz="2400" dirty="0"/>
              <a:t>8-Bit </a:t>
            </a:r>
            <a:r>
              <a:rPr lang="tr-TR" sz="2400" dirty="0" err="1"/>
              <a:t>Comparator</a:t>
            </a:r>
            <a:r>
              <a:rPr lang="tr-TR" sz="2400" dirty="0"/>
              <a:t> (</a:t>
            </a:r>
            <a:r>
              <a:rPr lang="tr-TR" sz="2400" dirty="0" err="1"/>
              <a:t>Subtractor</a:t>
            </a:r>
            <a:r>
              <a:rPr lang="tr-TR" sz="2400" dirty="0"/>
              <a:t> </a:t>
            </a:r>
            <a:r>
              <a:rPr lang="tr-TR" sz="2400" dirty="0" err="1"/>
              <a:t>Used</a:t>
            </a:r>
            <a:r>
              <a:rPr lang="tr-TR" sz="2400" dirty="0"/>
              <a:t>)</a:t>
            </a:r>
            <a:endParaRPr lang="tr-TR" dirty="0"/>
          </a:p>
        </p:txBody>
      </p:sp>
      <p:pic>
        <p:nvPicPr>
          <p:cNvPr id="5" name="İçerik Yer Tutucusu 4" descr="diyagram, ekran görüntüsü, dikdörtgen, renklilik içeren bir resim&#10;&#10;Yapay zeka tarafından oluşturulmuş içerik yanlış olabilir.">
            <a:extLst>
              <a:ext uri="{FF2B5EF4-FFF2-40B4-BE49-F238E27FC236}">
                <a16:creationId xmlns:a16="http://schemas.microsoft.com/office/drawing/2014/main" id="{E3B873FF-D521-A4D1-B6D4-0AF53203C65D}"/>
              </a:ext>
            </a:extLst>
          </p:cNvPr>
          <p:cNvPicPr>
            <a:picLocks noGrp="1" noChangeAspect="1"/>
          </p:cNvPicPr>
          <p:nvPr>
            <p:ph idx="1"/>
          </p:nvPr>
        </p:nvPicPr>
        <p:blipFill>
          <a:blip r:embed="rId2"/>
          <a:stretch>
            <a:fillRect/>
          </a:stretch>
        </p:blipFill>
        <p:spPr>
          <a:xfrm>
            <a:off x="3292236" y="1644131"/>
            <a:ext cx="4480164" cy="4980516"/>
          </a:xfrm>
          <a:prstGeom prst="rect">
            <a:avLst/>
          </a:prstGeom>
        </p:spPr>
      </p:pic>
    </p:spTree>
    <p:extLst>
      <p:ext uri="{BB962C8B-B14F-4D97-AF65-F5344CB8AC3E}">
        <p14:creationId xmlns:p14="http://schemas.microsoft.com/office/powerpoint/2010/main" val="1294448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EBA8953-9E50-C732-4EBC-330A1491B9BB}"/>
              </a:ext>
            </a:extLst>
          </p:cNvPr>
          <p:cNvSpPr>
            <a:spLocks noGrp="1"/>
          </p:cNvSpPr>
          <p:nvPr>
            <p:ph type="title"/>
          </p:nvPr>
        </p:nvSpPr>
        <p:spPr/>
        <p:txBody>
          <a:bodyPr/>
          <a:lstStyle/>
          <a:p>
            <a:r>
              <a:rPr lang="en-US" dirty="0"/>
              <a:t>Additional Design Material</a:t>
            </a:r>
            <a:r>
              <a:rPr lang="tr-TR" dirty="0"/>
              <a:t> </a:t>
            </a:r>
            <a:br>
              <a:rPr lang="tr-TR" dirty="0"/>
            </a:br>
            <a:r>
              <a:rPr lang="tr-TR" sz="2400" dirty="0"/>
              <a:t>2x1 MUX </a:t>
            </a:r>
            <a:r>
              <a:rPr lang="tr-TR" sz="2400" dirty="0" err="1"/>
              <a:t>Layout</a:t>
            </a:r>
            <a:endParaRPr lang="tr-TR" dirty="0"/>
          </a:p>
        </p:txBody>
      </p:sp>
      <p:pic>
        <p:nvPicPr>
          <p:cNvPr id="5" name="İçerik Yer Tutucusu 4" descr="diyagram, metin, plan, piksel içeren bir resim&#10;&#10;Yapay zeka tarafından oluşturulmuş içerik yanlış olabilir.">
            <a:extLst>
              <a:ext uri="{FF2B5EF4-FFF2-40B4-BE49-F238E27FC236}">
                <a16:creationId xmlns:a16="http://schemas.microsoft.com/office/drawing/2014/main" id="{32E1691E-5886-605F-6059-AA3B29FC60D2}"/>
              </a:ext>
            </a:extLst>
          </p:cNvPr>
          <p:cNvPicPr>
            <a:picLocks noGrp="1" noChangeAspect="1"/>
          </p:cNvPicPr>
          <p:nvPr>
            <p:ph idx="1"/>
          </p:nvPr>
        </p:nvPicPr>
        <p:blipFill>
          <a:blip r:embed="rId2"/>
          <a:stretch>
            <a:fillRect/>
          </a:stretch>
        </p:blipFill>
        <p:spPr>
          <a:xfrm>
            <a:off x="2402501" y="1690688"/>
            <a:ext cx="7386997" cy="4693179"/>
          </a:xfrm>
          <a:prstGeom prst="rect">
            <a:avLst/>
          </a:prstGeom>
        </p:spPr>
      </p:pic>
    </p:spTree>
    <p:extLst>
      <p:ext uri="{BB962C8B-B14F-4D97-AF65-F5344CB8AC3E}">
        <p14:creationId xmlns:p14="http://schemas.microsoft.com/office/powerpoint/2010/main" val="3664519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4FD4FA0-8CB6-9409-07DB-C040109FC3E3}"/>
              </a:ext>
            </a:extLst>
          </p:cNvPr>
          <p:cNvSpPr>
            <a:spLocks noGrp="1"/>
          </p:cNvSpPr>
          <p:nvPr>
            <p:ph type="title"/>
          </p:nvPr>
        </p:nvSpPr>
        <p:spPr/>
        <p:txBody>
          <a:bodyPr/>
          <a:lstStyle/>
          <a:p>
            <a:r>
              <a:rPr lang="en-US" dirty="0"/>
              <a:t>Additional Design Material</a:t>
            </a:r>
            <a:r>
              <a:rPr lang="tr-TR" dirty="0"/>
              <a:t> </a:t>
            </a:r>
            <a:br>
              <a:rPr lang="tr-TR" dirty="0"/>
            </a:br>
            <a:r>
              <a:rPr lang="tr-TR" sz="2400" dirty="0" err="1"/>
              <a:t>Left</a:t>
            </a:r>
            <a:r>
              <a:rPr lang="tr-TR" sz="2400" dirty="0"/>
              <a:t> </a:t>
            </a:r>
            <a:r>
              <a:rPr lang="tr-TR" sz="2400" dirty="0" err="1"/>
              <a:t>Shift</a:t>
            </a:r>
            <a:r>
              <a:rPr lang="tr-TR" sz="2400" dirty="0"/>
              <a:t> </a:t>
            </a:r>
            <a:r>
              <a:rPr lang="tr-TR" sz="2400" dirty="0" err="1"/>
              <a:t>Layout</a:t>
            </a:r>
            <a:endParaRPr lang="tr-TR" dirty="0"/>
          </a:p>
        </p:txBody>
      </p:sp>
      <p:pic>
        <p:nvPicPr>
          <p:cNvPr id="5" name="İçerik Yer Tutucusu 4" descr="diyagram, çizgi, renklilik, plan içeren bir resim&#10;&#10;Yapay zeka tarafından oluşturulmuş içerik yanlış olabilir.">
            <a:extLst>
              <a:ext uri="{FF2B5EF4-FFF2-40B4-BE49-F238E27FC236}">
                <a16:creationId xmlns:a16="http://schemas.microsoft.com/office/drawing/2014/main" id="{BB05AB2A-4552-625B-8FAB-6DE434D8133A}"/>
              </a:ext>
            </a:extLst>
          </p:cNvPr>
          <p:cNvPicPr>
            <a:picLocks noGrp="1" noChangeAspect="1"/>
          </p:cNvPicPr>
          <p:nvPr>
            <p:ph idx="1"/>
          </p:nvPr>
        </p:nvPicPr>
        <p:blipFill>
          <a:blip r:embed="rId2"/>
          <a:stretch>
            <a:fillRect/>
          </a:stretch>
        </p:blipFill>
        <p:spPr>
          <a:xfrm>
            <a:off x="1275442" y="1690688"/>
            <a:ext cx="9641116" cy="4701645"/>
          </a:xfrm>
          <a:prstGeom prst="rect">
            <a:avLst/>
          </a:prstGeom>
        </p:spPr>
      </p:pic>
    </p:spTree>
    <p:extLst>
      <p:ext uri="{BB962C8B-B14F-4D97-AF65-F5344CB8AC3E}">
        <p14:creationId xmlns:p14="http://schemas.microsoft.com/office/powerpoint/2010/main" val="2407946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6DB3C-44FA-9D9F-30CB-BFBE9DF2E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6FC8A-25EB-D303-A5D9-851B726E893F}"/>
              </a:ext>
            </a:extLst>
          </p:cNvPr>
          <p:cNvSpPr>
            <a:spLocks noGrp="1"/>
          </p:cNvSpPr>
          <p:nvPr>
            <p:ph type="title"/>
          </p:nvPr>
        </p:nvSpPr>
        <p:spPr>
          <a:xfrm>
            <a:off x="838200" y="67808"/>
            <a:ext cx="10515600" cy="1325563"/>
          </a:xfrm>
        </p:spPr>
        <p:txBody>
          <a:bodyPr>
            <a:normAutofit fontScale="90000"/>
          </a:bodyPr>
          <a:lstStyle/>
          <a:p>
            <a:r>
              <a:rPr lang="en-US" dirty="0"/>
              <a:t>Demonstration of Addition </a:t>
            </a:r>
            <a:br>
              <a:rPr lang="en-US" dirty="0"/>
            </a:br>
            <a:r>
              <a:rPr lang="en-US" sz="3100" dirty="0"/>
              <a:t>A = 01010101</a:t>
            </a:r>
            <a:br>
              <a:rPr lang="en-US" sz="3100" dirty="0"/>
            </a:br>
            <a:r>
              <a:rPr lang="en-US" sz="3100" dirty="0"/>
              <a:t>B = Last 2 digit of </a:t>
            </a:r>
            <a:r>
              <a:rPr lang="tr-TR" sz="3100" dirty="0" err="1"/>
              <a:t>my</a:t>
            </a:r>
            <a:r>
              <a:rPr lang="en-US" sz="3100" dirty="0"/>
              <a:t> Student ID in binary</a:t>
            </a:r>
            <a:r>
              <a:rPr lang="tr-TR" sz="3100" dirty="0"/>
              <a:t> </a:t>
            </a:r>
            <a:r>
              <a:rPr lang="en-US" sz="3100" dirty="0"/>
              <a:t>=</a:t>
            </a:r>
            <a:r>
              <a:rPr lang="tr-TR" sz="3100" dirty="0"/>
              <a:t> </a:t>
            </a:r>
            <a:r>
              <a:rPr lang="en-US" sz="3100" dirty="0"/>
              <a:t>0001</a:t>
            </a:r>
            <a:r>
              <a:rPr lang="tr-TR" sz="3100" dirty="0"/>
              <a:t>1001</a:t>
            </a:r>
            <a:endParaRPr lang="en-US" sz="3600" dirty="0"/>
          </a:p>
        </p:txBody>
      </p:sp>
      <p:sp>
        <p:nvSpPr>
          <p:cNvPr id="4" name="Rectangle 3">
            <a:extLst>
              <a:ext uri="{FF2B5EF4-FFF2-40B4-BE49-F238E27FC236}">
                <a16:creationId xmlns:a16="http://schemas.microsoft.com/office/drawing/2014/main" id="{C5DA09AA-B451-CE20-8EAB-36226A3110B3}"/>
              </a:ext>
            </a:extLst>
          </p:cNvPr>
          <p:cNvSpPr/>
          <p:nvPr/>
        </p:nvSpPr>
        <p:spPr>
          <a:xfrm>
            <a:off x="344555" y="1461179"/>
            <a:ext cx="11678112"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9F6ED8C0-9194-7407-2023-57B4E2F67C48}"/>
              </a:ext>
            </a:extLst>
          </p:cNvPr>
          <p:cNvGraphicFramePr>
            <a:graphicFrameLocks noGrp="1"/>
          </p:cNvGraphicFramePr>
          <p:nvPr>
            <p:extLst>
              <p:ext uri="{D42A27DB-BD31-4B8C-83A1-F6EECF244321}">
                <p14:modId xmlns:p14="http://schemas.microsoft.com/office/powerpoint/2010/main" val="1784223565"/>
              </p:ext>
            </p:extLst>
          </p:nvPr>
        </p:nvGraphicFramePr>
        <p:xfrm>
          <a:off x="6949342" y="1765978"/>
          <a:ext cx="4948116" cy="1585258"/>
        </p:xfrm>
        <a:graphic>
          <a:graphicData uri="http://schemas.openxmlformats.org/drawingml/2006/table">
            <a:tbl>
              <a:tblPr firstRow="1" bandRow="1">
                <a:tableStyleId>{5C22544A-7EE6-4342-B048-85BDC9FD1C3A}</a:tableStyleId>
              </a:tblPr>
              <a:tblGrid>
                <a:gridCol w="1237029">
                  <a:extLst>
                    <a:ext uri="{9D8B030D-6E8A-4147-A177-3AD203B41FA5}">
                      <a16:colId xmlns:a16="http://schemas.microsoft.com/office/drawing/2014/main" val="4247149876"/>
                    </a:ext>
                  </a:extLst>
                </a:gridCol>
                <a:gridCol w="1237029">
                  <a:extLst>
                    <a:ext uri="{9D8B030D-6E8A-4147-A177-3AD203B41FA5}">
                      <a16:colId xmlns:a16="http://schemas.microsoft.com/office/drawing/2014/main" val="508427375"/>
                    </a:ext>
                  </a:extLst>
                </a:gridCol>
                <a:gridCol w="1237029">
                  <a:extLst>
                    <a:ext uri="{9D8B030D-6E8A-4147-A177-3AD203B41FA5}">
                      <a16:colId xmlns:a16="http://schemas.microsoft.com/office/drawing/2014/main" val="213524179"/>
                    </a:ext>
                  </a:extLst>
                </a:gridCol>
                <a:gridCol w="1237029">
                  <a:extLst>
                    <a:ext uri="{9D8B030D-6E8A-4147-A177-3AD203B41FA5}">
                      <a16:colId xmlns:a16="http://schemas.microsoft.com/office/drawing/2014/main" val="3023160714"/>
                    </a:ext>
                  </a:extLst>
                </a:gridCol>
              </a:tblGrid>
              <a:tr h="835635">
                <a:tc>
                  <a:txBody>
                    <a:bodyPr/>
                    <a:lstStyle/>
                    <a:p>
                      <a:pPr algn="ctr">
                        <a:lnSpc>
                          <a:spcPct val="115000"/>
                        </a:lnSpc>
                        <a:spcAft>
                          <a:spcPts val="800"/>
                        </a:spcAft>
                        <a:buNone/>
                      </a:pPr>
                      <a:r>
                        <a:rPr lang="en-US" sz="1600" kern="0" dirty="0">
                          <a:effectLst/>
                        </a:rPr>
                        <a:t>Opcode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effectLst/>
                        </a:rPr>
                        <a:t>Operation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solidFill>
                            <a:schemeClr val="tx1"/>
                          </a:solidFill>
                          <a:effectLst/>
                        </a:rPr>
                        <a:t>Expected Answer</a:t>
                      </a:r>
                      <a:endParaRPr lang="en-US"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600" dirty="0">
                          <a:solidFill>
                            <a:schemeClr val="tx1"/>
                          </a:solidFill>
                        </a:rPr>
                        <a:t>Result of the simulation</a:t>
                      </a:r>
                    </a:p>
                  </a:txBody>
                  <a:tcPr/>
                </a:tc>
                <a:extLst>
                  <a:ext uri="{0D108BD9-81ED-4DB2-BD59-A6C34878D82A}">
                    <a16:rowId xmlns:a16="http://schemas.microsoft.com/office/drawing/2014/main" val="3025210268"/>
                  </a:ext>
                </a:extLst>
              </a:tr>
              <a:tr h="749623">
                <a:tc>
                  <a:txBody>
                    <a:bodyPr/>
                    <a:lstStyle/>
                    <a:p>
                      <a:pPr algn="ctr">
                        <a:lnSpc>
                          <a:spcPct val="115000"/>
                        </a:lnSpc>
                        <a:spcAft>
                          <a:spcPts val="800"/>
                        </a:spcAft>
                        <a:buNone/>
                      </a:pPr>
                      <a:r>
                        <a:rPr lang="en-US" sz="2000" kern="0" dirty="0">
                          <a:solidFill>
                            <a:schemeClr val="tx1"/>
                          </a:solidFill>
                          <a:effectLst/>
                        </a:rPr>
                        <a:t>0000</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Resim 5" descr="ekran görüntüsü, astronomi içeren bir resim&#10;&#10;Yapay zeka tarafından oluşturulmuş içerik yanlış olabilir.">
            <a:extLst>
              <a:ext uri="{FF2B5EF4-FFF2-40B4-BE49-F238E27FC236}">
                <a16:creationId xmlns:a16="http://schemas.microsoft.com/office/drawing/2014/main" id="{B9135FD5-1FED-3CA3-1301-1C857C5D8B1A}"/>
              </a:ext>
            </a:extLst>
          </p:cNvPr>
          <p:cNvPicPr>
            <a:picLocks noChangeAspect="1"/>
          </p:cNvPicPr>
          <p:nvPr/>
        </p:nvPicPr>
        <p:blipFill>
          <a:blip r:embed="rId2"/>
          <a:stretch>
            <a:fillRect/>
          </a:stretch>
        </p:blipFill>
        <p:spPr>
          <a:xfrm>
            <a:off x="475913" y="1761066"/>
            <a:ext cx="6348220" cy="4737384"/>
          </a:xfrm>
          <a:prstGeom prst="rect">
            <a:avLst/>
          </a:prstGeom>
        </p:spPr>
      </p:pic>
    </p:spTree>
    <p:extLst>
      <p:ext uri="{BB962C8B-B14F-4D97-AF65-F5344CB8AC3E}">
        <p14:creationId xmlns:p14="http://schemas.microsoft.com/office/powerpoint/2010/main" val="443843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79B4B-8DCB-D5A8-47A6-1A92D3531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C931F-D679-1BF9-2E1A-26A1FA145621}"/>
              </a:ext>
            </a:extLst>
          </p:cNvPr>
          <p:cNvSpPr>
            <a:spLocks noGrp="1"/>
          </p:cNvSpPr>
          <p:nvPr>
            <p:ph type="title"/>
          </p:nvPr>
        </p:nvSpPr>
        <p:spPr>
          <a:xfrm>
            <a:off x="297224" y="101712"/>
            <a:ext cx="10515600" cy="1325563"/>
          </a:xfrm>
        </p:spPr>
        <p:txBody>
          <a:bodyPr>
            <a:normAutofit fontScale="90000"/>
          </a:bodyPr>
          <a:lstStyle/>
          <a:p>
            <a:r>
              <a:rPr lang="en-US" dirty="0"/>
              <a:t>Demonstration of Addition </a:t>
            </a:r>
            <a:br>
              <a:rPr lang="en-US" dirty="0"/>
            </a:br>
            <a:r>
              <a:rPr lang="en-US" sz="2700" dirty="0"/>
              <a:t>A = 01010101</a:t>
            </a:r>
            <a:br>
              <a:rPr lang="en-US" sz="2700" dirty="0"/>
            </a:br>
            <a:r>
              <a:rPr lang="en-US" sz="2700" dirty="0"/>
              <a:t>B = Last 2 digit of </a:t>
            </a:r>
            <a:r>
              <a:rPr lang="tr-TR" sz="2700" dirty="0" err="1"/>
              <a:t>my</a:t>
            </a:r>
            <a:r>
              <a:rPr lang="en-US" sz="2700" dirty="0"/>
              <a:t> Student ID in binary</a:t>
            </a:r>
            <a:r>
              <a:rPr lang="tr-TR" sz="2700" dirty="0"/>
              <a:t> </a:t>
            </a:r>
            <a:r>
              <a:rPr lang="en-US" sz="2700" dirty="0"/>
              <a:t>=</a:t>
            </a:r>
            <a:r>
              <a:rPr lang="tr-TR" sz="2700" dirty="0"/>
              <a:t> </a:t>
            </a:r>
            <a:r>
              <a:rPr lang="en-US" sz="2700" dirty="0"/>
              <a:t>0001</a:t>
            </a:r>
            <a:r>
              <a:rPr lang="tr-TR" sz="2700" dirty="0"/>
              <a:t>1001</a:t>
            </a:r>
            <a:endParaRPr lang="en-US" sz="3600" dirty="0">
              <a:solidFill>
                <a:srgbClr val="FF0000"/>
              </a:solidFill>
            </a:endParaRPr>
          </a:p>
        </p:txBody>
      </p:sp>
      <p:sp>
        <p:nvSpPr>
          <p:cNvPr id="4" name="Rectangle 3">
            <a:extLst>
              <a:ext uri="{FF2B5EF4-FFF2-40B4-BE49-F238E27FC236}">
                <a16:creationId xmlns:a16="http://schemas.microsoft.com/office/drawing/2014/main" id="{679546C6-E647-AD34-BDEE-80C1DCB6EF90}"/>
              </a:ext>
            </a:extLst>
          </p:cNvPr>
          <p:cNvSpPr/>
          <p:nvPr/>
        </p:nvSpPr>
        <p:spPr>
          <a:xfrm>
            <a:off x="344555" y="1461179"/>
            <a:ext cx="11502890"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tr-TR" dirty="0"/>
              <a:t>INPUT A</a:t>
            </a:r>
            <a:endParaRPr lang="en-US" dirty="0"/>
          </a:p>
        </p:txBody>
      </p:sp>
      <p:graphicFrame>
        <p:nvGraphicFramePr>
          <p:cNvPr id="10" name="Table 9">
            <a:extLst>
              <a:ext uri="{FF2B5EF4-FFF2-40B4-BE49-F238E27FC236}">
                <a16:creationId xmlns:a16="http://schemas.microsoft.com/office/drawing/2014/main" id="{21E15889-092C-6AE4-31FC-09BA24CE071A}"/>
              </a:ext>
            </a:extLst>
          </p:cNvPr>
          <p:cNvGraphicFramePr>
            <a:graphicFrameLocks noGrp="1"/>
          </p:cNvGraphicFramePr>
          <p:nvPr>
            <p:extLst>
              <p:ext uri="{D42A27DB-BD31-4B8C-83A1-F6EECF244321}">
                <p14:modId xmlns:p14="http://schemas.microsoft.com/office/powerpoint/2010/main" val="3810729116"/>
              </p:ext>
            </p:extLst>
          </p:nvPr>
        </p:nvGraphicFramePr>
        <p:xfrm>
          <a:off x="7435400" y="101712"/>
          <a:ext cx="4459376" cy="1310640"/>
        </p:xfrm>
        <a:graphic>
          <a:graphicData uri="http://schemas.openxmlformats.org/drawingml/2006/table">
            <a:tbl>
              <a:tblPr firstRow="1" bandRow="1">
                <a:tableStyleId>{5C22544A-7EE6-4342-B048-85BDC9FD1C3A}</a:tableStyleId>
              </a:tblPr>
              <a:tblGrid>
                <a:gridCol w="1114844">
                  <a:extLst>
                    <a:ext uri="{9D8B030D-6E8A-4147-A177-3AD203B41FA5}">
                      <a16:colId xmlns:a16="http://schemas.microsoft.com/office/drawing/2014/main" val="4247149876"/>
                    </a:ext>
                  </a:extLst>
                </a:gridCol>
                <a:gridCol w="1114844">
                  <a:extLst>
                    <a:ext uri="{9D8B030D-6E8A-4147-A177-3AD203B41FA5}">
                      <a16:colId xmlns:a16="http://schemas.microsoft.com/office/drawing/2014/main" val="508427375"/>
                    </a:ext>
                  </a:extLst>
                </a:gridCol>
                <a:gridCol w="1114844">
                  <a:extLst>
                    <a:ext uri="{9D8B030D-6E8A-4147-A177-3AD203B41FA5}">
                      <a16:colId xmlns:a16="http://schemas.microsoft.com/office/drawing/2014/main" val="213524179"/>
                    </a:ext>
                  </a:extLst>
                </a:gridCol>
                <a:gridCol w="1114844">
                  <a:extLst>
                    <a:ext uri="{9D8B030D-6E8A-4147-A177-3AD203B41FA5}">
                      <a16:colId xmlns:a16="http://schemas.microsoft.com/office/drawing/2014/main" val="3023160714"/>
                    </a:ext>
                  </a:extLst>
                </a:gridCol>
              </a:tblGrid>
              <a:tr h="627620">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496865">
                <a:tc>
                  <a:txBody>
                    <a:bodyPr/>
                    <a:lstStyle/>
                    <a:p>
                      <a:pPr algn="ctr">
                        <a:lnSpc>
                          <a:spcPct val="115000"/>
                        </a:lnSpc>
                        <a:spcAft>
                          <a:spcPts val="800"/>
                        </a:spcAft>
                        <a:buNone/>
                      </a:pPr>
                      <a:r>
                        <a:rPr lang="en-US" sz="2000" kern="0" dirty="0">
                          <a:solidFill>
                            <a:schemeClr val="tx1"/>
                          </a:solidFill>
                          <a:effectLst/>
                        </a:rPr>
                        <a:t>0000</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a:solidFill>
                            <a:schemeClr val="tx1"/>
                          </a:solidFill>
                          <a:effectLst/>
                        </a:rPr>
                        <a:t>A + B</a:t>
                      </a:r>
                      <a:endParaRPr lang="en-US" sz="20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p>
                      <a:pPr algn="ctr"/>
                      <a:endParaRPr lang="en-US" sz="16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Resim 4" descr="ekran görüntüsü, çizgi, renklilik içeren bir resim&#10;&#10;Yapay zeka tarafından oluşturulmuş içerik yanlış olabilir.">
            <a:extLst>
              <a:ext uri="{FF2B5EF4-FFF2-40B4-BE49-F238E27FC236}">
                <a16:creationId xmlns:a16="http://schemas.microsoft.com/office/drawing/2014/main" id="{F89C1E40-8676-20C7-471F-330DD2138E38}"/>
              </a:ext>
            </a:extLst>
          </p:cNvPr>
          <p:cNvPicPr>
            <a:picLocks noChangeAspect="1"/>
          </p:cNvPicPr>
          <p:nvPr/>
        </p:nvPicPr>
        <p:blipFill>
          <a:blip r:embed="rId2"/>
          <a:stretch>
            <a:fillRect/>
          </a:stretch>
        </p:blipFill>
        <p:spPr>
          <a:xfrm>
            <a:off x="2439609" y="1495898"/>
            <a:ext cx="7312781" cy="5327382"/>
          </a:xfrm>
          <a:prstGeom prst="rect">
            <a:avLst/>
          </a:prstGeom>
        </p:spPr>
      </p:pic>
      <p:sp>
        <p:nvSpPr>
          <p:cNvPr id="3" name="TextBox 2">
            <a:extLst>
              <a:ext uri="{FF2B5EF4-FFF2-40B4-BE49-F238E27FC236}">
                <a16:creationId xmlns:a16="http://schemas.microsoft.com/office/drawing/2014/main" id="{5FEBF183-454B-FF09-B87B-B52B0232FC59}"/>
              </a:ext>
            </a:extLst>
          </p:cNvPr>
          <p:cNvSpPr txBox="1"/>
          <p:nvPr/>
        </p:nvSpPr>
        <p:spPr>
          <a:xfrm>
            <a:off x="616436" y="1634066"/>
            <a:ext cx="1551293" cy="461665"/>
          </a:xfrm>
          <a:prstGeom prst="rect">
            <a:avLst/>
          </a:prstGeom>
          <a:noFill/>
        </p:spPr>
        <p:txBody>
          <a:bodyPr wrap="square" rtlCol="0">
            <a:spAutoFit/>
          </a:bodyPr>
          <a:lstStyle/>
          <a:p>
            <a:r>
              <a:rPr lang="tr-TR" sz="2400" b="1" dirty="0">
                <a:solidFill>
                  <a:schemeClr val="bg1"/>
                </a:solidFill>
              </a:rPr>
              <a:t>INPUT A</a:t>
            </a:r>
          </a:p>
        </p:txBody>
      </p:sp>
    </p:spTree>
    <p:extLst>
      <p:ext uri="{BB962C8B-B14F-4D97-AF65-F5344CB8AC3E}">
        <p14:creationId xmlns:p14="http://schemas.microsoft.com/office/powerpoint/2010/main" val="1515727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7405-5B95-F624-C7F9-80BF26DB0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8AF9C-DE55-BFA7-93DA-588C9321DB53}"/>
              </a:ext>
            </a:extLst>
          </p:cNvPr>
          <p:cNvSpPr>
            <a:spLocks noGrp="1"/>
          </p:cNvSpPr>
          <p:nvPr>
            <p:ph type="title"/>
          </p:nvPr>
        </p:nvSpPr>
        <p:spPr>
          <a:xfrm>
            <a:off x="391886" y="82806"/>
            <a:ext cx="10515600" cy="1325563"/>
          </a:xfrm>
        </p:spPr>
        <p:txBody>
          <a:bodyPr>
            <a:normAutofit fontScale="90000"/>
          </a:bodyPr>
          <a:lstStyle/>
          <a:p>
            <a:r>
              <a:rPr lang="en-US" dirty="0"/>
              <a:t>Demonstration of Addition </a:t>
            </a:r>
            <a:br>
              <a:rPr lang="en-US" dirty="0"/>
            </a:br>
            <a:r>
              <a:rPr lang="en-US" sz="2700" dirty="0"/>
              <a:t>A = 01010101</a:t>
            </a:r>
            <a:br>
              <a:rPr lang="en-US" sz="2700" dirty="0"/>
            </a:br>
            <a:r>
              <a:rPr lang="en-US" sz="2700" dirty="0"/>
              <a:t>B = Last 2 digit of </a:t>
            </a:r>
            <a:r>
              <a:rPr lang="tr-TR" sz="2700" dirty="0" err="1"/>
              <a:t>my</a:t>
            </a:r>
            <a:r>
              <a:rPr lang="en-US" sz="2700" dirty="0"/>
              <a:t> Student ID in binary</a:t>
            </a:r>
            <a:r>
              <a:rPr lang="tr-TR" sz="2700" dirty="0"/>
              <a:t> </a:t>
            </a:r>
            <a:r>
              <a:rPr lang="en-US" sz="2700" dirty="0"/>
              <a:t>=</a:t>
            </a:r>
            <a:r>
              <a:rPr lang="tr-TR" sz="2700" dirty="0"/>
              <a:t> </a:t>
            </a:r>
            <a:r>
              <a:rPr lang="en-US" sz="2700" dirty="0"/>
              <a:t>0001</a:t>
            </a:r>
            <a:r>
              <a:rPr lang="tr-TR" sz="2700" dirty="0"/>
              <a:t>1001</a:t>
            </a:r>
            <a:endParaRPr lang="en-US" sz="3600" dirty="0">
              <a:solidFill>
                <a:srgbClr val="FF0000"/>
              </a:solidFill>
            </a:endParaRPr>
          </a:p>
        </p:txBody>
      </p:sp>
      <p:sp>
        <p:nvSpPr>
          <p:cNvPr id="4" name="Rectangle 3">
            <a:extLst>
              <a:ext uri="{FF2B5EF4-FFF2-40B4-BE49-F238E27FC236}">
                <a16:creationId xmlns:a16="http://schemas.microsoft.com/office/drawing/2014/main" id="{C498D8A6-8548-74C7-4F96-5DBD69347F2A}"/>
              </a:ext>
            </a:extLst>
          </p:cNvPr>
          <p:cNvSpPr/>
          <p:nvPr/>
        </p:nvSpPr>
        <p:spPr>
          <a:xfrm>
            <a:off x="391886" y="1393371"/>
            <a:ext cx="11502890"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6" name="Resim 5" descr="ekran görüntüsü, renklilik içeren bir resim&#10;&#10;Yapay zeka tarafından oluşturulmuş içerik yanlış olabilir.">
            <a:extLst>
              <a:ext uri="{FF2B5EF4-FFF2-40B4-BE49-F238E27FC236}">
                <a16:creationId xmlns:a16="http://schemas.microsoft.com/office/drawing/2014/main" id="{256EFC96-31ED-E8F3-2F7B-0E45390D5F94}"/>
              </a:ext>
            </a:extLst>
          </p:cNvPr>
          <p:cNvPicPr>
            <a:picLocks noChangeAspect="1"/>
          </p:cNvPicPr>
          <p:nvPr/>
        </p:nvPicPr>
        <p:blipFill>
          <a:blip r:embed="rId2"/>
          <a:stretch>
            <a:fillRect/>
          </a:stretch>
        </p:blipFill>
        <p:spPr>
          <a:xfrm>
            <a:off x="2553060" y="1400870"/>
            <a:ext cx="7180542" cy="5396821"/>
          </a:xfrm>
          <a:prstGeom prst="rect">
            <a:avLst/>
          </a:prstGeom>
        </p:spPr>
      </p:pic>
      <p:graphicFrame>
        <p:nvGraphicFramePr>
          <p:cNvPr id="3" name="Table 2">
            <a:extLst>
              <a:ext uri="{FF2B5EF4-FFF2-40B4-BE49-F238E27FC236}">
                <a16:creationId xmlns:a16="http://schemas.microsoft.com/office/drawing/2014/main" id="{ED58D23A-17C9-3939-65B7-28F9D8E6843C}"/>
              </a:ext>
            </a:extLst>
          </p:cNvPr>
          <p:cNvGraphicFramePr>
            <a:graphicFrameLocks noGrp="1"/>
          </p:cNvGraphicFramePr>
          <p:nvPr>
            <p:extLst>
              <p:ext uri="{D42A27DB-BD31-4B8C-83A1-F6EECF244321}">
                <p14:modId xmlns:p14="http://schemas.microsoft.com/office/powerpoint/2010/main" val="2782995850"/>
              </p:ext>
            </p:extLst>
          </p:nvPr>
        </p:nvGraphicFramePr>
        <p:xfrm>
          <a:off x="7435400" y="32081"/>
          <a:ext cx="4459376" cy="1310640"/>
        </p:xfrm>
        <a:graphic>
          <a:graphicData uri="http://schemas.openxmlformats.org/drawingml/2006/table">
            <a:tbl>
              <a:tblPr firstRow="1" bandRow="1">
                <a:tableStyleId>{5C22544A-7EE6-4342-B048-85BDC9FD1C3A}</a:tableStyleId>
              </a:tblPr>
              <a:tblGrid>
                <a:gridCol w="1114844">
                  <a:extLst>
                    <a:ext uri="{9D8B030D-6E8A-4147-A177-3AD203B41FA5}">
                      <a16:colId xmlns:a16="http://schemas.microsoft.com/office/drawing/2014/main" val="4247149876"/>
                    </a:ext>
                  </a:extLst>
                </a:gridCol>
                <a:gridCol w="1114844">
                  <a:extLst>
                    <a:ext uri="{9D8B030D-6E8A-4147-A177-3AD203B41FA5}">
                      <a16:colId xmlns:a16="http://schemas.microsoft.com/office/drawing/2014/main" val="508427375"/>
                    </a:ext>
                  </a:extLst>
                </a:gridCol>
                <a:gridCol w="1114844">
                  <a:extLst>
                    <a:ext uri="{9D8B030D-6E8A-4147-A177-3AD203B41FA5}">
                      <a16:colId xmlns:a16="http://schemas.microsoft.com/office/drawing/2014/main" val="213524179"/>
                    </a:ext>
                  </a:extLst>
                </a:gridCol>
                <a:gridCol w="1114844">
                  <a:extLst>
                    <a:ext uri="{9D8B030D-6E8A-4147-A177-3AD203B41FA5}">
                      <a16:colId xmlns:a16="http://schemas.microsoft.com/office/drawing/2014/main" val="3023160714"/>
                    </a:ext>
                  </a:extLst>
                </a:gridCol>
              </a:tblGrid>
              <a:tr h="627620">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496865">
                <a:tc>
                  <a:txBody>
                    <a:bodyPr/>
                    <a:lstStyle/>
                    <a:p>
                      <a:pPr algn="ctr">
                        <a:lnSpc>
                          <a:spcPct val="115000"/>
                        </a:lnSpc>
                        <a:spcAft>
                          <a:spcPts val="800"/>
                        </a:spcAft>
                        <a:buNone/>
                      </a:pPr>
                      <a:r>
                        <a:rPr lang="en-US" sz="2000" kern="0" dirty="0">
                          <a:solidFill>
                            <a:schemeClr val="tx1"/>
                          </a:solidFill>
                          <a:effectLst/>
                        </a:rPr>
                        <a:t>0000</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p>
                      <a:pPr algn="ctr"/>
                      <a:endParaRPr lang="en-US" sz="16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sp>
        <p:nvSpPr>
          <p:cNvPr id="5" name="TextBox 4">
            <a:extLst>
              <a:ext uri="{FF2B5EF4-FFF2-40B4-BE49-F238E27FC236}">
                <a16:creationId xmlns:a16="http://schemas.microsoft.com/office/drawing/2014/main" id="{96DA04F6-297E-6525-8548-0F4BD8FE4036}"/>
              </a:ext>
            </a:extLst>
          </p:cNvPr>
          <p:cNvSpPr txBox="1"/>
          <p:nvPr/>
        </p:nvSpPr>
        <p:spPr>
          <a:xfrm>
            <a:off x="616436" y="1634066"/>
            <a:ext cx="1551293" cy="461665"/>
          </a:xfrm>
          <a:prstGeom prst="rect">
            <a:avLst/>
          </a:prstGeom>
          <a:noFill/>
        </p:spPr>
        <p:txBody>
          <a:bodyPr wrap="square" rtlCol="0">
            <a:spAutoFit/>
          </a:bodyPr>
          <a:lstStyle/>
          <a:p>
            <a:r>
              <a:rPr lang="tr-TR" sz="2400" b="1" dirty="0">
                <a:solidFill>
                  <a:schemeClr val="bg1"/>
                </a:solidFill>
              </a:rPr>
              <a:t>INPUT B</a:t>
            </a:r>
          </a:p>
        </p:txBody>
      </p:sp>
    </p:spTree>
    <p:extLst>
      <p:ext uri="{BB962C8B-B14F-4D97-AF65-F5344CB8AC3E}">
        <p14:creationId xmlns:p14="http://schemas.microsoft.com/office/powerpoint/2010/main" val="805402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E75B-F48C-CC79-E428-ACB15310F68F}"/>
              </a:ext>
            </a:extLst>
          </p:cNvPr>
          <p:cNvSpPr>
            <a:spLocks noGrp="1"/>
          </p:cNvSpPr>
          <p:nvPr>
            <p:ph type="title"/>
          </p:nvPr>
        </p:nvSpPr>
        <p:spPr>
          <a:xfrm>
            <a:off x="685800" y="67808"/>
            <a:ext cx="10515600" cy="1325563"/>
          </a:xfrm>
        </p:spPr>
        <p:txBody>
          <a:bodyPr>
            <a:normAutofit fontScale="90000"/>
          </a:bodyPr>
          <a:lstStyle/>
          <a:p>
            <a:r>
              <a:rPr lang="en-US" dirty="0"/>
              <a:t>Demonstration of Addition </a:t>
            </a:r>
            <a:br>
              <a:rPr lang="en-US" dirty="0"/>
            </a:br>
            <a:r>
              <a:rPr lang="en-US" sz="2400" dirty="0"/>
              <a:t>A = 01010101</a:t>
            </a:r>
            <a:br>
              <a:rPr lang="en-US" sz="2400" dirty="0"/>
            </a:br>
            <a:r>
              <a:rPr lang="en-US" sz="2400" dirty="0"/>
              <a:t>B = Last 2 digit of </a:t>
            </a:r>
            <a:r>
              <a:rPr lang="tr-TR" sz="2400" dirty="0" err="1"/>
              <a:t>my</a:t>
            </a:r>
            <a:r>
              <a:rPr lang="en-US" sz="2400" dirty="0"/>
              <a:t> Student ID in binary</a:t>
            </a:r>
            <a:r>
              <a:rPr lang="tr-TR" sz="2400" dirty="0"/>
              <a:t> </a:t>
            </a:r>
            <a:r>
              <a:rPr lang="en-US" sz="2400" dirty="0"/>
              <a:t>=</a:t>
            </a:r>
            <a:r>
              <a:rPr lang="tr-TR" sz="2400" dirty="0"/>
              <a:t> </a:t>
            </a:r>
            <a:r>
              <a:rPr lang="en-US" sz="2400" dirty="0"/>
              <a:t>0001</a:t>
            </a:r>
            <a:r>
              <a:rPr lang="tr-TR" sz="2400" dirty="0"/>
              <a:t>1001</a:t>
            </a:r>
            <a:endParaRPr lang="en-US" sz="3600" dirty="0">
              <a:solidFill>
                <a:srgbClr val="FF0000"/>
              </a:solidFill>
            </a:endParaRPr>
          </a:p>
        </p:txBody>
      </p:sp>
      <p:sp>
        <p:nvSpPr>
          <p:cNvPr id="4" name="Rectangle 3">
            <a:extLst>
              <a:ext uri="{FF2B5EF4-FFF2-40B4-BE49-F238E27FC236}">
                <a16:creationId xmlns:a16="http://schemas.microsoft.com/office/drawing/2014/main" id="{664D26A9-2AA6-5591-2764-356E66F69817}"/>
              </a:ext>
            </a:extLst>
          </p:cNvPr>
          <p:cNvSpPr/>
          <p:nvPr/>
        </p:nvSpPr>
        <p:spPr>
          <a:xfrm>
            <a:off x="391886" y="1393371"/>
            <a:ext cx="11502890" cy="539682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6" name="Resim 5" descr="ekran görüntüsü, metin, renklilik, çizgi içeren bir resim&#10;&#10;Yapay zeka tarafından oluşturulmuş içerik yanlış olabilir.">
            <a:extLst>
              <a:ext uri="{FF2B5EF4-FFF2-40B4-BE49-F238E27FC236}">
                <a16:creationId xmlns:a16="http://schemas.microsoft.com/office/drawing/2014/main" id="{51345B1F-D603-96DC-98D2-63E414243155}"/>
              </a:ext>
            </a:extLst>
          </p:cNvPr>
          <p:cNvPicPr>
            <a:picLocks noChangeAspect="1"/>
          </p:cNvPicPr>
          <p:nvPr/>
        </p:nvPicPr>
        <p:blipFill>
          <a:blip r:embed="rId2"/>
          <a:stretch>
            <a:fillRect/>
          </a:stretch>
        </p:blipFill>
        <p:spPr>
          <a:xfrm>
            <a:off x="484957" y="1378449"/>
            <a:ext cx="7193338" cy="5396821"/>
          </a:xfrm>
          <a:prstGeom prst="rect">
            <a:avLst/>
          </a:prstGeom>
        </p:spPr>
      </p:pic>
      <p:graphicFrame>
        <p:nvGraphicFramePr>
          <p:cNvPr id="3" name="Table 2">
            <a:extLst>
              <a:ext uri="{FF2B5EF4-FFF2-40B4-BE49-F238E27FC236}">
                <a16:creationId xmlns:a16="http://schemas.microsoft.com/office/drawing/2014/main" id="{1037FD57-1936-69DA-EB57-5B2B36C66F66}"/>
              </a:ext>
            </a:extLst>
          </p:cNvPr>
          <p:cNvGraphicFramePr>
            <a:graphicFrameLocks noGrp="1"/>
          </p:cNvGraphicFramePr>
          <p:nvPr>
            <p:extLst>
              <p:ext uri="{D42A27DB-BD31-4B8C-83A1-F6EECF244321}">
                <p14:modId xmlns:p14="http://schemas.microsoft.com/office/powerpoint/2010/main" val="2604604080"/>
              </p:ext>
            </p:extLst>
          </p:nvPr>
        </p:nvGraphicFramePr>
        <p:xfrm>
          <a:off x="7771366" y="1560694"/>
          <a:ext cx="3935676" cy="1158240"/>
        </p:xfrm>
        <a:graphic>
          <a:graphicData uri="http://schemas.openxmlformats.org/drawingml/2006/table">
            <a:tbl>
              <a:tblPr firstRow="1" bandRow="1">
                <a:tableStyleId>{5C22544A-7EE6-4342-B048-85BDC9FD1C3A}</a:tableStyleId>
              </a:tblPr>
              <a:tblGrid>
                <a:gridCol w="983919">
                  <a:extLst>
                    <a:ext uri="{9D8B030D-6E8A-4147-A177-3AD203B41FA5}">
                      <a16:colId xmlns:a16="http://schemas.microsoft.com/office/drawing/2014/main" val="4247149876"/>
                    </a:ext>
                  </a:extLst>
                </a:gridCol>
                <a:gridCol w="983919">
                  <a:extLst>
                    <a:ext uri="{9D8B030D-6E8A-4147-A177-3AD203B41FA5}">
                      <a16:colId xmlns:a16="http://schemas.microsoft.com/office/drawing/2014/main" val="508427375"/>
                    </a:ext>
                  </a:extLst>
                </a:gridCol>
                <a:gridCol w="983919">
                  <a:extLst>
                    <a:ext uri="{9D8B030D-6E8A-4147-A177-3AD203B41FA5}">
                      <a16:colId xmlns:a16="http://schemas.microsoft.com/office/drawing/2014/main" val="213524179"/>
                    </a:ext>
                  </a:extLst>
                </a:gridCol>
                <a:gridCol w="983919">
                  <a:extLst>
                    <a:ext uri="{9D8B030D-6E8A-4147-A177-3AD203B41FA5}">
                      <a16:colId xmlns:a16="http://schemas.microsoft.com/office/drawing/2014/main" val="3023160714"/>
                    </a:ext>
                  </a:extLst>
                </a:gridCol>
              </a:tblGrid>
              <a:tr h="627620">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tx1"/>
                          </a:solidFill>
                          <a:effectLst/>
                        </a:rPr>
                        <a:t>Expected Answer</a:t>
                      </a:r>
                      <a:endParaRPr lang="en-US"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tx1"/>
                          </a:solidFill>
                        </a:rPr>
                        <a:t>Result of the simulation</a:t>
                      </a:r>
                    </a:p>
                  </a:txBody>
                  <a:tcPr/>
                </a:tc>
                <a:extLst>
                  <a:ext uri="{0D108BD9-81ED-4DB2-BD59-A6C34878D82A}">
                    <a16:rowId xmlns:a16="http://schemas.microsoft.com/office/drawing/2014/main" val="3025210268"/>
                  </a:ext>
                </a:extLst>
              </a:tr>
              <a:tr h="496865">
                <a:tc>
                  <a:txBody>
                    <a:bodyPr/>
                    <a:lstStyle/>
                    <a:p>
                      <a:pPr algn="ctr">
                        <a:lnSpc>
                          <a:spcPct val="115000"/>
                        </a:lnSpc>
                        <a:spcAft>
                          <a:spcPts val="800"/>
                        </a:spcAft>
                        <a:buNone/>
                      </a:pPr>
                      <a:r>
                        <a:rPr lang="en-US" sz="1800" kern="0" dirty="0">
                          <a:solidFill>
                            <a:schemeClr val="tx1"/>
                          </a:solidFill>
                          <a:effectLst/>
                        </a:rPr>
                        <a:t>0000</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0" dirty="0">
                          <a:solidFill>
                            <a:schemeClr val="tx1"/>
                          </a:solidFill>
                          <a:effectLst/>
                        </a:rPr>
                        <a:t>A + B</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0110 1110</a:t>
                      </a:r>
                    </a:p>
                    <a:p>
                      <a:pPr algn="ctr"/>
                      <a:endParaRPr lang="en-US" sz="14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spTree>
    <p:extLst>
      <p:ext uri="{BB962C8B-B14F-4D97-AF65-F5344CB8AC3E}">
        <p14:creationId xmlns:p14="http://schemas.microsoft.com/office/powerpoint/2010/main" val="1937930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6BB6A-BD15-03B1-0197-402C6605B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DA143-FA45-420B-117D-36FACC14D24C}"/>
              </a:ext>
            </a:extLst>
          </p:cNvPr>
          <p:cNvSpPr>
            <a:spLocks noGrp="1"/>
          </p:cNvSpPr>
          <p:nvPr>
            <p:ph type="title"/>
          </p:nvPr>
        </p:nvSpPr>
        <p:spPr>
          <a:xfrm>
            <a:off x="457200" y="67808"/>
            <a:ext cx="10515600" cy="1325563"/>
          </a:xfrm>
        </p:spPr>
        <p:txBody>
          <a:bodyPr>
            <a:normAutofit/>
          </a:bodyPr>
          <a:lstStyle/>
          <a:p>
            <a:r>
              <a:rPr lang="en-US" dirty="0"/>
              <a:t>Demonstration of Subtraction </a:t>
            </a:r>
            <a:br>
              <a:rPr lang="en-US" dirty="0"/>
            </a:br>
            <a:r>
              <a:rPr lang="en-US" sz="3200" dirty="0"/>
              <a:t>Last 2 digit of </a:t>
            </a:r>
            <a:r>
              <a:rPr lang="tr-TR" sz="3200" dirty="0" err="1"/>
              <a:t>my</a:t>
            </a:r>
            <a:r>
              <a:rPr lang="en-US" sz="3200" dirty="0"/>
              <a:t> Student ID=</a:t>
            </a:r>
            <a:r>
              <a:rPr lang="tr-TR" sz="3200" dirty="0"/>
              <a:t> </a:t>
            </a:r>
            <a:r>
              <a:rPr lang="en-US" sz="3200" dirty="0"/>
              <a:t>0001</a:t>
            </a:r>
            <a:r>
              <a:rPr lang="tr-TR" sz="3200" dirty="0"/>
              <a:t>1001 </a:t>
            </a:r>
            <a:r>
              <a:rPr lang="en-US" sz="3200" dirty="0"/>
              <a:t>- 1=?</a:t>
            </a:r>
            <a:endParaRPr lang="en-US" sz="3600" dirty="0"/>
          </a:p>
        </p:txBody>
      </p:sp>
      <p:sp>
        <p:nvSpPr>
          <p:cNvPr id="4" name="Rectangle 3">
            <a:extLst>
              <a:ext uri="{FF2B5EF4-FFF2-40B4-BE49-F238E27FC236}">
                <a16:creationId xmlns:a16="http://schemas.microsoft.com/office/drawing/2014/main" id="{5A98D1C0-45CE-2685-D9E3-83B36EA40C50}"/>
              </a:ext>
            </a:extLst>
          </p:cNvPr>
          <p:cNvSpPr/>
          <p:nvPr/>
        </p:nvSpPr>
        <p:spPr>
          <a:xfrm>
            <a:off x="263676" y="1276651"/>
            <a:ext cx="116646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12" name="Resim 11" descr="ekran görüntüsü, metin, multimedya yazılımı, yazılım içeren bir resim&#10;&#10;Yapay zeka tarafından oluşturulmuş içerik yanlış olabilir.">
            <a:extLst>
              <a:ext uri="{FF2B5EF4-FFF2-40B4-BE49-F238E27FC236}">
                <a16:creationId xmlns:a16="http://schemas.microsoft.com/office/drawing/2014/main" id="{6A9E089D-F63F-6ADB-80F9-C48740CDC0EB}"/>
              </a:ext>
            </a:extLst>
          </p:cNvPr>
          <p:cNvPicPr>
            <a:picLocks noChangeAspect="1"/>
          </p:cNvPicPr>
          <p:nvPr/>
        </p:nvPicPr>
        <p:blipFill>
          <a:blip r:embed="rId2"/>
          <a:stretch>
            <a:fillRect/>
          </a:stretch>
        </p:blipFill>
        <p:spPr>
          <a:xfrm>
            <a:off x="330359" y="1393371"/>
            <a:ext cx="7252236" cy="4908247"/>
          </a:xfrm>
          <a:prstGeom prst="rect">
            <a:avLst/>
          </a:prstGeom>
        </p:spPr>
      </p:pic>
      <p:graphicFrame>
        <p:nvGraphicFramePr>
          <p:cNvPr id="3" name="Table 2">
            <a:extLst>
              <a:ext uri="{FF2B5EF4-FFF2-40B4-BE49-F238E27FC236}">
                <a16:creationId xmlns:a16="http://schemas.microsoft.com/office/drawing/2014/main" id="{ABD59B72-765C-85B8-DB93-624490373FBE}"/>
              </a:ext>
            </a:extLst>
          </p:cNvPr>
          <p:cNvGraphicFramePr>
            <a:graphicFrameLocks noGrp="1"/>
          </p:cNvGraphicFramePr>
          <p:nvPr>
            <p:extLst>
              <p:ext uri="{D42A27DB-BD31-4B8C-83A1-F6EECF244321}">
                <p14:modId xmlns:p14="http://schemas.microsoft.com/office/powerpoint/2010/main" val="1736985779"/>
              </p:ext>
            </p:extLst>
          </p:nvPr>
        </p:nvGraphicFramePr>
        <p:xfrm>
          <a:off x="7582595" y="1406675"/>
          <a:ext cx="4345728" cy="1226381"/>
        </p:xfrm>
        <a:graphic>
          <a:graphicData uri="http://schemas.openxmlformats.org/drawingml/2006/table">
            <a:tbl>
              <a:tblPr firstRow="1" bandRow="1">
                <a:tableStyleId>{5C22544A-7EE6-4342-B048-85BDC9FD1C3A}</a:tableStyleId>
              </a:tblPr>
              <a:tblGrid>
                <a:gridCol w="891328">
                  <a:extLst>
                    <a:ext uri="{9D8B030D-6E8A-4147-A177-3AD203B41FA5}">
                      <a16:colId xmlns:a16="http://schemas.microsoft.com/office/drawing/2014/main" val="4247149876"/>
                    </a:ext>
                  </a:extLst>
                </a:gridCol>
                <a:gridCol w="1041400">
                  <a:extLst>
                    <a:ext uri="{9D8B030D-6E8A-4147-A177-3AD203B41FA5}">
                      <a16:colId xmlns:a16="http://schemas.microsoft.com/office/drawing/2014/main" val="508427375"/>
                    </a:ext>
                  </a:extLst>
                </a:gridCol>
                <a:gridCol w="1126067">
                  <a:extLst>
                    <a:ext uri="{9D8B030D-6E8A-4147-A177-3AD203B41FA5}">
                      <a16:colId xmlns:a16="http://schemas.microsoft.com/office/drawing/2014/main" val="213524179"/>
                    </a:ext>
                  </a:extLst>
                </a:gridCol>
                <a:gridCol w="1286933">
                  <a:extLst>
                    <a:ext uri="{9D8B030D-6E8A-4147-A177-3AD203B41FA5}">
                      <a16:colId xmlns:a16="http://schemas.microsoft.com/office/drawing/2014/main" val="3023160714"/>
                    </a:ext>
                  </a:extLst>
                </a:gridCol>
              </a:tblGrid>
              <a:tr h="667404">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tx1"/>
                          </a:solidFill>
                          <a:effectLst/>
                        </a:rPr>
                        <a:t>Expected Answer</a:t>
                      </a:r>
                      <a:endParaRPr lang="en-US"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tx1"/>
                          </a:solidFill>
                        </a:rPr>
                        <a:t>Result of the simulation</a:t>
                      </a:r>
                    </a:p>
                  </a:txBody>
                  <a:tcPr/>
                </a:tc>
                <a:extLst>
                  <a:ext uri="{0D108BD9-81ED-4DB2-BD59-A6C34878D82A}">
                    <a16:rowId xmlns:a16="http://schemas.microsoft.com/office/drawing/2014/main" val="3025210268"/>
                  </a:ext>
                </a:extLst>
              </a:tr>
              <a:tr h="558977">
                <a:tc>
                  <a:txBody>
                    <a:bodyPr/>
                    <a:lstStyle/>
                    <a:p>
                      <a:pPr algn="ctr">
                        <a:lnSpc>
                          <a:spcPct val="115000"/>
                        </a:lnSpc>
                        <a:spcAft>
                          <a:spcPts val="800"/>
                        </a:spcAft>
                        <a:buNone/>
                      </a:pPr>
                      <a:r>
                        <a:rPr lang="en-US" sz="2000" kern="0" dirty="0">
                          <a:solidFill>
                            <a:schemeClr val="tx1"/>
                          </a:solidFill>
                          <a:effectLst/>
                        </a:rPr>
                        <a:t>000</a:t>
                      </a:r>
                      <a:r>
                        <a:rPr lang="tr-TR" sz="2000" kern="0" dirty="0">
                          <a:solidFill>
                            <a:schemeClr val="tx1"/>
                          </a:solidFill>
                          <a:effectLst/>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a:tc>
                <a:extLst>
                  <a:ext uri="{0D108BD9-81ED-4DB2-BD59-A6C34878D82A}">
                    <a16:rowId xmlns:a16="http://schemas.microsoft.com/office/drawing/2014/main" val="2292938399"/>
                  </a:ext>
                </a:extLst>
              </a:tr>
            </a:tbl>
          </a:graphicData>
        </a:graphic>
      </p:graphicFrame>
    </p:spTree>
    <p:extLst>
      <p:ext uri="{BB962C8B-B14F-4D97-AF65-F5344CB8AC3E}">
        <p14:creationId xmlns:p14="http://schemas.microsoft.com/office/powerpoint/2010/main" val="1682551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B3EF-C527-F890-0BD5-066812C31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1E855-A5F6-8FC4-B9D7-AB9B9DC2A96F}"/>
              </a:ext>
            </a:extLst>
          </p:cNvPr>
          <p:cNvSpPr>
            <a:spLocks noGrp="1"/>
          </p:cNvSpPr>
          <p:nvPr>
            <p:ph type="title"/>
          </p:nvPr>
        </p:nvSpPr>
        <p:spPr>
          <a:xfrm>
            <a:off x="457200" y="67808"/>
            <a:ext cx="10515600" cy="1325563"/>
          </a:xfrm>
        </p:spPr>
        <p:txBody>
          <a:bodyPr>
            <a:normAutofit/>
          </a:bodyPr>
          <a:lstStyle/>
          <a:p>
            <a:r>
              <a:rPr lang="en-US" dirty="0"/>
              <a:t>Demonstration of Subtraction </a:t>
            </a:r>
            <a:br>
              <a:rPr lang="en-US" dirty="0"/>
            </a:br>
            <a:r>
              <a:rPr lang="en-US" sz="3200" dirty="0"/>
              <a:t>Last 2 digit of </a:t>
            </a:r>
            <a:r>
              <a:rPr lang="tr-TR" sz="3200" dirty="0" err="1"/>
              <a:t>my</a:t>
            </a:r>
            <a:r>
              <a:rPr lang="en-US" sz="3200" dirty="0"/>
              <a:t> Student ID=</a:t>
            </a:r>
            <a:r>
              <a:rPr lang="tr-TR" sz="3200" dirty="0"/>
              <a:t> </a:t>
            </a:r>
            <a:r>
              <a:rPr lang="en-US" sz="3200" dirty="0"/>
              <a:t>0001</a:t>
            </a:r>
            <a:r>
              <a:rPr lang="tr-TR" sz="3200" dirty="0"/>
              <a:t>1001 </a:t>
            </a:r>
            <a:r>
              <a:rPr lang="en-US" sz="3200" dirty="0"/>
              <a:t>- 1=?</a:t>
            </a:r>
            <a:endParaRPr lang="en-US" sz="3600" dirty="0"/>
          </a:p>
        </p:txBody>
      </p:sp>
      <p:sp>
        <p:nvSpPr>
          <p:cNvPr id="4" name="Rectangle 3">
            <a:extLst>
              <a:ext uri="{FF2B5EF4-FFF2-40B4-BE49-F238E27FC236}">
                <a16:creationId xmlns:a16="http://schemas.microsoft.com/office/drawing/2014/main" id="{C4876C5C-9935-0C23-4A16-9F1B4A989F4F}"/>
              </a:ext>
            </a:extLst>
          </p:cNvPr>
          <p:cNvSpPr/>
          <p:nvPr/>
        </p:nvSpPr>
        <p:spPr>
          <a:xfrm>
            <a:off x="263676" y="1276651"/>
            <a:ext cx="116646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56AACAF-2100-E7D9-F380-673178A17813}"/>
              </a:ext>
            </a:extLst>
          </p:cNvPr>
          <p:cNvGraphicFramePr>
            <a:graphicFrameLocks noGrp="1"/>
          </p:cNvGraphicFramePr>
          <p:nvPr/>
        </p:nvGraphicFramePr>
        <p:xfrm>
          <a:off x="7582595" y="1406675"/>
          <a:ext cx="4345728" cy="1226381"/>
        </p:xfrm>
        <a:graphic>
          <a:graphicData uri="http://schemas.openxmlformats.org/drawingml/2006/table">
            <a:tbl>
              <a:tblPr firstRow="1" bandRow="1">
                <a:tableStyleId>{5C22544A-7EE6-4342-B048-85BDC9FD1C3A}</a:tableStyleId>
              </a:tblPr>
              <a:tblGrid>
                <a:gridCol w="891328">
                  <a:extLst>
                    <a:ext uri="{9D8B030D-6E8A-4147-A177-3AD203B41FA5}">
                      <a16:colId xmlns:a16="http://schemas.microsoft.com/office/drawing/2014/main" val="4247149876"/>
                    </a:ext>
                  </a:extLst>
                </a:gridCol>
                <a:gridCol w="1041400">
                  <a:extLst>
                    <a:ext uri="{9D8B030D-6E8A-4147-A177-3AD203B41FA5}">
                      <a16:colId xmlns:a16="http://schemas.microsoft.com/office/drawing/2014/main" val="508427375"/>
                    </a:ext>
                  </a:extLst>
                </a:gridCol>
                <a:gridCol w="1126067">
                  <a:extLst>
                    <a:ext uri="{9D8B030D-6E8A-4147-A177-3AD203B41FA5}">
                      <a16:colId xmlns:a16="http://schemas.microsoft.com/office/drawing/2014/main" val="213524179"/>
                    </a:ext>
                  </a:extLst>
                </a:gridCol>
                <a:gridCol w="1286933">
                  <a:extLst>
                    <a:ext uri="{9D8B030D-6E8A-4147-A177-3AD203B41FA5}">
                      <a16:colId xmlns:a16="http://schemas.microsoft.com/office/drawing/2014/main" val="3023160714"/>
                    </a:ext>
                  </a:extLst>
                </a:gridCol>
              </a:tblGrid>
              <a:tr h="667404">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tx1"/>
                          </a:solidFill>
                          <a:effectLst/>
                        </a:rPr>
                        <a:t>Expected Answer</a:t>
                      </a:r>
                      <a:endParaRPr lang="en-US"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tx1"/>
                          </a:solidFill>
                        </a:rPr>
                        <a:t>Result of the simulation</a:t>
                      </a:r>
                    </a:p>
                  </a:txBody>
                  <a:tcPr/>
                </a:tc>
                <a:extLst>
                  <a:ext uri="{0D108BD9-81ED-4DB2-BD59-A6C34878D82A}">
                    <a16:rowId xmlns:a16="http://schemas.microsoft.com/office/drawing/2014/main" val="3025210268"/>
                  </a:ext>
                </a:extLst>
              </a:tr>
              <a:tr h="558977">
                <a:tc>
                  <a:txBody>
                    <a:bodyPr/>
                    <a:lstStyle/>
                    <a:p>
                      <a:pPr algn="ctr">
                        <a:lnSpc>
                          <a:spcPct val="115000"/>
                        </a:lnSpc>
                        <a:spcAft>
                          <a:spcPts val="800"/>
                        </a:spcAft>
                        <a:buNone/>
                      </a:pPr>
                      <a:r>
                        <a:rPr lang="en-US" sz="2000" kern="0" dirty="0">
                          <a:solidFill>
                            <a:schemeClr val="tx1"/>
                          </a:solidFill>
                          <a:effectLst/>
                        </a:rPr>
                        <a:t>000</a:t>
                      </a:r>
                      <a:r>
                        <a:rPr lang="tr-TR" sz="2000" kern="0" dirty="0">
                          <a:solidFill>
                            <a:schemeClr val="tx1"/>
                          </a:solidFill>
                          <a:effectLst/>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a:tc>
                <a:extLst>
                  <a:ext uri="{0D108BD9-81ED-4DB2-BD59-A6C34878D82A}">
                    <a16:rowId xmlns:a16="http://schemas.microsoft.com/office/drawing/2014/main" val="2292938399"/>
                  </a:ext>
                </a:extLst>
              </a:tr>
            </a:tbl>
          </a:graphicData>
        </a:graphic>
      </p:graphicFrame>
      <p:pic>
        <p:nvPicPr>
          <p:cNvPr id="5" name="Resim 10" descr="ekran görüntüsü içeren bir resim&#10;&#10;Yapay zeka tarafından oluşturulmuş içerik yanlış olabilir.">
            <a:extLst>
              <a:ext uri="{FF2B5EF4-FFF2-40B4-BE49-F238E27FC236}">
                <a16:creationId xmlns:a16="http://schemas.microsoft.com/office/drawing/2014/main" id="{AB4B47BD-E759-18E4-F2C0-DE8612BD9370}"/>
              </a:ext>
            </a:extLst>
          </p:cNvPr>
          <p:cNvPicPr>
            <a:picLocks noChangeAspect="1"/>
          </p:cNvPicPr>
          <p:nvPr/>
        </p:nvPicPr>
        <p:blipFill>
          <a:blip r:embed="rId2"/>
          <a:stretch>
            <a:fillRect/>
          </a:stretch>
        </p:blipFill>
        <p:spPr>
          <a:xfrm>
            <a:off x="372749" y="1427160"/>
            <a:ext cx="7100773" cy="4805738"/>
          </a:xfrm>
          <a:prstGeom prst="rect">
            <a:avLst/>
          </a:prstGeom>
        </p:spPr>
      </p:pic>
      <p:sp>
        <p:nvSpPr>
          <p:cNvPr id="6" name="TextBox 5">
            <a:extLst>
              <a:ext uri="{FF2B5EF4-FFF2-40B4-BE49-F238E27FC236}">
                <a16:creationId xmlns:a16="http://schemas.microsoft.com/office/drawing/2014/main" id="{AE53DBCD-6731-08FE-996B-44FD37FD82A6}"/>
              </a:ext>
            </a:extLst>
          </p:cNvPr>
          <p:cNvSpPr txBox="1"/>
          <p:nvPr/>
        </p:nvSpPr>
        <p:spPr>
          <a:xfrm>
            <a:off x="7999369" y="2967335"/>
            <a:ext cx="1551293" cy="461665"/>
          </a:xfrm>
          <a:prstGeom prst="rect">
            <a:avLst/>
          </a:prstGeom>
          <a:noFill/>
        </p:spPr>
        <p:txBody>
          <a:bodyPr wrap="square" rtlCol="0">
            <a:spAutoFit/>
          </a:bodyPr>
          <a:lstStyle/>
          <a:p>
            <a:r>
              <a:rPr lang="tr-TR" sz="2400" b="1" dirty="0">
                <a:solidFill>
                  <a:schemeClr val="bg1"/>
                </a:solidFill>
              </a:rPr>
              <a:t>INPUT A</a:t>
            </a:r>
          </a:p>
        </p:txBody>
      </p:sp>
    </p:spTree>
    <p:extLst>
      <p:ext uri="{BB962C8B-B14F-4D97-AF65-F5344CB8AC3E}">
        <p14:creationId xmlns:p14="http://schemas.microsoft.com/office/powerpoint/2010/main" val="3947551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D3CED-128C-E349-9BBE-61F80A53F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18EA2-1C2B-F6C5-E473-24A1A604BD6C}"/>
              </a:ext>
            </a:extLst>
          </p:cNvPr>
          <p:cNvSpPr>
            <a:spLocks noGrp="1"/>
          </p:cNvSpPr>
          <p:nvPr>
            <p:ph type="title"/>
          </p:nvPr>
        </p:nvSpPr>
        <p:spPr>
          <a:xfrm>
            <a:off x="457200" y="67808"/>
            <a:ext cx="10515600" cy="1325563"/>
          </a:xfrm>
        </p:spPr>
        <p:txBody>
          <a:bodyPr>
            <a:normAutofit/>
          </a:bodyPr>
          <a:lstStyle/>
          <a:p>
            <a:r>
              <a:rPr lang="en-US" dirty="0"/>
              <a:t>Demonstration of Subtraction </a:t>
            </a:r>
            <a:br>
              <a:rPr lang="en-US" dirty="0"/>
            </a:br>
            <a:r>
              <a:rPr lang="en-US" sz="3200" dirty="0"/>
              <a:t>Last 2 digit of </a:t>
            </a:r>
            <a:r>
              <a:rPr lang="tr-TR" sz="3200" dirty="0" err="1"/>
              <a:t>my</a:t>
            </a:r>
            <a:r>
              <a:rPr lang="en-US" sz="3200" dirty="0"/>
              <a:t> Student ID=</a:t>
            </a:r>
            <a:r>
              <a:rPr lang="tr-TR" sz="3200" dirty="0"/>
              <a:t> </a:t>
            </a:r>
            <a:r>
              <a:rPr lang="en-US" sz="3200" dirty="0"/>
              <a:t>0001</a:t>
            </a:r>
            <a:r>
              <a:rPr lang="tr-TR" sz="3200" dirty="0"/>
              <a:t>1001 </a:t>
            </a:r>
            <a:r>
              <a:rPr lang="en-US" sz="3200" dirty="0"/>
              <a:t>- 1=?</a:t>
            </a:r>
            <a:endParaRPr lang="en-US" sz="3600" dirty="0"/>
          </a:p>
        </p:txBody>
      </p:sp>
      <p:sp>
        <p:nvSpPr>
          <p:cNvPr id="4" name="Rectangle 3">
            <a:extLst>
              <a:ext uri="{FF2B5EF4-FFF2-40B4-BE49-F238E27FC236}">
                <a16:creationId xmlns:a16="http://schemas.microsoft.com/office/drawing/2014/main" id="{397C5D36-1AB5-753D-70BF-7DEB9D0F0B0F}"/>
              </a:ext>
            </a:extLst>
          </p:cNvPr>
          <p:cNvSpPr/>
          <p:nvPr/>
        </p:nvSpPr>
        <p:spPr>
          <a:xfrm>
            <a:off x="263676" y="1276651"/>
            <a:ext cx="116646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14BFA1C2-65A2-D151-F5BA-CEB4DC18A5E8}"/>
              </a:ext>
            </a:extLst>
          </p:cNvPr>
          <p:cNvGraphicFramePr>
            <a:graphicFrameLocks noGrp="1"/>
          </p:cNvGraphicFramePr>
          <p:nvPr/>
        </p:nvGraphicFramePr>
        <p:xfrm>
          <a:off x="7582595" y="1406675"/>
          <a:ext cx="4345728" cy="1226381"/>
        </p:xfrm>
        <a:graphic>
          <a:graphicData uri="http://schemas.openxmlformats.org/drawingml/2006/table">
            <a:tbl>
              <a:tblPr firstRow="1" bandRow="1">
                <a:tableStyleId>{5C22544A-7EE6-4342-B048-85BDC9FD1C3A}</a:tableStyleId>
              </a:tblPr>
              <a:tblGrid>
                <a:gridCol w="891328">
                  <a:extLst>
                    <a:ext uri="{9D8B030D-6E8A-4147-A177-3AD203B41FA5}">
                      <a16:colId xmlns:a16="http://schemas.microsoft.com/office/drawing/2014/main" val="4247149876"/>
                    </a:ext>
                  </a:extLst>
                </a:gridCol>
                <a:gridCol w="1041400">
                  <a:extLst>
                    <a:ext uri="{9D8B030D-6E8A-4147-A177-3AD203B41FA5}">
                      <a16:colId xmlns:a16="http://schemas.microsoft.com/office/drawing/2014/main" val="508427375"/>
                    </a:ext>
                  </a:extLst>
                </a:gridCol>
                <a:gridCol w="1126067">
                  <a:extLst>
                    <a:ext uri="{9D8B030D-6E8A-4147-A177-3AD203B41FA5}">
                      <a16:colId xmlns:a16="http://schemas.microsoft.com/office/drawing/2014/main" val="213524179"/>
                    </a:ext>
                  </a:extLst>
                </a:gridCol>
                <a:gridCol w="1286933">
                  <a:extLst>
                    <a:ext uri="{9D8B030D-6E8A-4147-A177-3AD203B41FA5}">
                      <a16:colId xmlns:a16="http://schemas.microsoft.com/office/drawing/2014/main" val="3023160714"/>
                    </a:ext>
                  </a:extLst>
                </a:gridCol>
              </a:tblGrid>
              <a:tr h="667404">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tx1"/>
                          </a:solidFill>
                          <a:effectLst/>
                        </a:rPr>
                        <a:t>Expected Answer</a:t>
                      </a:r>
                      <a:endParaRPr lang="en-US"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tx1"/>
                          </a:solidFill>
                        </a:rPr>
                        <a:t>Result of the simulation</a:t>
                      </a:r>
                    </a:p>
                  </a:txBody>
                  <a:tcPr/>
                </a:tc>
                <a:extLst>
                  <a:ext uri="{0D108BD9-81ED-4DB2-BD59-A6C34878D82A}">
                    <a16:rowId xmlns:a16="http://schemas.microsoft.com/office/drawing/2014/main" val="3025210268"/>
                  </a:ext>
                </a:extLst>
              </a:tr>
              <a:tr h="558977">
                <a:tc>
                  <a:txBody>
                    <a:bodyPr/>
                    <a:lstStyle/>
                    <a:p>
                      <a:pPr algn="ctr">
                        <a:lnSpc>
                          <a:spcPct val="115000"/>
                        </a:lnSpc>
                        <a:spcAft>
                          <a:spcPts val="800"/>
                        </a:spcAft>
                        <a:buNone/>
                      </a:pPr>
                      <a:r>
                        <a:rPr lang="en-US" sz="2000" kern="0" dirty="0">
                          <a:solidFill>
                            <a:schemeClr val="tx1"/>
                          </a:solidFill>
                          <a:effectLst/>
                        </a:rPr>
                        <a:t>000</a:t>
                      </a:r>
                      <a:r>
                        <a:rPr lang="tr-TR" sz="2000" kern="0" dirty="0">
                          <a:solidFill>
                            <a:schemeClr val="tx1"/>
                          </a:solidFill>
                          <a:effectLst/>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D797A34F-D628-AF11-800D-3EDEAC9D0514}"/>
              </a:ext>
            </a:extLst>
          </p:cNvPr>
          <p:cNvSpPr txBox="1"/>
          <p:nvPr/>
        </p:nvSpPr>
        <p:spPr>
          <a:xfrm>
            <a:off x="7999369" y="2967335"/>
            <a:ext cx="1551293" cy="461665"/>
          </a:xfrm>
          <a:prstGeom prst="rect">
            <a:avLst/>
          </a:prstGeom>
          <a:noFill/>
        </p:spPr>
        <p:txBody>
          <a:bodyPr wrap="square" rtlCol="0">
            <a:spAutoFit/>
          </a:bodyPr>
          <a:lstStyle/>
          <a:p>
            <a:r>
              <a:rPr lang="tr-TR" sz="2400" b="1" dirty="0">
                <a:solidFill>
                  <a:schemeClr val="bg1"/>
                </a:solidFill>
              </a:rPr>
              <a:t>INPUT B </a:t>
            </a:r>
          </a:p>
        </p:txBody>
      </p:sp>
      <p:pic>
        <p:nvPicPr>
          <p:cNvPr id="7" name="Resim 9" descr="ekran görüntüsü, renklilik, çizgi içeren bir resim&#10;&#10;Yapay zeka tarafından oluşturulmuş içerik yanlış olabilir.">
            <a:extLst>
              <a:ext uri="{FF2B5EF4-FFF2-40B4-BE49-F238E27FC236}">
                <a16:creationId xmlns:a16="http://schemas.microsoft.com/office/drawing/2014/main" id="{C3D1788D-B2ED-05C1-4095-21FB1AEA514B}"/>
              </a:ext>
            </a:extLst>
          </p:cNvPr>
          <p:cNvPicPr>
            <a:picLocks noChangeAspect="1"/>
          </p:cNvPicPr>
          <p:nvPr/>
        </p:nvPicPr>
        <p:blipFill>
          <a:blip r:embed="rId2"/>
          <a:stretch>
            <a:fillRect/>
          </a:stretch>
        </p:blipFill>
        <p:spPr>
          <a:xfrm>
            <a:off x="383519" y="1574560"/>
            <a:ext cx="7079233" cy="4705524"/>
          </a:xfrm>
          <a:prstGeom prst="rect">
            <a:avLst/>
          </a:prstGeom>
        </p:spPr>
      </p:pic>
    </p:spTree>
    <p:extLst>
      <p:ext uri="{BB962C8B-B14F-4D97-AF65-F5344CB8AC3E}">
        <p14:creationId xmlns:p14="http://schemas.microsoft.com/office/powerpoint/2010/main" val="1220742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7A7EF-BE62-522B-B70F-F31805E25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164A5-488F-55EB-18C2-929CF090EF93}"/>
              </a:ext>
            </a:extLst>
          </p:cNvPr>
          <p:cNvSpPr>
            <a:spLocks noGrp="1"/>
          </p:cNvSpPr>
          <p:nvPr>
            <p:ph type="title"/>
          </p:nvPr>
        </p:nvSpPr>
        <p:spPr>
          <a:xfrm>
            <a:off x="457200" y="67808"/>
            <a:ext cx="10515600" cy="1325563"/>
          </a:xfrm>
        </p:spPr>
        <p:txBody>
          <a:bodyPr>
            <a:normAutofit/>
          </a:bodyPr>
          <a:lstStyle/>
          <a:p>
            <a:r>
              <a:rPr lang="en-US" dirty="0"/>
              <a:t>Demonstration of Subtraction </a:t>
            </a:r>
            <a:br>
              <a:rPr lang="en-US" dirty="0"/>
            </a:br>
            <a:r>
              <a:rPr lang="en-US" sz="3200" dirty="0"/>
              <a:t>Last 2 digit of </a:t>
            </a:r>
            <a:r>
              <a:rPr lang="tr-TR" sz="3200" dirty="0" err="1"/>
              <a:t>my</a:t>
            </a:r>
            <a:r>
              <a:rPr lang="en-US" sz="3200" dirty="0"/>
              <a:t> Student ID=</a:t>
            </a:r>
            <a:r>
              <a:rPr lang="tr-TR" sz="3200" dirty="0"/>
              <a:t> </a:t>
            </a:r>
            <a:r>
              <a:rPr lang="en-US" sz="3200" dirty="0"/>
              <a:t>0001</a:t>
            </a:r>
            <a:r>
              <a:rPr lang="tr-TR" sz="3200" dirty="0"/>
              <a:t>1001 </a:t>
            </a:r>
            <a:r>
              <a:rPr lang="en-US" sz="3200" dirty="0"/>
              <a:t>- 1=?</a:t>
            </a:r>
            <a:endParaRPr lang="en-US" sz="3600" dirty="0"/>
          </a:p>
        </p:txBody>
      </p:sp>
      <p:sp>
        <p:nvSpPr>
          <p:cNvPr id="4" name="Rectangle 3">
            <a:extLst>
              <a:ext uri="{FF2B5EF4-FFF2-40B4-BE49-F238E27FC236}">
                <a16:creationId xmlns:a16="http://schemas.microsoft.com/office/drawing/2014/main" id="{9E4E4F38-60D7-CF26-82E4-1096A35D4437}"/>
              </a:ext>
            </a:extLst>
          </p:cNvPr>
          <p:cNvSpPr/>
          <p:nvPr/>
        </p:nvSpPr>
        <p:spPr>
          <a:xfrm>
            <a:off x="263676" y="1276651"/>
            <a:ext cx="11664647"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F0617360-8EF9-23BD-DC52-FFC50891AB90}"/>
              </a:ext>
            </a:extLst>
          </p:cNvPr>
          <p:cNvGraphicFramePr>
            <a:graphicFrameLocks noGrp="1"/>
          </p:cNvGraphicFramePr>
          <p:nvPr>
            <p:extLst>
              <p:ext uri="{D42A27DB-BD31-4B8C-83A1-F6EECF244321}">
                <p14:modId xmlns:p14="http://schemas.microsoft.com/office/powerpoint/2010/main" val="544328859"/>
              </p:ext>
            </p:extLst>
          </p:nvPr>
        </p:nvGraphicFramePr>
        <p:xfrm>
          <a:off x="7457949" y="1465942"/>
          <a:ext cx="4345728" cy="1226381"/>
        </p:xfrm>
        <a:graphic>
          <a:graphicData uri="http://schemas.openxmlformats.org/drawingml/2006/table">
            <a:tbl>
              <a:tblPr firstRow="1" bandRow="1">
                <a:tableStyleId>{5C22544A-7EE6-4342-B048-85BDC9FD1C3A}</a:tableStyleId>
              </a:tblPr>
              <a:tblGrid>
                <a:gridCol w="891328">
                  <a:extLst>
                    <a:ext uri="{9D8B030D-6E8A-4147-A177-3AD203B41FA5}">
                      <a16:colId xmlns:a16="http://schemas.microsoft.com/office/drawing/2014/main" val="4247149876"/>
                    </a:ext>
                  </a:extLst>
                </a:gridCol>
                <a:gridCol w="1041400">
                  <a:extLst>
                    <a:ext uri="{9D8B030D-6E8A-4147-A177-3AD203B41FA5}">
                      <a16:colId xmlns:a16="http://schemas.microsoft.com/office/drawing/2014/main" val="508427375"/>
                    </a:ext>
                  </a:extLst>
                </a:gridCol>
                <a:gridCol w="1126067">
                  <a:extLst>
                    <a:ext uri="{9D8B030D-6E8A-4147-A177-3AD203B41FA5}">
                      <a16:colId xmlns:a16="http://schemas.microsoft.com/office/drawing/2014/main" val="213524179"/>
                    </a:ext>
                  </a:extLst>
                </a:gridCol>
                <a:gridCol w="1286933">
                  <a:extLst>
                    <a:ext uri="{9D8B030D-6E8A-4147-A177-3AD203B41FA5}">
                      <a16:colId xmlns:a16="http://schemas.microsoft.com/office/drawing/2014/main" val="3023160714"/>
                    </a:ext>
                  </a:extLst>
                </a:gridCol>
              </a:tblGrid>
              <a:tr h="667404">
                <a:tc>
                  <a:txBody>
                    <a:bodyPr/>
                    <a:lstStyle/>
                    <a:p>
                      <a:pPr algn="ctr">
                        <a:lnSpc>
                          <a:spcPct val="115000"/>
                        </a:lnSpc>
                        <a:spcAft>
                          <a:spcPts val="800"/>
                        </a:spcAft>
                        <a:buNone/>
                      </a:pPr>
                      <a:r>
                        <a:rPr lang="en-US" sz="1200" kern="0" dirty="0">
                          <a:effectLst/>
                        </a:rPr>
                        <a:t>Opcode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effectLst/>
                        </a:rPr>
                        <a:t>Operation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200" kern="0" dirty="0">
                          <a:solidFill>
                            <a:schemeClr val="tx1"/>
                          </a:solidFill>
                          <a:effectLst/>
                        </a:rPr>
                        <a:t>Expected Answer</a:t>
                      </a:r>
                      <a:endParaRPr lang="en-US"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200" dirty="0">
                          <a:solidFill>
                            <a:schemeClr val="tx1"/>
                          </a:solidFill>
                        </a:rPr>
                        <a:t>Result of the simulation</a:t>
                      </a:r>
                    </a:p>
                  </a:txBody>
                  <a:tcPr/>
                </a:tc>
                <a:extLst>
                  <a:ext uri="{0D108BD9-81ED-4DB2-BD59-A6C34878D82A}">
                    <a16:rowId xmlns:a16="http://schemas.microsoft.com/office/drawing/2014/main" val="3025210268"/>
                  </a:ext>
                </a:extLst>
              </a:tr>
              <a:tr h="558977">
                <a:tc>
                  <a:txBody>
                    <a:bodyPr/>
                    <a:lstStyle/>
                    <a:p>
                      <a:pPr algn="ctr">
                        <a:lnSpc>
                          <a:spcPct val="115000"/>
                        </a:lnSpc>
                        <a:spcAft>
                          <a:spcPts val="800"/>
                        </a:spcAft>
                        <a:buNone/>
                      </a:pPr>
                      <a:r>
                        <a:rPr lang="en-US" sz="2000" kern="0" dirty="0">
                          <a:solidFill>
                            <a:schemeClr val="tx1"/>
                          </a:solidFill>
                          <a:effectLst/>
                        </a:rPr>
                        <a:t>000</a:t>
                      </a:r>
                      <a:r>
                        <a:rPr lang="tr-TR" sz="2000" kern="0" dirty="0">
                          <a:solidFill>
                            <a:schemeClr val="tx1"/>
                          </a:solidFill>
                          <a:effectLst/>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0011 1100</a:t>
                      </a:r>
                    </a:p>
                  </a:txBody>
                  <a:tcPr/>
                </a:tc>
                <a:extLst>
                  <a:ext uri="{0D108BD9-81ED-4DB2-BD59-A6C34878D82A}">
                    <a16:rowId xmlns:a16="http://schemas.microsoft.com/office/drawing/2014/main" val="2292938399"/>
                  </a:ext>
                </a:extLst>
              </a:tr>
            </a:tbl>
          </a:graphicData>
        </a:graphic>
      </p:graphicFrame>
      <p:pic>
        <p:nvPicPr>
          <p:cNvPr id="5" name="Resim 7" descr="ekran görüntüsü, renklilik içeren bir resim&#10;&#10;Yapay zeka tarafından oluşturulmuş içerik yanlış olabilir.">
            <a:extLst>
              <a:ext uri="{FF2B5EF4-FFF2-40B4-BE49-F238E27FC236}">
                <a16:creationId xmlns:a16="http://schemas.microsoft.com/office/drawing/2014/main" id="{241B8EC6-EA0B-6682-263B-6CA1D124DB41}"/>
              </a:ext>
            </a:extLst>
          </p:cNvPr>
          <p:cNvPicPr>
            <a:picLocks noChangeAspect="1"/>
          </p:cNvPicPr>
          <p:nvPr/>
        </p:nvPicPr>
        <p:blipFill>
          <a:blip r:embed="rId2"/>
          <a:stretch>
            <a:fillRect/>
          </a:stretch>
        </p:blipFill>
        <p:spPr>
          <a:xfrm>
            <a:off x="349552" y="1555563"/>
            <a:ext cx="6983751" cy="4743518"/>
          </a:xfrm>
          <a:prstGeom prst="rect">
            <a:avLst/>
          </a:prstGeom>
        </p:spPr>
      </p:pic>
      <p:sp>
        <p:nvSpPr>
          <p:cNvPr id="8" name="TextBox 7">
            <a:extLst>
              <a:ext uri="{FF2B5EF4-FFF2-40B4-BE49-F238E27FC236}">
                <a16:creationId xmlns:a16="http://schemas.microsoft.com/office/drawing/2014/main" id="{57A3E1D2-B0B5-E933-7D9C-A2C1D2C274EA}"/>
              </a:ext>
            </a:extLst>
          </p:cNvPr>
          <p:cNvSpPr txBox="1"/>
          <p:nvPr/>
        </p:nvSpPr>
        <p:spPr>
          <a:xfrm>
            <a:off x="7751862" y="3090333"/>
            <a:ext cx="3779737" cy="1477328"/>
          </a:xfrm>
          <a:prstGeom prst="rect">
            <a:avLst/>
          </a:prstGeom>
          <a:noFill/>
        </p:spPr>
        <p:txBody>
          <a:bodyPr wrap="square" rtlCol="0">
            <a:spAutoFit/>
          </a:bodyPr>
          <a:lstStyle/>
          <a:p>
            <a:r>
              <a:rPr lang="tr-TR" dirty="0"/>
              <a:t>I </a:t>
            </a:r>
            <a:r>
              <a:rPr lang="tr-TR" dirty="0" err="1"/>
              <a:t>use</a:t>
            </a:r>
            <a:r>
              <a:rPr lang="tr-TR" dirty="0"/>
              <a:t> 8-bit </a:t>
            </a:r>
            <a:r>
              <a:rPr lang="tr-TR" dirty="0" err="1"/>
              <a:t>full</a:t>
            </a:r>
            <a:r>
              <a:rPr lang="tr-TR" dirty="0"/>
              <a:t> </a:t>
            </a:r>
            <a:r>
              <a:rPr lang="tr-TR" dirty="0" err="1"/>
              <a:t>adder</a:t>
            </a:r>
            <a:r>
              <a:rPr lang="tr-TR" dirty="0"/>
              <a:t> </a:t>
            </a:r>
            <a:r>
              <a:rPr lang="tr-TR" dirty="0" err="1"/>
              <a:t>to</a:t>
            </a:r>
            <a:r>
              <a:rPr lang="tr-TR" dirty="0"/>
              <a:t> </a:t>
            </a:r>
            <a:r>
              <a:rPr lang="tr-TR" dirty="0" err="1"/>
              <a:t>build</a:t>
            </a:r>
            <a:r>
              <a:rPr lang="tr-TR" dirty="0"/>
              <a:t> </a:t>
            </a:r>
            <a:r>
              <a:rPr lang="tr-TR" dirty="0" err="1"/>
              <a:t>subtractor</a:t>
            </a:r>
            <a:r>
              <a:rPr lang="tr-TR" dirty="0"/>
              <a:t>. </a:t>
            </a:r>
            <a:r>
              <a:rPr lang="tr-TR" dirty="0" err="1"/>
              <a:t>It</a:t>
            </a:r>
            <a:r>
              <a:rPr lang="tr-TR" dirty="0"/>
              <a:t> has </a:t>
            </a:r>
            <a:r>
              <a:rPr lang="tr-TR" dirty="0" err="1"/>
              <a:t>also</a:t>
            </a:r>
            <a:r>
              <a:rPr lang="tr-TR" dirty="0"/>
              <a:t> a </a:t>
            </a:r>
            <a:r>
              <a:rPr lang="tr-TR" dirty="0" err="1"/>
              <a:t>overflow</a:t>
            </a:r>
            <a:r>
              <a:rPr lang="tr-TR" dirty="0"/>
              <a:t> </a:t>
            </a:r>
            <a:r>
              <a:rPr lang="tr-TR" dirty="0" err="1"/>
              <a:t>flag</a:t>
            </a:r>
            <a:r>
              <a:rPr lang="tr-TR" dirty="0"/>
              <a:t> </a:t>
            </a:r>
            <a:r>
              <a:rPr lang="tr-TR" dirty="0" err="1"/>
              <a:t>to</a:t>
            </a:r>
            <a:r>
              <a:rPr lang="tr-TR" dirty="0"/>
              <a:t> </a:t>
            </a:r>
            <a:r>
              <a:rPr lang="tr-TR" dirty="0" err="1"/>
              <a:t>detect</a:t>
            </a:r>
            <a:r>
              <a:rPr lang="tr-TR" dirty="0"/>
              <a:t> </a:t>
            </a:r>
            <a:r>
              <a:rPr lang="tr-TR" dirty="0" err="1"/>
              <a:t>the</a:t>
            </a:r>
            <a:r>
              <a:rPr lang="tr-TR" dirty="0"/>
              <a:t> </a:t>
            </a:r>
            <a:r>
              <a:rPr lang="tr-TR" dirty="0" err="1"/>
              <a:t>sign</a:t>
            </a:r>
            <a:r>
              <a:rPr lang="tr-TR" dirty="0"/>
              <a:t> </a:t>
            </a:r>
            <a:r>
              <a:rPr lang="tr-TR" dirty="0" err="1"/>
              <a:t>change</a:t>
            </a:r>
            <a:r>
              <a:rPr lang="tr-TR" dirty="0"/>
              <a:t>.</a:t>
            </a:r>
          </a:p>
          <a:p>
            <a:r>
              <a:rPr lang="tr-TR" dirty="0"/>
              <a:t>I </a:t>
            </a:r>
            <a:r>
              <a:rPr lang="tr-TR" dirty="0" err="1"/>
              <a:t>used</a:t>
            </a:r>
            <a:r>
              <a:rPr lang="tr-TR" dirty="0"/>
              <a:t> A + B’ +1 </a:t>
            </a:r>
            <a:r>
              <a:rPr lang="tr-TR" dirty="0" err="1"/>
              <a:t>equation</a:t>
            </a:r>
            <a:r>
              <a:rPr lang="tr-TR" dirty="0"/>
              <a:t> </a:t>
            </a:r>
            <a:r>
              <a:rPr lang="tr-TR" dirty="0" err="1"/>
              <a:t>for</a:t>
            </a:r>
            <a:r>
              <a:rPr lang="tr-TR" dirty="0"/>
              <a:t> </a:t>
            </a:r>
            <a:r>
              <a:rPr lang="tr-TR" dirty="0" err="1"/>
              <a:t>subtraction</a:t>
            </a:r>
            <a:r>
              <a:rPr lang="tr-TR" dirty="0"/>
              <a:t>.</a:t>
            </a:r>
            <a:endParaRPr lang="en-US" dirty="0"/>
          </a:p>
        </p:txBody>
      </p:sp>
    </p:spTree>
    <p:extLst>
      <p:ext uri="{BB962C8B-B14F-4D97-AF65-F5344CB8AC3E}">
        <p14:creationId xmlns:p14="http://schemas.microsoft.com/office/powerpoint/2010/main" val="227437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3F43-92AB-12B9-18A2-C0D03776E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1476F-250A-F54D-A18D-4BF02C16414E}"/>
              </a:ext>
            </a:extLst>
          </p:cNvPr>
          <p:cNvSpPr>
            <a:spLocks noGrp="1"/>
          </p:cNvSpPr>
          <p:nvPr>
            <p:ph type="title"/>
          </p:nvPr>
        </p:nvSpPr>
        <p:spPr>
          <a:xfrm>
            <a:off x="838200" y="67808"/>
            <a:ext cx="10515600" cy="1325563"/>
          </a:xfrm>
        </p:spPr>
        <p:txBody>
          <a:bodyPr>
            <a:normAutofit/>
          </a:bodyPr>
          <a:lstStyle/>
          <a:p>
            <a:r>
              <a:rPr lang="en-US" dirty="0"/>
              <a:t>Demonstration of “Multiplication” </a:t>
            </a:r>
            <a:br>
              <a:rPr lang="en-US" dirty="0"/>
            </a:br>
            <a:r>
              <a:rPr lang="en-US" sz="3600" dirty="0">
                <a:solidFill>
                  <a:srgbClr val="FF0000"/>
                </a:solidFill>
              </a:rPr>
              <a:t>Last 2 digit of you Student ID in binary x 10101=?</a:t>
            </a:r>
          </a:p>
        </p:txBody>
      </p:sp>
      <p:sp>
        <p:nvSpPr>
          <p:cNvPr id="4" name="Rectangle 3">
            <a:extLst>
              <a:ext uri="{FF2B5EF4-FFF2-40B4-BE49-F238E27FC236}">
                <a16:creationId xmlns:a16="http://schemas.microsoft.com/office/drawing/2014/main" id="{31D11571-38FD-1DB3-771C-8A642A852282}"/>
              </a:ext>
            </a:extLst>
          </p:cNvPr>
          <p:cNvSpPr/>
          <p:nvPr/>
        </p:nvSpPr>
        <p:spPr>
          <a:xfrm>
            <a:off x="391886" y="1393371"/>
            <a:ext cx="11427581"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9022E339-04CE-73DB-5D06-9AAF7BB1E644}"/>
              </a:ext>
            </a:extLst>
          </p:cNvPr>
          <p:cNvGraphicFramePr>
            <a:graphicFrameLocks noGrp="1"/>
          </p:cNvGraphicFramePr>
          <p:nvPr>
            <p:extLst>
              <p:ext uri="{D42A27DB-BD31-4B8C-83A1-F6EECF244321}">
                <p14:modId xmlns:p14="http://schemas.microsoft.com/office/powerpoint/2010/main" val="3641768242"/>
              </p:ext>
            </p:extLst>
          </p:nvPr>
        </p:nvGraphicFramePr>
        <p:xfrm>
          <a:off x="1384459" y="1394580"/>
          <a:ext cx="9517744" cy="1058101"/>
        </p:xfrm>
        <a:graphic>
          <a:graphicData uri="http://schemas.openxmlformats.org/drawingml/2006/table">
            <a:tbl>
              <a:tblPr firstRow="1" bandRow="1">
                <a:tableStyleId>{5C22544A-7EE6-4342-B048-85BDC9FD1C3A}</a:tableStyleId>
              </a:tblPr>
              <a:tblGrid>
                <a:gridCol w="2379436">
                  <a:extLst>
                    <a:ext uri="{9D8B030D-6E8A-4147-A177-3AD203B41FA5}">
                      <a16:colId xmlns:a16="http://schemas.microsoft.com/office/drawing/2014/main" val="4247149876"/>
                    </a:ext>
                  </a:extLst>
                </a:gridCol>
                <a:gridCol w="2379436">
                  <a:extLst>
                    <a:ext uri="{9D8B030D-6E8A-4147-A177-3AD203B41FA5}">
                      <a16:colId xmlns:a16="http://schemas.microsoft.com/office/drawing/2014/main" val="508427375"/>
                    </a:ext>
                  </a:extLst>
                </a:gridCol>
                <a:gridCol w="2379436">
                  <a:extLst>
                    <a:ext uri="{9D8B030D-6E8A-4147-A177-3AD203B41FA5}">
                      <a16:colId xmlns:a16="http://schemas.microsoft.com/office/drawing/2014/main" val="213524179"/>
                    </a:ext>
                  </a:extLst>
                </a:gridCol>
                <a:gridCol w="2379436">
                  <a:extLst>
                    <a:ext uri="{9D8B030D-6E8A-4147-A177-3AD203B41FA5}">
                      <a16:colId xmlns:a16="http://schemas.microsoft.com/office/drawing/2014/main" val="3023160714"/>
                    </a:ext>
                  </a:extLst>
                </a:gridCol>
              </a:tblGrid>
              <a:tr h="370840">
                <a:tc>
                  <a:txBody>
                    <a:bodyPr/>
                    <a:lstStyle/>
                    <a:p>
                      <a:pPr algn="just">
                        <a:lnSpc>
                          <a:spcPct val="115000"/>
                        </a:lnSpc>
                        <a:spcAft>
                          <a:spcPts val="800"/>
                        </a:spcAft>
                        <a:buNone/>
                      </a:pPr>
                      <a:r>
                        <a:rPr lang="en-US" sz="1800" kern="0" dirty="0">
                          <a:effectLst/>
                        </a:rPr>
                        <a:t>Opcode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effectLst/>
                        </a:rPr>
                        <a:t>Operation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800" kern="0" dirty="0">
                          <a:solidFill>
                            <a:schemeClr val="tx1"/>
                          </a:solidFill>
                          <a:effectLst/>
                        </a:rPr>
                        <a:t>Expected Answer</a:t>
                      </a:r>
                      <a:endParaRPr lang="en-US"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800" dirty="0">
                          <a:solidFill>
                            <a:schemeClr val="tx1"/>
                          </a:solidFill>
                        </a:rPr>
                        <a:t>Result of the simulation</a:t>
                      </a:r>
                    </a:p>
                  </a:txBody>
                  <a:tcPr/>
                </a:tc>
                <a:extLst>
                  <a:ext uri="{0D108BD9-81ED-4DB2-BD59-A6C34878D82A}">
                    <a16:rowId xmlns:a16="http://schemas.microsoft.com/office/drawing/2014/main" val="3025210268"/>
                  </a:ext>
                </a:extLst>
              </a:tr>
              <a:tr h="370840">
                <a:tc>
                  <a:txBody>
                    <a:bodyPr/>
                    <a:lstStyle/>
                    <a:p>
                      <a:pPr algn="just">
                        <a:lnSpc>
                          <a:spcPct val="115000"/>
                        </a:lnSpc>
                        <a:spcAft>
                          <a:spcPts val="800"/>
                        </a:spcAft>
                        <a:buNone/>
                      </a:pPr>
                      <a:r>
                        <a:rPr lang="en-US" sz="1800" kern="1200" dirty="0">
                          <a:solidFill>
                            <a:srgbClr val="FF0000"/>
                          </a:solidFill>
                          <a:effectLst/>
                          <a:latin typeface="+mn-lt"/>
                          <a:ea typeface="+mn-ea"/>
                          <a:cs typeface="+mn-cs"/>
                        </a:rPr>
                        <a:t>1000</a:t>
                      </a:r>
                      <a:endParaRPr lang="en-US" sz="2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effectLst/>
                        </a:rPr>
                        <a:t>A x B</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tr-TR"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0000 </a:t>
                      </a:r>
                      <a:r>
                        <a:rPr lang="en-US" sz="18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1000 0100 1101</a:t>
                      </a:r>
                    </a:p>
                  </a:txBody>
                  <a:tcPr marL="9525" marR="9525" marT="9525" marB="9525" anchor="ctr"/>
                </a:tc>
                <a:tc>
                  <a:txBody>
                    <a:bodyPr/>
                    <a:lstStyle/>
                    <a:p>
                      <a:r>
                        <a:rPr lang="tr-TR" sz="1800" dirty="0">
                          <a:solidFill>
                            <a:srgbClr val="FF0000"/>
                          </a:solidFill>
                          <a:latin typeface="Calibri" panose="020F0502020204030204" pitchFamily="34" charset="0"/>
                          <a:cs typeface="Calibri" panose="020F0502020204030204" pitchFamily="34" charset="0"/>
                        </a:rPr>
                        <a:t>----</a:t>
                      </a:r>
                      <a:endParaRPr lang="en-US" sz="1800" dirty="0">
                        <a:solidFill>
                          <a:srgbClr val="FF0000"/>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sp>
        <p:nvSpPr>
          <p:cNvPr id="7" name="TextBox 6">
            <a:extLst>
              <a:ext uri="{FF2B5EF4-FFF2-40B4-BE49-F238E27FC236}">
                <a16:creationId xmlns:a16="http://schemas.microsoft.com/office/drawing/2014/main" id="{E737008C-E975-16D9-C783-74B2C6268E36}"/>
              </a:ext>
            </a:extLst>
          </p:cNvPr>
          <p:cNvSpPr txBox="1"/>
          <p:nvPr/>
        </p:nvSpPr>
        <p:spPr>
          <a:xfrm>
            <a:off x="2882296" y="2967334"/>
            <a:ext cx="6075437" cy="1569660"/>
          </a:xfrm>
          <a:prstGeom prst="rect">
            <a:avLst/>
          </a:prstGeom>
          <a:noFill/>
        </p:spPr>
        <p:txBody>
          <a:bodyPr wrap="square" rtlCol="0">
            <a:spAutoFit/>
          </a:bodyPr>
          <a:lstStyle/>
          <a:p>
            <a:r>
              <a:rPr lang="en-US" sz="2400" dirty="0"/>
              <a:t>Multiple design iterations were performed, but the implementation could not be finalized because of the high complexity of the system and time constraints.</a:t>
            </a:r>
            <a:endParaRPr lang="en-US" sz="2400" dirty="0">
              <a:solidFill>
                <a:srgbClr val="FF0000"/>
              </a:solidFill>
            </a:endParaRPr>
          </a:p>
        </p:txBody>
      </p:sp>
    </p:spTree>
    <p:extLst>
      <p:ext uri="{BB962C8B-B14F-4D97-AF65-F5344CB8AC3E}">
        <p14:creationId xmlns:p14="http://schemas.microsoft.com/office/powerpoint/2010/main" val="4191621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64FAD-DBD6-4094-0B8A-3FD4C9C70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61F42-B7E2-F29E-578D-1A116AF575E8}"/>
              </a:ext>
            </a:extLst>
          </p:cNvPr>
          <p:cNvSpPr>
            <a:spLocks noGrp="1"/>
          </p:cNvSpPr>
          <p:nvPr>
            <p:ph type="title"/>
          </p:nvPr>
        </p:nvSpPr>
        <p:spPr>
          <a:xfrm>
            <a:off x="391887" y="67808"/>
            <a:ext cx="10515600" cy="1325563"/>
          </a:xfrm>
        </p:spPr>
        <p:txBody>
          <a:bodyPr>
            <a:normAutofit/>
          </a:bodyPr>
          <a:lstStyle/>
          <a:p>
            <a:r>
              <a:rPr lang="en-US" dirty="0"/>
              <a:t>Demonstration of “Equality Check”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 101=?</a:t>
            </a:r>
            <a:endParaRPr lang="en-US" sz="3600" dirty="0"/>
          </a:p>
        </p:txBody>
      </p:sp>
      <p:sp>
        <p:nvSpPr>
          <p:cNvPr id="4" name="Rectangle 3">
            <a:extLst>
              <a:ext uri="{FF2B5EF4-FFF2-40B4-BE49-F238E27FC236}">
                <a16:creationId xmlns:a16="http://schemas.microsoft.com/office/drawing/2014/main" id="{3B863334-7443-5CBB-CD93-102151866C0D}"/>
              </a:ext>
            </a:extLst>
          </p:cNvPr>
          <p:cNvSpPr/>
          <p:nvPr/>
        </p:nvSpPr>
        <p:spPr>
          <a:xfrm>
            <a:off x="391887" y="1393371"/>
            <a:ext cx="11630780"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9CB6468-2FAC-7499-9416-00CCF29708D3}"/>
              </a:ext>
            </a:extLst>
          </p:cNvPr>
          <p:cNvGraphicFramePr>
            <a:graphicFrameLocks noGrp="1"/>
          </p:cNvGraphicFramePr>
          <p:nvPr>
            <p:extLst>
              <p:ext uri="{D42A27DB-BD31-4B8C-83A1-F6EECF244321}">
                <p14:modId xmlns:p14="http://schemas.microsoft.com/office/powerpoint/2010/main" val="656399626"/>
              </p:ext>
            </p:extLst>
          </p:nvPr>
        </p:nvGraphicFramePr>
        <p:xfrm>
          <a:off x="7501467" y="1486183"/>
          <a:ext cx="4521200" cy="1232751"/>
        </p:xfrm>
        <a:graphic>
          <a:graphicData uri="http://schemas.openxmlformats.org/drawingml/2006/table">
            <a:tbl>
              <a:tblPr firstRow="1" bandRow="1">
                <a:tableStyleId>{5C22544A-7EE6-4342-B048-85BDC9FD1C3A}</a:tableStyleId>
              </a:tblPr>
              <a:tblGrid>
                <a:gridCol w="1130300">
                  <a:extLst>
                    <a:ext uri="{9D8B030D-6E8A-4147-A177-3AD203B41FA5}">
                      <a16:colId xmlns:a16="http://schemas.microsoft.com/office/drawing/2014/main" val="4247149876"/>
                    </a:ext>
                  </a:extLst>
                </a:gridCol>
                <a:gridCol w="1130300">
                  <a:extLst>
                    <a:ext uri="{9D8B030D-6E8A-4147-A177-3AD203B41FA5}">
                      <a16:colId xmlns:a16="http://schemas.microsoft.com/office/drawing/2014/main" val="508427375"/>
                    </a:ext>
                  </a:extLst>
                </a:gridCol>
                <a:gridCol w="1130300">
                  <a:extLst>
                    <a:ext uri="{9D8B030D-6E8A-4147-A177-3AD203B41FA5}">
                      <a16:colId xmlns:a16="http://schemas.microsoft.com/office/drawing/2014/main" val="213524179"/>
                    </a:ext>
                  </a:extLst>
                </a:gridCol>
                <a:gridCol w="1130300">
                  <a:extLst>
                    <a:ext uri="{9D8B030D-6E8A-4147-A177-3AD203B41FA5}">
                      <a16:colId xmlns:a16="http://schemas.microsoft.com/office/drawing/2014/main" val="3023160714"/>
                    </a:ext>
                  </a:extLst>
                </a:gridCol>
              </a:tblGrid>
              <a:tr h="814730">
                <a:tc>
                  <a:txBody>
                    <a:bodyPr/>
                    <a:lstStyle/>
                    <a:p>
                      <a:pPr algn="just">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400" dirty="0">
                          <a:solidFill>
                            <a:schemeClr val="tx1"/>
                          </a:solidFill>
                        </a:rPr>
                        <a:t>Result of the simulation</a:t>
                      </a:r>
                    </a:p>
                  </a:txBody>
                  <a:tcPr/>
                </a:tc>
                <a:extLst>
                  <a:ext uri="{0D108BD9-81ED-4DB2-BD59-A6C34878D82A}">
                    <a16:rowId xmlns:a16="http://schemas.microsoft.com/office/drawing/2014/main" val="3025210268"/>
                  </a:ext>
                </a:extLst>
              </a:tr>
              <a:tr h="397400">
                <a:tc>
                  <a:txBody>
                    <a:bodyPr/>
                    <a:lstStyle/>
                    <a:p>
                      <a:pPr algn="just">
                        <a:lnSpc>
                          <a:spcPct val="115000"/>
                        </a:lnSpc>
                        <a:spcAft>
                          <a:spcPts val="800"/>
                        </a:spcAft>
                        <a:buNone/>
                      </a:pPr>
                      <a:r>
                        <a:rPr lang="en-US" sz="1800" kern="1200" dirty="0">
                          <a:solidFill>
                            <a:schemeClr val="tx1"/>
                          </a:solidFill>
                          <a:effectLst/>
                          <a:latin typeface="+mn-lt"/>
                          <a:ea typeface="+mn-ea"/>
                          <a:cs typeface="+mn-cs"/>
                        </a:rPr>
                        <a:t>1001</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solidFill>
                            <a:schemeClr val="tx1"/>
                          </a:solidFill>
                          <a:effectLst/>
                        </a:rPr>
                        <a:t>A ==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r>
                        <a:rPr lang="tr-TR" sz="1800" dirty="0">
                          <a:solidFill>
                            <a:schemeClr val="tx1"/>
                          </a:solidFill>
                          <a:latin typeface="Calibri" panose="020F0502020204030204" pitchFamily="34" charset="0"/>
                          <a:cs typeface="Calibri" panose="020F0502020204030204" pitchFamily="34" charset="0"/>
                        </a:rPr>
                        <a:t>00000000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7" name="Resim 6" descr="ekran görüntüsü, metin içeren bir resim&#10;&#10;Yapay zeka tarafından oluşturulmuş içerik yanlış olabilir.">
            <a:extLst>
              <a:ext uri="{FF2B5EF4-FFF2-40B4-BE49-F238E27FC236}">
                <a16:creationId xmlns:a16="http://schemas.microsoft.com/office/drawing/2014/main" id="{F45F3E5C-479A-0E7A-2C7C-9E70828A26C3}"/>
              </a:ext>
            </a:extLst>
          </p:cNvPr>
          <p:cNvPicPr>
            <a:picLocks noChangeAspect="1"/>
          </p:cNvPicPr>
          <p:nvPr/>
        </p:nvPicPr>
        <p:blipFill>
          <a:blip r:embed="rId2"/>
          <a:stretch>
            <a:fillRect/>
          </a:stretch>
        </p:blipFill>
        <p:spPr>
          <a:xfrm>
            <a:off x="511695" y="1486183"/>
            <a:ext cx="6860938" cy="4885266"/>
          </a:xfrm>
          <a:prstGeom prst="rect">
            <a:avLst/>
          </a:prstGeom>
        </p:spPr>
      </p:pic>
    </p:spTree>
    <p:extLst>
      <p:ext uri="{BB962C8B-B14F-4D97-AF65-F5344CB8AC3E}">
        <p14:creationId xmlns:p14="http://schemas.microsoft.com/office/powerpoint/2010/main" val="413866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BAD3-B761-83EF-0C35-C6C471D0C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DB46A-76FE-0575-893A-0D8B66160ABD}"/>
              </a:ext>
            </a:extLst>
          </p:cNvPr>
          <p:cNvSpPr>
            <a:spLocks noGrp="1"/>
          </p:cNvSpPr>
          <p:nvPr>
            <p:ph type="title"/>
          </p:nvPr>
        </p:nvSpPr>
        <p:spPr>
          <a:xfrm>
            <a:off x="391887" y="67808"/>
            <a:ext cx="10515600" cy="1325563"/>
          </a:xfrm>
        </p:spPr>
        <p:txBody>
          <a:bodyPr>
            <a:normAutofit/>
          </a:bodyPr>
          <a:lstStyle/>
          <a:p>
            <a:r>
              <a:rPr lang="en-US" dirty="0"/>
              <a:t>Demonstration of “Equality Check”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 101=?</a:t>
            </a:r>
            <a:endParaRPr lang="en-US" sz="3600" dirty="0"/>
          </a:p>
        </p:txBody>
      </p:sp>
      <p:sp>
        <p:nvSpPr>
          <p:cNvPr id="4" name="Rectangle 3">
            <a:extLst>
              <a:ext uri="{FF2B5EF4-FFF2-40B4-BE49-F238E27FC236}">
                <a16:creationId xmlns:a16="http://schemas.microsoft.com/office/drawing/2014/main" id="{E596FFA1-F786-CF4E-EDD5-97B7B3885231}"/>
              </a:ext>
            </a:extLst>
          </p:cNvPr>
          <p:cNvSpPr/>
          <p:nvPr/>
        </p:nvSpPr>
        <p:spPr>
          <a:xfrm>
            <a:off x="391887" y="1393371"/>
            <a:ext cx="11630780"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93269CE7-CE53-FF3E-2748-6E1EC0A23010}"/>
              </a:ext>
            </a:extLst>
          </p:cNvPr>
          <p:cNvGraphicFramePr>
            <a:graphicFrameLocks noGrp="1"/>
          </p:cNvGraphicFramePr>
          <p:nvPr/>
        </p:nvGraphicFramePr>
        <p:xfrm>
          <a:off x="7501467" y="1486183"/>
          <a:ext cx="4521200" cy="1232751"/>
        </p:xfrm>
        <a:graphic>
          <a:graphicData uri="http://schemas.openxmlformats.org/drawingml/2006/table">
            <a:tbl>
              <a:tblPr firstRow="1" bandRow="1">
                <a:tableStyleId>{5C22544A-7EE6-4342-B048-85BDC9FD1C3A}</a:tableStyleId>
              </a:tblPr>
              <a:tblGrid>
                <a:gridCol w="1130300">
                  <a:extLst>
                    <a:ext uri="{9D8B030D-6E8A-4147-A177-3AD203B41FA5}">
                      <a16:colId xmlns:a16="http://schemas.microsoft.com/office/drawing/2014/main" val="4247149876"/>
                    </a:ext>
                  </a:extLst>
                </a:gridCol>
                <a:gridCol w="1130300">
                  <a:extLst>
                    <a:ext uri="{9D8B030D-6E8A-4147-A177-3AD203B41FA5}">
                      <a16:colId xmlns:a16="http://schemas.microsoft.com/office/drawing/2014/main" val="508427375"/>
                    </a:ext>
                  </a:extLst>
                </a:gridCol>
                <a:gridCol w="1130300">
                  <a:extLst>
                    <a:ext uri="{9D8B030D-6E8A-4147-A177-3AD203B41FA5}">
                      <a16:colId xmlns:a16="http://schemas.microsoft.com/office/drawing/2014/main" val="213524179"/>
                    </a:ext>
                  </a:extLst>
                </a:gridCol>
                <a:gridCol w="1130300">
                  <a:extLst>
                    <a:ext uri="{9D8B030D-6E8A-4147-A177-3AD203B41FA5}">
                      <a16:colId xmlns:a16="http://schemas.microsoft.com/office/drawing/2014/main" val="3023160714"/>
                    </a:ext>
                  </a:extLst>
                </a:gridCol>
              </a:tblGrid>
              <a:tr h="814730">
                <a:tc>
                  <a:txBody>
                    <a:bodyPr/>
                    <a:lstStyle/>
                    <a:p>
                      <a:pPr algn="just">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400" dirty="0">
                          <a:solidFill>
                            <a:schemeClr val="tx1"/>
                          </a:solidFill>
                        </a:rPr>
                        <a:t>Result of the simulation</a:t>
                      </a:r>
                    </a:p>
                  </a:txBody>
                  <a:tcPr/>
                </a:tc>
                <a:extLst>
                  <a:ext uri="{0D108BD9-81ED-4DB2-BD59-A6C34878D82A}">
                    <a16:rowId xmlns:a16="http://schemas.microsoft.com/office/drawing/2014/main" val="3025210268"/>
                  </a:ext>
                </a:extLst>
              </a:tr>
              <a:tr h="397400">
                <a:tc>
                  <a:txBody>
                    <a:bodyPr/>
                    <a:lstStyle/>
                    <a:p>
                      <a:pPr algn="just">
                        <a:lnSpc>
                          <a:spcPct val="115000"/>
                        </a:lnSpc>
                        <a:spcAft>
                          <a:spcPts val="800"/>
                        </a:spcAft>
                        <a:buNone/>
                      </a:pPr>
                      <a:r>
                        <a:rPr lang="en-US" sz="1800" kern="1200" dirty="0">
                          <a:solidFill>
                            <a:schemeClr val="tx1"/>
                          </a:solidFill>
                          <a:effectLst/>
                          <a:latin typeface="+mn-lt"/>
                          <a:ea typeface="+mn-ea"/>
                          <a:cs typeface="+mn-cs"/>
                        </a:rPr>
                        <a:t>1001</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solidFill>
                            <a:schemeClr val="tx1"/>
                          </a:solidFill>
                          <a:effectLst/>
                        </a:rPr>
                        <a:t>A ==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r>
                        <a:rPr lang="tr-TR" sz="1800" dirty="0">
                          <a:solidFill>
                            <a:schemeClr val="tx1"/>
                          </a:solidFill>
                          <a:latin typeface="Calibri" panose="020F0502020204030204" pitchFamily="34" charset="0"/>
                          <a:cs typeface="Calibri" panose="020F0502020204030204" pitchFamily="34" charset="0"/>
                        </a:rPr>
                        <a:t>00000000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Resim 6" descr="ekran görüntüsü içeren bir resim&#10;&#10;Yapay zeka tarafından oluşturulmuş içerik yanlış olabilir.">
            <a:extLst>
              <a:ext uri="{FF2B5EF4-FFF2-40B4-BE49-F238E27FC236}">
                <a16:creationId xmlns:a16="http://schemas.microsoft.com/office/drawing/2014/main" id="{1B19A071-5413-7A65-A279-9CBCD443AF44}"/>
              </a:ext>
            </a:extLst>
          </p:cNvPr>
          <p:cNvPicPr>
            <a:picLocks noChangeAspect="1"/>
          </p:cNvPicPr>
          <p:nvPr/>
        </p:nvPicPr>
        <p:blipFill>
          <a:blip r:embed="rId2"/>
          <a:stretch>
            <a:fillRect/>
          </a:stretch>
        </p:blipFill>
        <p:spPr>
          <a:xfrm>
            <a:off x="453398" y="1562383"/>
            <a:ext cx="6920641" cy="4813017"/>
          </a:xfrm>
          <a:prstGeom prst="rect">
            <a:avLst/>
          </a:prstGeom>
        </p:spPr>
      </p:pic>
      <p:sp>
        <p:nvSpPr>
          <p:cNvPr id="6" name="TextBox 5">
            <a:extLst>
              <a:ext uri="{FF2B5EF4-FFF2-40B4-BE49-F238E27FC236}">
                <a16:creationId xmlns:a16="http://schemas.microsoft.com/office/drawing/2014/main" id="{BF2CC074-56D4-0E51-1C97-01F8D9010BE2}"/>
              </a:ext>
            </a:extLst>
          </p:cNvPr>
          <p:cNvSpPr txBox="1"/>
          <p:nvPr/>
        </p:nvSpPr>
        <p:spPr>
          <a:xfrm>
            <a:off x="7999369" y="2967335"/>
            <a:ext cx="1551293" cy="461665"/>
          </a:xfrm>
          <a:prstGeom prst="rect">
            <a:avLst/>
          </a:prstGeom>
          <a:noFill/>
        </p:spPr>
        <p:txBody>
          <a:bodyPr wrap="square" rtlCol="0">
            <a:spAutoFit/>
          </a:bodyPr>
          <a:lstStyle/>
          <a:p>
            <a:r>
              <a:rPr lang="tr-TR" sz="2400" b="1" dirty="0">
                <a:solidFill>
                  <a:schemeClr val="bg1"/>
                </a:solidFill>
              </a:rPr>
              <a:t>INPUT A </a:t>
            </a:r>
          </a:p>
        </p:txBody>
      </p:sp>
    </p:spTree>
    <p:extLst>
      <p:ext uri="{BB962C8B-B14F-4D97-AF65-F5344CB8AC3E}">
        <p14:creationId xmlns:p14="http://schemas.microsoft.com/office/powerpoint/2010/main" val="3817506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5865-ABE8-4BFF-6B6D-3975204B8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582D9-7C17-513B-35F9-D0DA107CBC19}"/>
              </a:ext>
            </a:extLst>
          </p:cNvPr>
          <p:cNvSpPr>
            <a:spLocks noGrp="1"/>
          </p:cNvSpPr>
          <p:nvPr>
            <p:ph type="title"/>
          </p:nvPr>
        </p:nvSpPr>
        <p:spPr>
          <a:xfrm>
            <a:off x="391887" y="67808"/>
            <a:ext cx="10515600" cy="1325563"/>
          </a:xfrm>
        </p:spPr>
        <p:txBody>
          <a:bodyPr>
            <a:normAutofit/>
          </a:bodyPr>
          <a:lstStyle/>
          <a:p>
            <a:r>
              <a:rPr lang="en-US" dirty="0"/>
              <a:t>Demonstration of “Equality Check”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 101=?</a:t>
            </a:r>
            <a:endParaRPr lang="en-US" sz="3600" dirty="0"/>
          </a:p>
        </p:txBody>
      </p:sp>
      <p:sp>
        <p:nvSpPr>
          <p:cNvPr id="4" name="Rectangle 3">
            <a:extLst>
              <a:ext uri="{FF2B5EF4-FFF2-40B4-BE49-F238E27FC236}">
                <a16:creationId xmlns:a16="http://schemas.microsoft.com/office/drawing/2014/main" id="{552A64AD-3754-B59C-E00F-52C1B3C4CA99}"/>
              </a:ext>
            </a:extLst>
          </p:cNvPr>
          <p:cNvSpPr/>
          <p:nvPr/>
        </p:nvSpPr>
        <p:spPr>
          <a:xfrm>
            <a:off x="391887" y="1393371"/>
            <a:ext cx="11630780"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244DF44C-731F-5001-8BAD-93FAA01BA390}"/>
              </a:ext>
            </a:extLst>
          </p:cNvPr>
          <p:cNvGraphicFramePr>
            <a:graphicFrameLocks noGrp="1"/>
          </p:cNvGraphicFramePr>
          <p:nvPr/>
        </p:nvGraphicFramePr>
        <p:xfrm>
          <a:off x="7501467" y="1486183"/>
          <a:ext cx="4521200" cy="1232751"/>
        </p:xfrm>
        <a:graphic>
          <a:graphicData uri="http://schemas.openxmlformats.org/drawingml/2006/table">
            <a:tbl>
              <a:tblPr firstRow="1" bandRow="1">
                <a:tableStyleId>{5C22544A-7EE6-4342-B048-85BDC9FD1C3A}</a:tableStyleId>
              </a:tblPr>
              <a:tblGrid>
                <a:gridCol w="1130300">
                  <a:extLst>
                    <a:ext uri="{9D8B030D-6E8A-4147-A177-3AD203B41FA5}">
                      <a16:colId xmlns:a16="http://schemas.microsoft.com/office/drawing/2014/main" val="4247149876"/>
                    </a:ext>
                  </a:extLst>
                </a:gridCol>
                <a:gridCol w="1130300">
                  <a:extLst>
                    <a:ext uri="{9D8B030D-6E8A-4147-A177-3AD203B41FA5}">
                      <a16:colId xmlns:a16="http://schemas.microsoft.com/office/drawing/2014/main" val="508427375"/>
                    </a:ext>
                  </a:extLst>
                </a:gridCol>
                <a:gridCol w="1130300">
                  <a:extLst>
                    <a:ext uri="{9D8B030D-6E8A-4147-A177-3AD203B41FA5}">
                      <a16:colId xmlns:a16="http://schemas.microsoft.com/office/drawing/2014/main" val="213524179"/>
                    </a:ext>
                  </a:extLst>
                </a:gridCol>
                <a:gridCol w="1130300">
                  <a:extLst>
                    <a:ext uri="{9D8B030D-6E8A-4147-A177-3AD203B41FA5}">
                      <a16:colId xmlns:a16="http://schemas.microsoft.com/office/drawing/2014/main" val="3023160714"/>
                    </a:ext>
                  </a:extLst>
                </a:gridCol>
              </a:tblGrid>
              <a:tr h="814730">
                <a:tc>
                  <a:txBody>
                    <a:bodyPr/>
                    <a:lstStyle/>
                    <a:p>
                      <a:pPr algn="just">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400" dirty="0">
                          <a:solidFill>
                            <a:schemeClr val="tx1"/>
                          </a:solidFill>
                        </a:rPr>
                        <a:t>Result of the simulation</a:t>
                      </a:r>
                    </a:p>
                  </a:txBody>
                  <a:tcPr/>
                </a:tc>
                <a:extLst>
                  <a:ext uri="{0D108BD9-81ED-4DB2-BD59-A6C34878D82A}">
                    <a16:rowId xmlns:a16="http://schemas.microsoft.com/office/drawing/2014/main" val="3025210268"/>
                  </a:ext>
                </a:extLst>
              </a:tr>
              <a:tr h="397400">
                <a:tc>
                  <a:txBody>
                    <a:bodyPr/>
                    <a:lstStyle/>
                    <a:p>
                      <a:pPr algn="just">
                        <a:lnSpc>
                          <a:spcPct val="115000"/>
                        </a:lnSpc>
                        <a:spcAft>
                          <a:spcPts val="800"/>
                        </a:spcAft>
                        <a:buNone/>
                      </a:pPr>
                      <a:r>
                        <a:rPr lang="en-US" sz="1800" kern="1200" dirty="0">
                          <a:solidFill>
                            <a:schemeClr val="tx1"/>
                          </a:solidFill>
                          <a:effectLst/>
                          <a:latin typeface="+mn-lt"/>
                          <a:ea typeface="+mn-ea"/>
                          <a:cs typeface="+mn-cs"/>
                        </a:rPr>
                        <a:t>1001</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solidFill>
                            <a:schemeClr val="tx1"/>
                          </a:solidFill>
                          <a:effectLst/>
                        </a:rPr>
                        <a:t>A ==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r>
                        <a:rPr lang="tr-TR" sz="1800" dirty="0">
                          <a:solidFill>
                            <a:schemeClr val="tx1"/>
                          </a:solidFill>
                          <a:latin typeface="Calibri" panose="020F0502020204030204" pitchFamily="34" charset="0"/>
                          <a:cs typeface="Calibri" panose="020F0502020204030204" pitchFamily="34" charset="0"/>
                        </a:rPr>
                        <a:t>00000000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907D01B6-6148-5DB8-3B93-EC05CD50E900}"/>
              </a:ext>
            </a:extLst>
          </p:cNvPr>
          <p:cNvSpPr txBox="1"/>
          <p:nvPr/>
        </p:nvSpPr>
        <p:spPr>
          <a:xfrm>
            <a:off x="7999369" y="2967335"/>
            <a:ext cx="1551293" cy="461665"/>
          </a:xfrm>
          <a:prstGeom prst="rect">
            <a:avLst/>
          </a:prstGeom>
          <a:noFill/>
        </p:spPr>
        <p:txBody>
          <a:bodyPr wrap="square" rtlCol="0">
            <a:spAutoFit/>
          </a:bodyPr>
          <a:lstStyle/>
          <a:p>
            <a:r>
              <a:rPr lang="tr-TR" sz="2400" b="1" dirty="0">
                <a:solidFill>
                  <a:schemeClr val="bg1"/>
                </a:solidFill>
              </a:rPr>
              <a:t>INPUT B </a:t>
            </a:r>
          </a:p>
        </p:txBody>
      </p:sp>
      <p:pic>
        <p:nvPicPr>
          <p:cNvPr id="7" name="Resim 13" descr="ekran görüntüsü, çizgi, renklilik içeren bir resim&#10;&#10;Yapay zeka tarafından oluşturulmuş içerik yanlış olabilir.">
            <a:extLst>
              <a:ext uri="{FF2B5EF4-FFF2-40B4-BE49-F238E27FC236}">
                <a16:creationId xmlns:a16="http://schemas.microsoft.com/office/drawing/2014/main" id="{15A40E98-654E-B613-1698-E2FD0692E711}"/>
              </a:ext>
            </a:extLst>
          </p:cNvPr>
          <p:cNvPicPr>
            <a:picLocks noChangeAspect="1"/>
          </p:cNvPicPr>
          <p:nvPr/>
        </p:nvPicPr>
        <p:blipFill>
          <a:blip r:embed="rId2"/>
          <a:stretch>
            <a:fillRect/>
          </a:stretch>
        </p:blipFill>
        <p:spPr>
          <a:xfrm>
            <a:off x="453115" y="1583267"/>
            <a:ext cx="6949031" cy="4783690"/>
          </a:xfrm>
          <a:prstGeom prst="rect">
            <a:avLst/>
          </a:prstGeom>
        </p:spPr>
      </p:pic>
    </p:spTree>
    <p:extLst>
      <p:ext uri="{BB962C8B-B14F-4D97-AF65-F5344CB8AC3E}">
        <p14:creationId xmlns:p14="http://schemas.microsoft.com/office/powerpoint/2010/main" val="3462416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6AD8-46DD-E4A5-00C2-FA822FF29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5CF36-7534-E70D-88C6-CD1B98DD7872}"/>
              </a:ext>
            </a:extLst>
          </p:cNvPr>
          <p:cNvSpPr>
            <a:spLocks noGrp="1"/>
          </p:cNvSpPr>
          <p:nvPr>
            <p:ph type="title"/>
          </p:nvPr>
        </p:nvSpPr>
        <p:spPr>
          <a:xfrm>
            <a:off x="391887" y="67808"/>
            <a:ext cx="10515600" cy="1325563"/>
          </a:xfrm>
        </p:spPr>
        <p:txBody>
          <a:bodyPr>
            <a:normAutofit/>
          </a:bodyPr>
          <a:lstStyle/>
          <a:p>
            <a:r>
              <a:rPr lang="en-US" dirty="0"/>
              <a:t>Demonstration of “Equality Check”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 101=?</a:t>
            </a:r>
            <a:endParaRPr lang="en-US" sz="3600" dirty="0"/>
          </a:p>
        </p:txBody>
      </p:sp>
      <p:sp>
        <p:nvSpPr>
          <p:cNvPr id="4" name="Rectangle 3">
            <a:extLst>
              <a:ext uri="{FF2B5EF4-FFF2-40B4-BE49-F238E27FC236}">
                <a16:creationId xmlns:a16="http://schemas.microsoft.com/office/drawing/2014/main" id="{37376E27-031C-3D17-A219-523EC68FEFB3}"/>
              </a:ext>
            </a:extLst>
          </p:cNvPr>
          <p:cNvSpPr/>
          <p:nvPr/>
        </p:nvSpPr>
        <p:spPr>
          <a:xfrm>
            <a:off x="391887" y="1393371"/>
            <a:ext cx="11630780"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C608A77E-FB2C-335F-2077-0AA132ED461A}"/>
              </a:ext>
            </a:extLst>
          </p:cNvPr>
          <p:cNvGraphicFramePr>
            <a:graphicFrameLocks noGrp="1"/>
          </p:cNvGraphicFramePr>
          <p:nvPr/>
        </p:nvGraphicFramePr>
        <p:xfrm>
          <a:off x="7501467" y="1486183"/>
          <a:ext cx="4521200" cy="1232751"/>
        </p:xfrm>
        <a:graphic>
          <a:graphicData uri="http://schemas.openxmlformats.org/drawingml/2006/table">
            <a:tbl>
              <a:tblPr firstRow="1" bandRow="1">
                <a:tableStyleId>{5C22544A-7EE6-4342-B048-85BDC9FD1C3A}</a:tableStyleId>
              </a:tblPr>
              <a:tblGrid>
                <a:gridCol w="1130300">
                  <a:extLst>
                    <a:ext uri="{9D8B030D-6E8A-4147-A177-3AD203B41FA5}">
                      <a16:colId xmlns:a16="http://schemas.microsoft.com/office/drawing/2014/main" val="4247149876"/>
                    </a:ext>
                  </a:extLst>
                </a:gridCol>
                <a:gridCol w="1130300">
                  <a:extLst>
                    <a:ext uri="{9D8B030D-6E8A-4147-A177-3AD203B41FA5}">
                      <a16:colId xmlns:a16="http://schemas.microsoft.com/office/drawing/2014/main" val="508427375"/>
                    </a:ext>
                  </a:extLst>
                </a:gridCol>
                <a:gridCol w="1130300">
                  <a:extLst>
                    <a:ext uri="{9D8B030D-6E8A-4147-A177-3AD203B41FA5}">
                      <a16:colId xmlns:a16="http://schemas.microsoft.com/office/drawing/2014/main" val="213524179"/>
                    </a:ext>
                  </a:extLst>
                </a:gridCol>
                <a:gridCol w="1130300">
                  <a:extLst>
                    <a:ext uri="{9D8B030D-6E8A-4147-A177-3AD203B41FA5}">
                      <a16:colId xmlns:a16="http://schemas.microsoft.com/office/drawing/2014/main" val="3023160714"/>
                    </a:ext>
                  </a:extLst>
                </a:gridCol>
              </a:tblGrid>
              <a:tr h="814730">
                <a:tc>
                  <a:txBody>
                    <a:bodyPr/>
                    <a:lstStyle/>
                    <a:p>
                      <a:pPr algn="just">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r>
                        <a:rPr lang="en-US" sz="1400" dirty="0">
                          <a:solidFill>
                            <a:schemeClr val="tx1"/>
                          </a:solidFill>
                        </a:rPr>
                        <a:t>Result of the simulation</a:t>
                      </a:r>
                    </a:p>
                  </a:txBody>
                  <a:tcPr/>
                </a:tc>
                <a:extLst>
                  <a:ext uri="{0D108BD9-81ED-4DB2-BD59-A6C34878D82A}">
                    <a16:rowId xmlns:a16="http://schemas.microsoft.com/office/drawing/2014/main" val="3025210268"/>
                  </a:ext>
                </a:extLst>
              </a:tr>
              <a:tr h="397400">
                <a:tc>
                  <a:txBody>
                    <a:bodyPr/>
                    <a:lstStyle/>
                    <a:p>
                      <a:pPr algn="just">
                        <a:lnSpc>
                          <a:spcPct val="115000"/>
                        </a:lnSpc>
                        <a:spcAft>
                          <a:spcPts val="800"/>
                        </a:spcAft>
                        <a:buNone/>
                      </a:pPr>
                      <a:r>
                        <a:rPr lang="en-US" sz="1800" kern="1200" dirty="0">
                          <a:solidFill>
                            <a:schemeClr val="tx1"/>
                          </a:solidFill>
                          <a:effectLst/>
                          <a:latin typeface="+mn-lt"/>
                          <a:ea typeface="+mn-ea"/>
                          <a:cs typeface="+mn-cs"/>
                        </a:rPr>
                        <a:t>1001</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en-US" sz="2400" kern="0" dirty="0">
                          <a:solidFill>
                            <a:schemeClr val="tx1"/>
                          </a:solidFill>
                          <a:effectLst/>
                        </a:rPr>
                        <a:t>A ==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r>
                        <a:rPr lang="tr-TR" sz="1800" dirty="0">
                          <a:solidFill>
                            <a:schemeClr val="tx1"/>
                          </a:solidFill>
                          <a:latin typeface="Calibri" panose="020F0502020204030204" pitchFamily="34" charset="0"/>
                          <a:cs typeface="Calibri" panose="020F0502020204030204" pitchFamily="34" charset="0"/>
                        </a:rPr>
                        <a:t>00000000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Resim 7" descr="ekran görüntüsü, çizgi, renklilik içeren bir resim&#10;&#10;Yapay zeka tarafından oluşturulmuş içerik yanlış olabilir.">
            <a:extLst>
              <a:ext uri="{FF2B5EF4-FFF2-40B4-BE49-F238E27FC236}">
                <a16:creationId xmlns:a16="http://schemas.microsoft.com/office/drawing/2014/main" id="{9CB34C33-FF85-8C28-0DAB-93BB47FC741B}"/>
              </a:ext>
            </a:extLst>
          </p:cNvPr>
          <p:cNvPicPr>
            <a:picLocks noChangeAspect="1"/>
          </p:cNvPicPr>
          <p:nvPr/>
        </p:nvPicPr>
        <p:blipFill>
          <a:blip r:embed="rId2"/>
          <a:stretch>
            <a:fillRect/>
          </a:stretch>
        </p:blipFill>
        <p:spPr>
          <a:xfrm>
            <a:off x="391887" y="1549400"/>
            <a:ext cx="7032723" cy="4927598"/>
          </a:xfrm>
          <a:prstGeom prst="rect">
            <a:avLst/>
          </a:prstGeom>
        </p:spPr>
      </p:pic>
      <p:sp>
        <p:nvSpPr>
          <p:cNvPr id="8" name="TextBox 7">
            <a:extLst>
              <a:ext uri="{FF2B5EF4-FFF2-40B4-BE49-F238E27FC236}">
                <a16:creationId xmlns:a16="http://schemas.microsoft.com/office/drawing/2014/main" id="{B98A3E66-80A6-3170-E52E-6DBEB3501381}"/>
              </a:ext>
            </a:extLst>
          </p:cNvPr>
          <p:cNvSpPr txBox="1"/>
          <p:nvPr/>
        </p:nvSpPr>
        <p:spPr>
          <a:xfrm>
            <a:off x="7693124" y="3305378"/>
            <a:ext cx="4061029" cy="1477328"/>
          </a:xfrm>
          <a:prstGeom prst="rect">
            <a:avLst/>
          </a:prstGeom>
          <a:noFill/>
        </p:spPr>
        <p:txBody>
          <a:bodyPr wrap="square" rtlCol="0">
            <a:spAutoFit/>
          </a:bodyPr>
          <a:lstStyle/>
          <a:p>
            <a:r>
              <a:rPr lang="tr-TR" dirty="0"/>
              <a:t>I </a:t>
            </a:r>
            <a:r>
              <a:rPr lang="tr-TR" dirty="0" err="1"/>
              <a:t>used</a:t>
            </a:r>
            <a:r>
              <a:rPr lang="tr-TR" dirty="0"/>
              <a:t> </a:t>
            </a:r>
            <a:r>
              <a:rPr lang="tr-TR" dirty="0" err="1"/>
              <a:t>subtractor</a:t>
            </a:r>
            <a:r>
              <a:rPr lang="tr-TR" dirty="0"/>
              <a:t> </a:t>
            </a:r>
            <a:r>
              <a:rPr lang="tr-TR" dirty="0" err="1"/>
              <a:t>for</a:t>
            </a:r>
            <a:r>
              <a:rPr lang="tr-TR" dirty="0"/>
              <a:t> </a:t>
            </a:r>
            <a:r>
              <a:rPr lang="tr-TR" dirty="0" err="1"/>
              <a:t>comparison</a:t>
            </a:r>
            <a:r>
              <a:rPr lang="tr-TR" dirty="0"/>
              <a:t>, I </a:t>
            </a:r>
            <a:r>
              <a:rPr lang="tr-TR" dirty="0" err="1"/>
              <a:t>subtracted</a:t>
            </a:r>
            <a:r>
              <a:rPr lang="tr-TR" dirty="0"/>
              <a:t> B </a:t>
            </a:r>
            <a:r>
              <a:rPr lang="tr-TR" dirty="0" err="1"/>
              <a:t>from</a:t>
            </a:r>
            <a:r>
              <a:rPr lang="tr-TR" dirty="0"/>
              <a:t> A , </a:t>
            </a:r>
            <a:r>
              <a:rPr lang="tr-TR" dirty="0" err="1"/>
              <a:t>then</a:t>
            </a:r>
            <a:r>
              <a:rPr lang="tr-TR" dirty="0"/>
              <a:t> </a:t>
            </a:r>
            <a:r>
              <a:rPr lang="tr-TR" dirty="0" err="1"/>
              <a:t>for</a:t>
            </a:r>
            <a:r>
              <a:rPr lang="tr-TR" dirty="0"/>
              <a:t> </a:t>
            </a:r>
            <a:r>
              <a:rPr lang="tr-TR" dirty="0" err="1"/>
              <a:t>equality</a:t>
            </a:r>
            <a:r>
              <a:rPr lang="tr-TR" dirty="0"/>
              <a:t> </a:t>
            </a:r>
            <a:r>
              <a:rPr lang="tr-TR" dirty="0" err="1"/>
              <a:t>check</a:t>
            </a:r>
            <a:r>
              <a:rPr lang="tr-TR" dirty="0"/>
              <a:t>, I </a:t>
            </a:r>
            <a:r>
              <a:rPr lang="tr-TR" dirty="0" err="1"/>
              <a:t>checked</a:t>
            </a:r>
            <a:r>
              <a:rPr lang="tr-TR" dirty="0"/>
              <a:t> </a:t>
            </a:r>
            <a:r>
              <a:rPr lang="tr-TR" dirty="0" err="1"/>
              <a:t>that</a:t>
            </a:r>
            <a:r>
              <a:rPr lang="tr-TR" dirty="0"/>
              <a:t> </a:t>
            </a:r>
            <a:r>
              <a:rPr lang="tr-TR" dirty="0" err="1"/>
              <a:t>if</a:t>
            </a:r>
            <a:r>
              <a:rPr lang="tr-TR" dirty="0"/>
              <a:t> </a:t>
            </a:r>
            <a:r>
              <a:rPr lang="tr-TR" dirty="0" err="1"/>
              <a:t>all</a:t>
            </a:r>
            <a:r>
              <a:rPr lang="tr-TR" dirty="0"/>
              <a:t> </a:t>
            </a:r>
            <a:r>
              <a:rPr lang="tr-TR" dirty="0" err="1"/>
              <a:t>outputs</a:t>
            </a:r>
            <a:r>
              <a:rPr lang="tr-TR" dirty="0"/>
              <a:t> </a:t>
            </a:r>
            <a:r>
              <a:rPr lang="tr-TR" dirty="0" err="1"/>
              <a:t>are</a:t>
            </a:r>
            <a:r>
              <a:rPr lang="tr-TR" dirty="0"/>
              <a:t> </a:t>
            </a:r>
            <a:r>
              <a:rPr lang="tr-TR" dirty="0" err="1"/>
              <a:t>zero</a:t>
            </a:r>
            <a:r>
              <a:rPr lang="tr-TR" dirty="0"/>
              <a:t> </a:t>
            </a:r>
            <a:r>
              <a:rPr lang="tr-TR" dirty="0" err="1"/>
              <a:t>or</a:t>
            </a:r>
            <a:r>
              <a:rPr lang="tr-TR" dirty="0"/>
              <a:t> not. </a:t>
            </a:r>
            <a:r>
              <a:rPr lang="tr-TR" dirty="0" err="1"/>
              <a:t>If</a:t>
            </a:r>
            <a:r>
              <a:rPr lang="tr-TR" dirty="0"/>
              <a:t> </a:t>
            </a:r>
            <a:r>
              <a:rPr lang="tr-TR" dirty="0" err="1"/>
              <a:t>any</a:t>
            </a:r>
            <a:r>
              <a:rPr lang="tr-TR" dirty="0"/>
              <a:t> </a:t>
            </a:r>
            <a:r>
              <a:rPr lang="tr-TR" dirty="0" err="1"/>
              <a:t>one</a:t>
            </a:r>
            <a:r>
              <a:rPr lang="tr-TR" dirty="0"/>
              <a:t> of </a:t>
            </a:r>
            <a:r>
              <a:rPr lang="tr-TR" dirty="0" err="1"/>
              <a:t>the</a:t>
            </a:r>
            <a:r>
              <a:rPr lang="tr-TR" dirty="0"/>
              <a:t> </a:t>
            </a:r>
            <a:r>
              <a:rPr lang="tr-TR" dirty="0" err="1"/>
              <a:t>output</a:t>
            </a:r>
            <a:r>
              <a:rPr lang="tr-TR" dirty="0"/>
              <a:t> </a:t>
            </a:r>
            <a:r>
              <a:rPr lang="tr-TR" dirty="0" err="1"/>
              <a:t>bits</a:t>
            </a:r>
            <a:r>
              <a:rPr lang="tr-TR" dirty="0"/>
              <a:t> is </a:t>
            </a:r>
            <a:r>
              <a:rPr lang="tr-TR" dirty="0" err="1"/>
              <a:t>logic</a:t>
            </a:r>
            <a:r>
              <a:rPr lang="tr-TR" dirty="0"/>
              <a:t> </a:t>
            </a:r>
            <a:r>
              <a:rPr lang="tr-TR" dirty="0" err="1"/>
              <a:t>high</a:t>
            </a:r>
            <a:r>
              <a:rPr lang="tr-TR" dirty="0"/>
              <a:t> </a:t>
            </a:r>
            <a:r>
              <a:rPr lang="tr-TR" dirty="0" err="1"/>
              <a:t>then</a:t>
            </a:r>
            <a:r>
              <a:rPr lang="tr-TR" dirty="0"/>
              <a:t> </a:t>
            </a:r>
            <a:r>
              <a:rPr lang="tr-TR" dirty="0" err="1"/>
              <a:t>equality</a:t>
            </a:r>
            <a:r>
              <a:rPr lang="tr-TR" dirty="0"/>
              <a:t> is 0.</a:t>
            </a:r>
          </a:p>
        </p:txBody>
      </p:sp>
    </p:spTree>
    <p:extLst>
      <p:ext uri="{BB962C8B-B14F-4D97-AF65-F5344CB8AC3E}">
        <p14:creationId xmlns:p14="http://schemas.microsoft.com/office/powerpoint/2010/main" val="1789870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C469-DC7B-E2E1-2150-619A1B3C7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A32BB-2DEE-C5FD-8535-C92E2D8584E9}"/>
              </a:ext>
            </a:extLst>
          </p:cNvPr>
          <p:cNvSpPr>
            <a:spLocks noGrp="1"/>
          </p:cNvSpPr>
          <p:nvPr>
            <p:ph type="title"/>
          </p:nvPr>
        </p:nvSpPr>
        <p:spPr>
          <a:xfrm>
            <a:off x="391886" y="67808"/>
            <a:ext cx="10515600" cy="1325563"/>
          </a:xfrm>
        </p:spPr>
        <p:txBody>
          <a:bodyPr>
            <a:normAutofit/>
          </a:bodyPr>
          <a:lstStyle/>
          <a:p>
            <a:r>
              <a:rPr lang="en-US" dirty="0"/>
              <a:t>Demonstration of “Greater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&gt; 101=?</a:t>
            </a:r>
            <a:endParaRPr lang="en-US" sz="3600" dirty="0"/>
          </a:p>
        </p:txBody>
      </p:sp>
      <p:sp>
        <p:nvSpPr>
          <p:cNvPr id="4" name="Rectangle 3">
            <a:extLst>
              <a:ext uri="{FF2B5EF4-FFF2-40B4-BE49-F238E27FC236}">
                <a16:creationId xmlns:a16="http://schemas.microsoft.com/office/drawing/2014/main" id="{CC28B4AE-29AE-7F40-F414-2798C9AC8338}"/>
              </a:ext>
            </a:extLst>
          </p:cNvPr>
          <p:cNvSpPr/>
          <p:nvPr/>
        </p:nvSpPr>
        <p:spPr>
          <a:xfrm>
            <a:off x="391886" y="1393371"/>
            <a:ext cx="11610126"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D4C4160-FF7C-E1D1-4DC2-C7F5B3A418B5}"/>
              </a:ext>
            </a:extLst>
          </p:cNvPr>
          <p:cNvGraphicFramePr>
            <a:graphicFrameLocks noGrp="1"/>
          </p:cNvGraphicFramePr>
          <p:nvPr>
            <p:extLst>
              <p:ext uri="{D42A27DB-BD31-4B8C-83A1-F6EECF244321}">
                <p14:modId xmlns:p14="http://schemas.microsoft.com/office/powerpoint/2010/main" val="1382677167"/>
              </p:ext>
            </p:extLst>
          </p:nvPr>
        </p:nvGraphicFramePr>
        <p:xfrm>
          <a:off x="7440508" y="1591734"/>
          <a:ext cx="4483616" cy="1325287"/>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4247149876"/>
                    </a:ext>
                  </a:extLst>
                </a:gridCol>
                <a:gridCol w="863600">
                  <a:extLst>
                    <a:ext uri="{9D8B030D-6E8A-4147-A177-3AD203B41FA5}">
                      <a16:colId xmlns:a16="http://schemas.microsoft.com/office/drawing/2014/main" val="508427375"/>
                    </a:ext>
                  </a:extLst>
                </a:gridCol>
                <a:gridCol w="1295400">
                  <a:extLst>
                    <a:ext uri="{9D8B030D-6E8A-4147-A177-3AD203B41FA5}">
                      <a16:colId xmlns:a16="http://schemas.microsoft.com/office/drawing/2014/main" val="213524179"/>
                    </a:ext>
                  </a:extLst>
                </a:gridCol>
                <a:gridCol w="1435616">
                  <a:extLst>
                    <a:ext uri="{9D8B030D-6E8A-4147-A177-3AD203B41FA5}">
                      <a16:colId xmlns:a16="http://schemas.microsoft.com/office/drawing/2014/main" val="3023160714"/>
                    </a:ext>
                  </a:extLst>
                </a:gridCol>
              </a:tblGrid>
              <a:tr h="675425">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649862">
                <a:tc>
                  <a:txBody>
                    <a:bodyPr/>
                    <a:lstStyle/>
                    <a:p>
                      <a:pPr algn="ctr">
                        <a:lnSpc>
                          <a:spcPct val="115000"/>
                        </a:lnSpc>
                        <a:spcAft>
                          <a:spcPts val="800"/>
                        </a:spcAft>
                        <a:buNone/>
                      </a:pPr>
                      <a:r>
                        <a:rPr lang="en-US" sz="1800" kern="1200" dirty="0">
                          <a:solidFill>
                            <a:schemeClr val="tx1"/>
                          </a:solidFill>
                          <a:effectLst/>
                          <a:latin typeface="+mn-lt"/>
                          <a:ea typeface="+mn-ea"/>
                          <a:cs typeface="+mn-cs"/>
                        </a:rPr>
                        <a:t>1010</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400" kern="0" dirty="0">
                          <a:solidFill>
                            <a:schemeClr val="tx1"/>
                          </a:solidFill>
                          <a:effectLst/>
                        </a:rPr>
                        <a:t>A &gt;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10" name="Resim 9" descr="ekran görüntüsü, metin, multimedya yazılımı içeren bir resim&#10;&#10;Yapay zeka tarafından oluşturulmuş içerik yanlış olabilir.">
            <a:extLst>
              <a:ext uri="{FF2B5EF4-FFF2-40B4-BE49-F238E27FC236}">
                <a16:creationId xmlns:a16="http://schemas.microsoft.com/office/drawing/2014/main" id="{29E1BF91-817B-B043-AF94-177941365EDB}"/>
              </a:ext>
            </a:extLst>
          </p:cNvPr>
          <p:cNvPicPr>
            <a:picLocks noChangeAspect="1"/>
          </p:cNvPicPr>
          <p:nvPr/>
        </p:nvPicPr>
        <p:blipFill>
          <a:blip r:embed="rId2"/>
          <a:stretch>
            <a:fillRect/>
          </a:stretch>
        </p:blipFill>
        <p:spPr>
          <a:xfrm>
            <a:off x="391884" y="1591734"/>
            <a:ext cx="6970736" cy="4809066"/>
          </a:xfrm>
          <a:prstGeom prst="rect">
            <a:avLst/>
          </a:prstGeom>
        </p:spPr>
      </p:pic>
    </p:spTree>
    <p:extLst>
      <p:ext uri="{BB962C8B-B14F-4D97-AF65-F5344CB8AC3E}">
        <p14:creationId xmlns:p14="http://schemas.microsoft.com/office/powerpoint/2010/main" val="2755174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C5A3-AA2F-43C4-D271-D1A53FE70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E4AFD-AF1F-10C8-F187-4932DD318211}"/>
              </a:ext>
            </a:extLst>
          </p:cNvPr>
          <p:cNvSpPr>
            <a:spLocks noGrp="1"/>
          </p:cNvSpPr>
          <p:nvPr>
            <p:ph type="title"/>
          </p:nvPr>
        </p:nvSpPr>
        <p:spPr>
          <a:xfrm>
            <a:off x="391886" y="67808"/>
            <a:ext cx="10515600" cy="1325563"/>
          </a:xfrm>
        </p:spPr>
        <p:txBody>
          <a:bodyPr>
            <a:normAutofit/>
          </a:bodyPr>
          <a:lstStyle/>
          <a:p>
            <a:r>
              <a:rPr lang="en-US" dirty="0"/>
              <a:t>Demonstration of “Greater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&gt; 101=?</a:t>
            </a:r>
            <a:endParaRPr lang="en-US" sz="3600" dirty="0"/>
          </a:p>
        </p:txBody>
      </p:sp>
      <p:sp>
        <p:nvSpPr>
          <p:cNvPr id="4" name="Rectangle 3">
            <a:extLst>
              <a:ext uri="{FF2B5EF4-FFF2-40B4-BE49-F238E27FC236}">
                <a16:creationId xmlns:a16="http://schemas.microsoft.com/office/drawing/2014/main" id="{BB8D5F97-A67E-70ED-7949-35DA310E893F}"/>
              </a:ext>
            </a:extLst>
          </p:cNvPr>
          <p:cNvSpPr/>
          <p:nvPr/>
        </p:nvSpPr>
        <p:spPr>
          <a:xfrm>
            <a:off x="391886" y="1393371"/>
            <a:ext cx="11610126"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D3484B4-7C83-AF93-B002-B3BD853FC3C6}"/>
              </a:ext>
            </a:extLst>
          </p:cNvPr>
          <p:cNvGraphicFramePr>
            <a:graphicFrameLocks noGrp="1"/>
          </p:cNvGraphicFramePr>
          <p:nvPr/>
        </p:nvGraphicFramePr>
        <p:xfrm>
          <a:off x="7440508" y="1591734"/>
          <a:ext cx="4483616" cy="1325287"/>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4247149876"/>
                    </a:ext>
                  </a:extLst>
                </a:gridCol>
                <a:gridCol w="863600">
                  <a:extLst>
                    <a:ext uri="{9D8B030D-6E8A-4147-A177-3AD203B41FA5}">
                      <a16:colId xmlns:a16="http://schemas.microsoft.com/office/drawing/2014/main" val="508427375"/>
                    </a:ext>
                  </a:extLst>
                </a:gridCol>
                <a:gridCol w="1295400">
                  <a:extLst>
                    <a:ext uri="{9D8B030D-6E8A-4147-A177-3AD203B41FA5}">
                      <a16:colId xmlns:a16="http://schemas.microsoft.com/office/drawing/2014/main" val="213524179"/>
                    </a:ext>
                  </a:extLst>
                </a:gridCol>
                <a:gridCol w="1435616">
                  <a:extLst>
                    <a:ext uri="{9D8B030D-6E8A-4147-A177-3AD203B41FA5}">
                      <a16:colId xmlns:a16="http://schemas.microsoft.com/office/drawing/2014/main" val="3023160714"/>
                    </a:ext>
                  </a:extLst>
                </a:gridCol>
              </a:tblGrid>
              <a:tr h="675425">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649862">
                <a:tc>
                  <a:txBody>
                    <a:bodyPr/>
                    <a:lstStyle/>
                    <a:p>
                      <a:pPr algn="ctr">
                        <a:lnSpc>
                          <a:spcPct val="115000"/>
                        </a:lnSpc>
                        <a:spcAft>
                          <a:spcPts val="800"/>
                        </a:spcAft>
                        <a:buNone/>
                      </a:pPr>
                      <a:r>
                        <a:rPr lang="en-US" sz="1800" kern="1200" dirty="0">
                          <a:solidFill>
                            <a:schemeClr val="tx1"/>
                          </a:solidFill>
                          <a:effectLst/>
                          <a:latin typeface="+mn-lt"/>
                          <a:ea typeface="+mn-ea"/>
                          <a:cs typeface="+mn-cs"/>
                        </a:rPr>
                        <a:t>1010</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400" kern="0" dirty="0">
                          <a:solidFill>
                            <a:schemeClr val="tx1"/>
                          </a:solidFill>
                          <a:effectLst/>
                        </a:rPr>
                        <a:t>A &gt;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Resim 6" descr="ekran görüntüsü, renklilik, çizgi içeren bir resim&#10;&#10;Yapay zeka tarafından oluşturulmuş içerik yanlış olabilir.">
            <a:extLst>
              <a:ext uri="{FF2B5EF4-FFF2-40B4-BE49-F238E27FC236}">
                <a16:creationId xmlns:a16="http://schemas.microsoft.com/office/drawing/2014/main" id="{223BB18A-4FF4-AE8C-1DC3-9C67EFBD79B2}"/>
              </a:ext>
            </a:extLst>
          </p:cNvPr>
          <p:cNvPicPr>
            <a:picLocks noChangeAspect="1"/>
          </p:cNvPicPr>
          <p:nvPr/>
        </p:nvPicPr>
        <p:blipFill>
          <a:blip r:embed="rId2"/>
          <a:stretch>
            <a:fillRect/>
          </a:stretch>
        </p:blipFill>
        <p:spPr>
          <a:xfrm>
            <a:off x="463263" y="1532467"/>
            <a:ext cx="6905869" cy="4764314"/>
          </a:xfrm>
          <a:prstGeom prst="rect">
            <a:avLst/>
          </a:prstGeom>
        </p:spPr>
      </p:pic>
      <p:sp>
        <p:nvSpPr>
          <p:cNvPr id="6" name="TextBox 5">
            <a:extLst>
              <a:ext uri="{FF2B5EF4-FFF2-40B4-BE49-F238E27FC236}">
                <a16:creationId xmlns:a16="http://schemas.microsoft.com/office/drawing/2014/main" id="{0FBB2A23-B056-8BE1-4C3A-F94EFC047554}"/>
              </a:ext>
            </a:extLst>
          </p:cNvPr>
          <p:cNvSpPr txBox="1"/>
          <p:nvPr/>
        </p:nvSpPr>
        <p:spPr>
          <a:xfrm>
            <a:off x="7609902" y="3077538"/>
            <a:ext cx="1551293" cy="461665"/>
          </a:xfrm>
          <a:prstGeom prst="rect">
            <a:avLst/>
          </a:prstGeom>
          <a:noFill/>
        </p:spPr>
        <p:txBody>
          <a:bodyPr wrap="square" rtlCol="0">
            <a:spAutoFit/>
          </a:bodyPr>
          <a:lstStyle/>
          <a:p>
            <a:r>
              <a:rPr lang="tr-TR" sz="2400" b="1" dirty="0">
                <a:solidFill>
                  <a:schemeClr val="bg1"/>
                </a:solidFill>
              </a:rPr>
              <a:t>INPUT A</a:t>
            </a:r>
          </a:p>
        </p:txBody>
      </p:sp>
    </p:spTree>
    <p:extLst>
      <p:ext uri="{BB962C8B-B14F-4D97-AF65-F5344CB8AC3E}">
        <p14:creationId xmlns:p14="http://schemas.microsoft.com/office/powerpoint/2010/main" val="3202421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D7620-64D3-5675-4955-18FBF398E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6649B-C61A-8DF6-3B6B-DB32F673B9DC}"/>
              </a:ext>
            </a:extLst>
          </p:cNvPr>
          <p:cNvSpPr>
            <a:spLocks noGrp="1"/>
          </p:cNvSpPr>
          <p:nvPr>
            <p:ph type="title"/>
          </p:nvPr>
        </p:nvSpPr>
        <p:spPr>
          <a:xfrm>
            <a:off x="391886" y="67808"/>
            <a:ext cx="10515600" cy="1325563"/>
          </a:xfrm>
        </p:spPr>
        <p:txBody>
          <a:bodyPr>
            <a:normAutofit/>
          </a:bodyPr>
          <a:lstStyle/>
          <a:p>
            <a:r>
              <a:rPr lang="en-US" dirty="0"/>
              <a:t>Demonstration of “Greater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&gt; 101=?</a:t>
            </a:r>
            <a:endParaRPr lang="en-US" sz="3600" dirty="0"/>
          </a:p>
        </p:txBody>
      </p:sp>
      <p:sp>
        <p:nvSpPr>
          <p:cNvPr id="4" name="Rectangle 3">
            <a:extLst>
              <a:ext uri="{FF2B5EF4-FFF2-40B4-BE49-F238E27FC236}">
                <a16:creationId xmlns:a16="http://schemas.microsoft.com/office/drawing/2014/main" id="{A66FA48E-0E1C-D6DE-2DC6-3C9F4020CAF1}"/>
              </a:ext>
            </a:extLst>
          </p:cNvPr>
          <p:cNvSpPr/>
          <p:nvPr/>
        </p:nvSpPr>
        <p:spPr>
          <a:xfrm>
            <a:off x="391886" y="1393371"/>
            <a:ext cx="11610126"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8295AFB7-70F1-A731-99B8-339347886BEE}"/>
              </a:ext>
            </a:extLst>
          </p:cNvPr>
          <p:cNvGraphicFramePr>
            <a:graphicFrameLocks noGrp="1"/>
          </p:cNvGraphicFramePr>
          <p:nvPr/>
        </p:nvGraphicFramePr>
        <p:xfrm>
          <a:off x="7440508" y="1591734"/>
          <a:ext cx="4483616" cy="1325287"/>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4247149876"/>
                    </a:ext>
                  </a:extLst>
                </a:gridCol>
                <a:gridCol w="863600">
                  <a:extLst>
                    <a:ext uri="{9D8B030D-6E8A-4147-A177-3AD203B41FA5}">
                      <a16:colId xmlns:a16="http://schemas.microsoft.com/office/drawing/2014/main" val="508427375"/>
                    </a:ext>
                  </a:extLst>
                </a:gridCol>
                <a:gridCol w="1295400">
                  <a:extLst>
                    <a:ext uri="{9D8B030D-6E8A-4147-A177-3AD203B41FA5}">
                      <a16:colId xmlns:a16="http://schemas.microsoft.com/office/drawing/2014/main" val="213524179"/>
                    </a:ext>
                  </a:extLst>
                </a:gridCol>
                <a:gridCol w="1435616">
                  <a:extLst>
                    <a:ext uri="{9D8B030D-6E8A-4147-A177-3AD203B41FA5}">
                      <a16:colId xmlns:a16="http://schemas.microsoft.com/office/drawing/2014/main" val="3023160714"/>
                    </a:ext>
                  </a:extLst>
                </a:gridCol>
              </a:tblGrid>
              <a:tr h="675425">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649862">
                <a:tc>
                  <a:txBody>
                    <a:bodyPr/>
                    <a:lstStyle/>
                    <a:p>
                      <a:pPr algn="ctr">
                        <a:lnSpc>
                          <a:spcPct val="115000"/>
                        </a:lnSpc>
                        <a:spcAft>
                          <a:spcPts val="800"/>
                        </a:spcAft>
                        <a:buNone/>
                      </a:pPr>
                      <a:r>
                        <a:rPr lang="en-US" sz="1800" kern="1200" dirty="0">
                          <a:solidFill>
                            <a:schemeClr val="tx1"/>
                          </a:solidFill>
                          <a:effectLst/>
                          <a:latin typeface="+mn-lt"/>
                          <a:ea typeface="+mn-ea"/>
                          <a:cs typeface="+mn-cs"/>
                        </a:rPr>
                        <a:t>1010</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400" kern="0" dirty="0">
                          <a:solidFill>
                            <a:schemeClr val="tx1"/>
                          </a:solidFill>
                          <a:effectLst/>
                        </a:rPr>
                        <a:t>A &gt;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sp>
        <p:nvSpPr>
          <p:cNvPr id="6" name="TextBox 5">
            <a:extLst>
              <a:ext uri="{FF2B5EF4-FFF2-40B4-BE49-F238E27FC236}">
                <a16:creationId xmlns:a16="http://schemas.microsoft.com/office/drawing/2014/main" id="{60D5D2DB-9EC8-DE2B-E182-D026F3364CF8}"/>
              </a:ext>
            </a:extLst>
          </p:cNvPr>
          <p:cNvSpPr txBox="1"/>
          <p:nvPr/>
        </p:nvSpPr>
        <p:spPr>
          <a:xfrm>
            <a:off x="7609902" y="3077538"/>
            <a:ext cx="1551293" cy="461665"/>
          </a:xfrm>
          <a:prstGeom prst="rect">
            <a:avLst/>
          </a:prstGeom>
          <a:noFill/>
        </p:spPr>
        <p:txBody>
          <a:bodyPr wrap="square" rtlCol="0">
            <a:spAutoFit/>
          </a:bodyPr>
          <a:lstStyle/>
          <a:p>
            <a:r>
              <a:rPr lang="tr-TR" sz="2400" b="1" dirty="0">
                <a:solidFill>
                  <a:schemeClr val="bg1"/>
                </a:solidFill>
              </a:rPr>
              <a:t>INPUT B</a:t>
            </a:r>
          </a:p>
        </p:txBody>
      </p:sp>
      <p:pic>
        <p:nvPicPr>
          <p:cNvPr id="7" name="Resim 6" descr="ekran görüntüsü, metin, çizgi, paralel içeren bir resim&#10;&#10;Yapay zeka tarafından oluşturulmuş içerik yanlış olabilir.">
            <a:extLst>
              <a:ext uri="{FF2B5EF4-FFF2-40B4-BE49-F238E27FC236}">
                <a16:creationId xmlns:a16="http://schemas.microsoft.com/office/drawing/2014/main" id="{179629F9-0E62-5A72-92F8-ECF0BBA766A3}"/>
              </a:ext>
            </a:extLst>
          </p:cNvPr>
          <p:cNvPicPr>
            <a:picLocks noChangeAspect="1"/>
          </p:cNvPicPr>
          <p:nvPr/>
        </p:nvPicPr>
        <p:blipFill>
          <a:blip r:embed="rId2"/>
          <a:stretch>
            <a:fillRect/>
          </a:stretch>
        </p:blipFill>
        <p:spPr>
          <a:xfrm>
            <a:off x="391886" y="1473200"/>
            <a:ext cx="6974594" cy="4926535"/>
          </a:xfrm>
          <a:prstGeom prst="rect">
            <a:avLst/>
          </a:prstGeom>
        </p:spPr>
      </p:pic>
    </p:spTree>
    <p:extLst>
      <p:ext uri="{BB962C8B-B14F-4D97-AF65-F5344CB8AC3E}">
        <p14:creationId xmlns:p14="http://schemas.microsoft.com/office/powerpoint/2010/main" val="3176928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CA72E-84A0-FA87-E4CF-04430F281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CF0E8-CD0C-F7FB-B1E7-BEE2A5509FA3}"/>
              </a:ext>
            </a:extLst>
          </p:cNvPr>
          <p:cNvSpPr>
            <a:spLocks noGrp="1"/>
          </p:cNvSpPr>
          <p:nvPr>
            <p:ph type="title"/>
          </p:nvPr>
        </p:nvSpPr>
        <p:spPr>
          <a:xfrm>
            <a:off x="391886" y="67808"/>
            <a:ext cx="10515600" cy="1325563"/>
          </a:xfrm>
        </p:spPr>
        <p:txBody>
          <a:bodyPr>
            <a:normAutofit/>
          </a:bodyPr>
          <a:lstStyle/>
          <a:p>
            <a:r>
              <a:rPr lang="en-US" dirty="0"/>
              <a:t>Demonstration of “Greater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&gt; 101=?</a:t>
            </a:r>
            <a:endParaRPr lang="en-US" sz="3600" dirty="0"/>
          </a:p>
        </p:txBody>
      </p:sp>
      <p:sp>
        <p:nvSpPr>
          <p:cNvPr id="4" name="Rectangle 3">
            <a:extLst>
              <a:ext uri="{FF2B5EF4-FFF2-40B4-BE49-F238E27FC236}">
                <a16:creationId xmlns:a16="http://schemas.microsoft.com/office/drawing/2014/main" id="{DCC2FC14-48EF-6D03-C245-24E4C65AC4D6}"/>
              </a:ext>
            </a:extLst>
          </p:cNvPr>
          <p:cNvSpPr/>
          <p:nvPr/>
        </p:nvSpPr>
        <p:spPr>
          <a:xfrm>
            <a:off x="391886" y="1393371"/>
            <a:ext cx="11610126"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FC5795CC-BFBF-79CA-CE22-7461A5BCDB70}"/>
              </a:ext>
            </a:extLst>
          </p:cNvPr>
          <p:cNvGraphicFramePr>
            <a:graphicFrameLocks noGrp="1"/>
          </p:cNvGraphicFramePr>
          <p:nvPr/>
        </p:nvGraphicFramePr>
        <p:xfrm>
          <a:off x="7440508" y="1591734"/>
          <a:ext cx="4483616" cy="1325287"/>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4247149876"/>
                    </a:ext>
                  </a:extLst>
                </a:gridCol>
                <a:gridCol w="863600">
                  <a:extLst>
                    <a:ext uri="{9D8B030D-6E8A-4147-A177-3AD203B41FA5}">
                      <a16:colId xmlns:a16="http://schemas.microsoft.com/office/drawing/2014/main" val="508427375"/>
                    </a:ext>
                  </a:extLst>
                </a:gridCol>
                <a:gridCol w="1295400">
                  <a:extLst>
                    <a:ext uri="{9D8B030D-6E8A-4147-A177-3AD203B41FA5}">
                      <a16:colId xmlns:a16="http://schemas.microsoft.com/office/drawing/2014/main" val="213524179"/>
                    </a:ext>
                  </a:extLst>
                </a:gridCol>
                <a:gridCol w="1435616">
                  <a:extLst>
                    <a:ext uri="{9D8B030D-6E8A-4147-A177-3AD203B41FA5}">
                      <a16:colId xmlns:a16="http://schemas.microsoft.com/office/drawing/2014/main" val="3023160714"/>
                    </a:ext>
                  </a:extLst>
                </a:gridCol>
              </a:tblGrid>
              <a:tr h="675425">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649862">
                <a:tc>
                  <a:txBody>
                    <a:bodyPr/>
                    <a:lstStyle/>
                    <a:p>
                      <a:pPr algn="ctr">
                        <a:lnSpc>
                          <a:spcPct val="115000"/>
                        </a:lnSpc>
                        <a:spcAft>
                          <a:spcPts val="800"/>
                        </a:spcAft>
                        <a:buNone/>
                      </a:pPr>
                      <a:r>
                        <a:rPr lang="en-US" sz="1800" kern="1200" dirty="0">
                          <a:solidFill>
                            <a:schemeClr val="tx1"/>
                          </a:solidFill>
                          <a:effectLst/>
                          <a:latin typeface="+mn-lt"/>
                          <a:ea typeface="+mn-ea"/>
                          <a:cs typeface="+mn-cs"/>
                        </a:rPr>
                        <a:t>1010</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400" kern="0" dirty="0">
                          <a:solidFill>
                            <a:schemeClr val="tx1"/>
                          </a:solidFill>
                          <a:effectLst/>
                        </a:rPr>
                        <a:t>A &gt; B</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15000"/>
                        </a:lnSpc>
                        <a:spcAft>
                          <a:spcPts val="800"/>
                        </a:spcAft>
                        <a:buNone/>
                      </a:pPr>
                      <a:r>
                        <a:rPr lang="tr-TR"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0000 0001</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Resim 7" descr="ekran görüntüsü, çizgi, renklilik içeren bir resim&#10;&#10;Yapay zeka tarafından oluşturulmuş içerik yanlış olabilir.">
            <a:extLst>
              <a:ext uri="{FF2B5EF4-FFF2-40B4-BE49-F238E27FC236}">
                <a16:creationId xmlns:a16="http://schemas.microsoft.com/office/drawing/2014/main" id="{E2D974F9-72FD-CC6F-ED3C-3798C8313C40}"/>
              </a:ext>
            </a:extLst>
          </p:cNvPr>
          <p:cNvPicPr>
            <a:picLocks noChangeAspect="1"/>
          </p:cNvPicPr>
          <p:nvPr/>
        </p:nvPicPr>
        <p:blipFill>
          <a:blip r:embed="rId2"/>
          <a:stretch>
            <a:fillRect/>
          </a:stretch>
        </p:blipFill>
        <p:spPr>
          <a:xfrm>
            <a:off x="391886" y="1636485"/>
            <a:ext cx="6982207" cy="4815114"/>
          </a:xfrm>
          <a:prstGeom prst="rect">
            <a:avLst/>
          </a:prstGeom>
        </p:spPr>
      </p:pic>
      <p:sp>
        <p:nvSpPr>
          <p:cNvPr id="8" name="TextBox 7">
            <a:extLst>
              <a:ext uri="{FF2B5EF4-FFF2-40B4-BE49-F238E27FC236}">
                <a16:creationId xmlns:a16="http://schemas.microsoft.com/office/drawing/2014/main" id="{2CB00CA7-F6B4-D089-E385-2B354F9D1424}"/>
              </a:ext>
            </a:extLst>
          </p:cNvPr>
          <p:cNvSpPr txBox="1"/>
          <p:nvPr/>
        </p:nvSpPr>
        <p:spPr>
          <a:xfrm>
            <a:off x="7728112" y="3294649"/>
            <a:ext cx="3919880" cy="923330"/>
          </a:xfrm>
          <a:prstGeom prst="rect">
            <a:avLst/>
          </a:prstGeom>
          <a:noFill/>
        </p:spPr>
        <p:txBody>
          <a:bodyPr wrap="square" rtlCol="0">
            <a:spAutoFit/>
          </a:bodyPr>
          <a:lstStyle/>
          <a:p>
            <a:r>
              <a:rPr lang="tr-TR" dirty="0"/>
              <a:t>I </a:t>
            </a:r>
            <a:r>
              <a:rPr lang="tr-TR" dirty="0" err="1"/>
              <a:t>used</a:t>
            </a:r>
            <a:r>
              <a:rPr lang="tr-TR" dirty="0"/>
              <a:t> </a:t>
            </a:r>
            <a:r>
              <a:rPr lang="tr-TR" dirty="0" err="1"/>
              <a:t>subtractor</a:t>
            </a:r>
            <a:r>
              <a:rPr lang="tr-TR" dirty="0"/>
              <a:t> </a:t>
            </a:r>
            <a:r>
              <a:rPr lang="tr-TR" dirty="0" err="1"/>
              <a:t>for</a:t>
            </a:r>
            <a:r>
              <a:rPr lang="tr-TR" dirty="0"/>
              <a:t> «</a:t>
            </a:r>
            <a:r>
              <a:rPr lang="tr-TR" dirty="0" err="1"/>
              <a:t>greater</a:t>
            </a:r>
            <a:r>
              <a:rPr lang="tr-TR" dirty="0"/>
              <a:t> </a:t>
            </a:r>
            <a:r>
              <a:rPr lang="tr-TR" dirty="0" err="1"/>
              <a:t>than</a:t>
            </a:r>
            <a:r>
              <a:rPr lang="tr-TR" dirty="0"/>
              <a:t>», I </a:t>
            </a:r>
            <a:r>
              <a:rPr lang="tr-TR" dirty="0" err="1"/>
              <a:t>checked</a:t>
            </a:r>
            <a:r>
              <a:rPr lang="tr-TR" dirty="0"/>
              <a:t> </a:t>
            </a:r>
            <a:r>
              <a:rPr lang="tr-TR" dirty="0" err="1"/>
              <a:t>that</a:t>
            </a:r>
            <a:r>
              <a:rPr lang="tr-TR" dirty="0"/>
              <a:t> </a:t>
            </a:r>
            <a:r>
              <a:rPr lang="tr-TR" dirty="0" err="1"/>
              <a:t>whether</a:t>
            </a:r>
            <a:r>
              <a:rPr lang="tr-TR" dirty="0"/>
              <a:t> </a:t>
            </a:r>
            <a:r>
              <a:rPr lang="tr-TR" dirty="0" err="1"/>
              <a:t>the</a:t>
            </a:r>
            <a:r>
              <a:rPr lang="tr-TR" dirty="0"/>
              <a:t> </a:t>
            </a:r>
            <a:r>
              <a:rPr lang="tr-TR" dirty="0" err="1"/>
              <a:t>flag</a:t>
            </a:r>
            <a:r>
              <a:rPr lang="tr-TR" dirty="0"/>
              <a:t> is </a:t>
            </a:r>
            <a:r>
              <a:rPr lang="tr-TR" dirty="0" err="1"/>
              <a:t>high</a:t>
            </a:r>
            <a:r>
              <a:rPr lang="tr-TR" dirty="0"/>
              <a:t> </a:t>
            </a:r>
            <a:r>
              <a:rPr lang="tr-TR" dirty="0" err="1"/>
              <a:t>or</a:t>
            </a:r>
            <a:r>
              <a:rPr lang="tr-TR" dirty="0"/>
              <a:t> not.</a:t>
            </a:r>
            <a:endParaRPr lang="en-US" dirty="0"/>
          </a:p>
        </p:txBody>
      </p:sp>
    </p:spTree>
    <p:extLst>
      <p:ext uri="{BB962C8B-B14F-4D97-AF65-F5344CB8AC3E}">
        <p14:creationId xmlns:p14="http://schemas.microsoft.com/office/powerpoint/2010/main" val="4072854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2C27C-50CC-0E7D-96EB-525163BE9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C2B26-EACF-4A18-36A4-DE7DE842728D}"/>
              </a:ext>
            </a:extLst>
          </p:cNvPr>
          <p:cNvSpPr>
            <a:spLocks noGrp="1"/>
          </p:cNvSpPr>
          <p:nvPr>
            <p:ph type="title"/>
          </p:nvPr>
        </p:nvSpPr>
        <p:spPr>
          <a:xfrm>
            <a:off x="279400" y="67808"/>
            <a:ext cx="10515600" cy="1325563"/>
          </a:xfrm>
        </p:spPr>
        <p:txBody>
          <a:bodyPr>
            <a:normAutofit/>
          </a:bodyPr>
          <a:lstStyle/>
          <a:p>
            <a:r>
              <a:rPr lang="en-US" dirty="0"/>
              <a:t>Demonstration of “Less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&lt;</a:t>
            </a:r>
            <a:r>
              <a:rPr lang="en-US" sz="2800" dirty="0"/>
              <a:t> 101=?</a:t>
            </a:r>
            <a:endParaRPr lang="en-US" sz="3600" dirty="0">
              <a:solidFill>
                <a:srgbClr val="FF0000"/>
              </a:solidFill>
            </a:endParaRPr>
          </a:p>
        </p:txBody>
      </p:sp>
      <p:sp>
        <p:nvSpPr>
          <p:cNvPr id="4" name="Rectangle 3">
            <a:extLst>
              <a:ext uri="{FF2B5EF4-FFF2-40B4-BE49-F238E27FC236}">
                <a16:creationId xmlns:a16="http://schemas.microsoft.com/office/drawing/2014/main" id="{C5E73E06-14D1-A9DD-6BF9-3F2972B387C5}"/>
              </a:ext>
            </a:extLst>
          </p:cNvPr>
          <p:cNvSpPr/>
          <p:nvPr/>
        </p:nvSpPr>
        <p:spPr>
          <a:xfrm>
            <a:off x="391886" y="1393371"/>
            <a:ext cx="1167633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85572201-DA1A-9D5D-9A72-0F9618DC0F44}"/>
              </a:ext>
            </a:extLst>
          </p:cNvPr>
          <p:cNvGraphicFramePr>
            <a:graphicFrameLocks noGrp="1"/>
          </p:cNvGraphicFramePr>
          <p:nvPr>
            <p:extLst>
              <p:ext uri="{D42A27DB-BD31-4B8C-83A1-F6EECF244321}">
                <p14:modId xmlns:p14="http://schemas.microsoft.com/office/powerpoint/2010/main" val="1259101874"/>
              </p:ext>
            </p:extLst>
          </p:nvPr>
        </p:nvGraphicFramePr>
        <p:xfrm>
          <a:off x="7797798" y="1613138"/>
          <a:ext cx="4270420" cy="1105796"/>
        </p:xfrm>
        <a:graphic>
          <a:graphicData uri="http://schemas.openxmlformats.org/drawingml/2006/table">
            <a:tbl>
              <a:tblPr firstRow="1" bandRow="1">
                <a:tableStyleId>{5C22544A-7EE6-4342-B048-85BDC9FD1C3A}</a:tableStyleId>
              </a:tblPr>
              <a:tblGrid>
                <a:gridCol w="1067605">
                  <a:extLst>
                    <a:ext uri="{9D8B030D-6E8A-4147-A177-3AD203B41FA5}">
                      <a16:colId xmlns:a16="http://schemas.microsoft.com/office/drawing/2014/main" val="4247149876"/>
                    </a:ext>
                  </a:extLst>
                </a:gridCol>
                <a:gridCol w="1067605">
                  <a:extLst>
                    <a:ext uri="{9D8B030D-6E8A-4147-A177-3AD203B41FA5}">
                      <a16:colId xmlns:a16="http://schemas.microsoft.com/office/drawing/2014/main" val="508427375"/>
                    </a:ext>
                  </a:extLst>
                </a:gridCol>
                <a:gridCol w="1067605">
                  <a:extLst>
                    <a:ext uri="{9D8B030D-6E8A-4147-A177-3AD203B41FA5}">
                      <a16:colId xmlns:a16="http://schemas.microsoft.com/office/drawing/2014/main" val="213524179"/>
                    </a:ext>
                  </a:extLst>
                </a:gridCol>
                <a:gridCol w="1067605">
                  <a:extLst>
                    <a:ext uri="{9D8B030D-6E8A-4147-A177-3AD203B41FA5}">
                      <a16:colId xmlns:a16="http://schemas.microsoft.com/office/drawing/2014/main" val="3023160714"/>
                    </a:ext>
                  </a:extLst>
                </a:gridCol>
              </a:tblGrid>
              <a:tr h="623793">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374276">
                <a:tc>
                  <a:txBody>
                    <a:bodyPr/>
                    <a:lstStyle/>
                    <a:p>
                      <a:pPr algn="ctr">
                        <a:lnSpc>
                          <a:spcPct val="115000"/>
                        </a:lnSpc>
                        <a:spcAft>
                          <a:spcPts val="800"/>
                        </a:spcAft>
                        <a:buNone/>
                      </a:pPr>
                      <a:r>
                        <a:rPr lang="en-US" sz="1600" kern="1200" dirty="0">
                          <a:solidFill>
                            <a:schemeClr val="tx1"/>
                          </a:solidFill>
                          <a:effectLst/>
                          <a:latin typeface="+mn-lt"/>
                          <a:ea typeface="+mn-ea"/>
                          <a:cs typeface="+mn-cs"/>
                        </a:rPr>
                        <a:t>101</a:t>
                      </a:r>
                      <a:r>
                        <a:rPr lang="tr-TR" sz="1600" kern="1200" dirty="0">
                          <a:solidFill>
                            <a:schemeClr val="tx1"/>
                          </a:solidFill>
                          <a:effectLst/>
                          <a:latin typeface="+mn-lt"/>
                          <a:ea typeface="+mn-ea"/>
                          <a:cs typeface="+mn-cs"/>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solidFill>
                            <a:schemeClr val="tx1"/>
                          </a:solidFill>
                          <a:effectLst/>
                        </a:rPr>
                        <a:t>A &lt; B</a:t>
                      </a:r>
                      <a:endParaRPr lang="en-US"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600" dirty="0">
                          <a:solidFill>
                            <a:schemeClr val="tx1"/>
                          </a:solidFill>
                          <a:latin typeface="Calibri" panose="020F0502020204030204" pitchFamily="34" charset="0"/>
                          <a:cs typeface="Calibri" panose="020F0502020204030204" pitchFamily="34" charset="0"/>
                        </a:rPr>
                        <a:t>00000000</a:t>
                      </a:r>
                      <a:endParaRPr lang="en-US" sz="16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Resim 4" descr="ekran görüntüsü, metin, multimedya yazılımı, yazılım içeren bir resim&#10;&#10;Yapay zeka tarafından oluşturulmuş içerik yanlış olabilir.">
            <a:extLst>
              <a:ext uri="{FF2B5EF4-FFF2-40B4-BE49-F238E27FC236}">
                <a16:creationId xmlns:a16="http://schemas.microsoft.com/office/drawing/2014/main" id="{1665A292-CDE3-B8B6-A0C7-5D59BAAAB8B0}"/>
              </a:ext>
            </a:extLst>
          </p:cNvPr>
          <p:cNvPicPr>
            <a:picLocks noChangeAspect="1"/>
          </p:cNvPicPr>
          <p:nvPr/>
        </p:nvPicPr>
        <p:blipFill>
          <a:blip r:embed="rId2"/>
          <a:stretch>
            <a:fillRect/>
          </a:stretch>
        </p:blipFill>
        <p:spPr>
          <a:xfrm>
            <a:off x="453873" y="1482705"/>
            <a:ext cx="7281938" cy="4929282"/>
          </a:xfrm>
          <a:prstGeom prst="rect">
            <a:avLst/>
          </a:prstGeom>
        </p:spPr>
      </p:pic>
    </p:spTree>
    <p:extLst>
      <p:ext uri="{BB962C8B-B14F-4D97-AF65-F5344CB8AC3E}">
        <p14:creationId xmlns:p14="http://schemas.microsoft.com/office/powerpoint/2010/main" val="38303425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2F056-7C7C-792A-C6B1-44FB7833E1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8C989-07A5-4A7D-1A2F-3F88093779BF}"/>
              </a:ext>
            </a:extLst>
          </p:cNvPr>
          <p:cNvSpPr>
            <a:spLocks noGrp="1"/>
          </p:cNvSpPr>
          <p:nvPr>
            <p:ph type="title"/>
          </p:nvPr>
        </p:nvSpPr>
        <p:spPr>
          <a:xfrm>
            <a:off x="279400" y="67808"/>
            <a:ext cx="10515600" cy="1325563"/>
          </a:xfrm>
        </p:spPr>
        <p:txBody>
          <a:bodyPr>
            <a:normAutofit/>
          </a:bodyPr>
          <a:lstStyle/>
          <a:p>
            <a:r>
              <a:rPr lang="en-US" dirty="0"/>
              <a:t>Demonstration of “Less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&lt;</a:t>
            </a:r>
            <a:r>
              <a:rPr lang="en-US" sz="2800" dirty="0"/>
              <a:t> 101=?</a:t>
            </a:r>
            <a:endParaRPr lang="en-US" sz="3600" dirty="0">
              <a:solidFill>
                <a:srgbClr val="FF0000"/>
              </a:solidFill>
            </a:endParaRPr>
          </a:p>
        </p:txBody>
      </p:sp>
      <p:sp>
        <p:nvSpPr>
          <p:cNvPr id="4" name="Rectangle 3">
            <a:extLst>
              <a:ext uri="{FF2B5EF4-FFF2-40B4-BE49-F238E27FC236}">
                <a16:creationId xmlns:a16="http://schemas.microsoft.com/office/drawing/2014/main" id="{831A165F-FCB0-B439-11BE-1593185E1307}"/>
              </a:ext>
            </a:extLst>
          </p:cNvPr>
          <p:cNvSpPr/>
          <p:nvPr/>
        </p:nvSpPr>
        <p:spPr>
          <a:xfrm>
            <a:off x="391886" y="1393371"/>
            <a:ext cx="1167633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F79A6CE9-90A4-1294-74DD-A178EB0AE220}"/>
              </a:ext>
            </a:extLst>
          </p:cNvPr>
          <p:cNvGraphicFramePr>
            <a:graphicFrameLocks noGrp="1"/>
          </p:cNvGraphicFramePr>
          <p:nvPr>
            <p:extLst>
              <p:ext uri="{D42A27DB-BD31-4B8C-83A1-F6EECF244321}">
                <p14:modId xmlns:p14="http://schemas.microsoft.com/office/powerpoint/2010/main" val="298413759"/>
              </p:ext>
            </p:extLst>
          </p:nvPr>
        </p:nvGraphicFramePr>
        <p:xfrm>
          <a:off x="7704666" y="1613138"/>
          <a:ext cx="4270420" cy="1105796"/>
        </p:xfrm>
        <a:graphic>
          <a:graphicData uri="http://schemas.openxmlformats.org/drawingml/2006/table">
            <a:tbl>
              <a:tblPr firstRow="1" bandRow="1">
                <a:tableStyleId>{5C22544A-7EE6-4342-B048-85BDC9FD1C3A}</a:tableStyleId>
              </a:tblPr>
              <a:tblGrid>
                <a:gridCol w="1067605">
                  <a:extLst>
                    <a:ext uri="{9D8B030D-6E8A-4147-A177-3AD203B41FA5}">
                      <a16:colId xmlns:a16="http://schemas.microsoft.com/office/drawing/2014/main" val="4247149876"/>
                    </a:ext>
                  </a:extLst>
                </a:gridCol>
                <a:gridCol w="1067605">
                  <a:extLst>
                    <a:ext uri="{9D8B030D-6E8A-4147-A177-3AD203B41FA5}">
                      <a16:colId xmlns:a16="http://schemas.microsoft.com/office/drawing/2014/main" val="508427375"/>
                    </a:ext>
                  </a:extLst>
                </a:gridCol>
                <a:gridCol w="1067605">
                  <a:extLst>
                    <a:ext uri="{9D8B030D-6E8A-4147-A177-3AD203B41FA5}">
                      <a16:colId xmlns:a16="http://schemas.microsoft.com/office/drawing/2014/main" val="213524179"/>
                    </a:ext>
                  </a:extLst>
                </a:gridCol>
                <a:gridCol w="1067605">
                  <a:extLst>
                    <a:ext uri="{9D8B030D-6E8A-4147-A177-3AD203B41FA5}">
                      <a16:colId xmlns:a16="http://schemas.microsoft.com/office/drawing/2014/main" val="3023160714"/>
                    </a:ext>
                  </a:extLst>
                </a:gridCol>
              </a:tblGrid>
              <a:tr h="623793">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374276">
                <a:tc>
                  <a:txBody>
                    <a:bodyPr/>
                    <a:lstStyle/>
                    <a:p>
                      <a:pPr algn="ctr">
                        <a:lnSpc>
                          <a:spcPct val="115000"/>
                        </a:lnSpc>
                        <a:spcAft>
                          <a:spcPts val="800"/>
                        </a:spcAft>
                        <a:buNone/>
                      </a:pPr>
                      <a:r>
                        <a:rPr lang="en-US" sz="1600" kern="1200" dirty="0">
                          <a:solidFill>
                            <a:schemeClr val="tx1"/>
                          </a:solidFill>
                          <a:effectLst/>
                          <a:latin typeface="+mn-lt"/>
                          <a:ea typeface="+mn-ea"/>
                          <a:cs typeface="+mn-cs"/>
                        </a:rPr>
                        <a:t>101</a:t>
                      </a:r>
                      <a:r>
                        <a:rPr lang="tr-TR" sz="1600" kern="1200" dirty="0">
                          <a:solidFill>
                            <a:schemeClr val="tx1"/>
                          </a:solidFill>
                          <a:effectLst/>
                          <a:latin typeface="+mn-lt"/>
                          <a:ea typeface="+mn-ea"/>
                          <a:cs typeface="+mn-cs"/>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solidFill>
                            <a:schemeClr val="tx1"/>
                          </a:solidFill>
                          <a:effectLst/>
                        </a:rPr>
                        <a:t>A &lt; B</a:t>
                      </a:r>
                      <a:endParaRPr lang="en-US"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600" dirty="0">
                          <a:solidFill>
                            <a:schemeClr val="tx1"/>
                          </a:solidFill>
                          <a:latin typeface="Calibri" panose="020F0502020204030204" pitchFamily="34" charset="0"/>
                          <a:cs typeface="Calibri" panose="020F0502020204030204" pitchFamily="34" charset="0"/>
                        </a:rPr>
                        <a:t>00000000</a:t>
                      </a:r>
                      <a:endParaRPr lang="en-US" sz="16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Resim 6" descr="ekran görüntüsü, çizgi, renklilik içeren bir resim&#10;&#10;Yapay zeka tarafından oluşturulmuş içerik yanlış olabilir.">
            <a:extLst>
              <a:ext uri="{FF2B5EF4-FFF2-40B4-BE49-F238E27FC236}">
                <a16:creationId xmlns:a16="http://schemas.microsoft.com/office/drawing/2014/main" id="{DF267DA9-7285-B2B1-B235-0C2AD81D945F}"/>
              </a:ext>
            </a:extLst>
          </p:cNvPr>
          <p:cNvPicPr>
            <a:picLocks noChangeAspect="1"/>
          </p:cNvPicPr>
          <p:nvPr/>
        </p:nvPicPr>
        <p:blipFill>
          <a:blip r:embed="rId2"/>
          <a:stretch>
            <a:fillRect/>
          </a:stretch>
        </p:blipFill>
        <p:spPr>
          <a:xfrm>
            <a:off x="391885" y="1507067"/>
            <a:ext cx="7219648" cy="4912790"/>
          </a:xfrm>
          <a:prstGeom prst="rect">
            <a:avLst/>
          </a:prstGeom>
        </p:spPr>
      </p:pic>
      <p:sp>
        <p:nvSpPr>
          <p:cNvPr id="7" name="TextBox 6">
            <a:extLst>
              <a:ext uri="{FF2B5EF4-FFF2-40B4-BE49-F238E27FC236}">
                <a16:creationId xmlns:a16="http://schemas.microsoft.com/office/drawing/2014/main" id="{440D5F46-DFB3-3C32-8BCE-1B54456737CC}"/>
              </a:ext>
            </a:extLst>
          </p:cNvPr>
          <p:cNvSpPr txBox="1"/>
          <p:nvPr/>
        </p:nvSpPr>
        <p:spPr>
          <a:xfrm>
            <a:off x="7838502" y="3026738"/>
            <a:ext cx="1551293" cy="461665"/>
          </a:xfrm>
          <a:prstGeom prst="rect">
            <a:avLst/>
          </a:prstGeom>
          <a:noFill/>
        </p:spPr>
        <p:txBody>
          <a:bodyPr wrap="square" rtlCol="0">
            <a:spAutoFit/>
          </a:bodyPr>
          <a:lstStyle/>
          <a:p>
            <a:r>
              <a:rPr lang="tr-TR" sz="2400" b="1" dirty="0">
                <a:solidFill>
                  <a:schemeClr val="bg1"/>
                </a:solidFill>
              </a:rPr>
              <a:t>INPUT A</a:t>
            </a:r>
          </a:p>
        </p:txBody>
      </p:sp>
    </p:spTree>
    <p:extLst>
      <p:ext uri="{BB962C8B-B14F-4D97-AF65-F5344CB8AC3E}">
        <p14:creationId xmlns:p14="http://schemas.microsoft.com/office/powerpoint/2010/main" val="3133912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CAE73-4E7B-D846-1411-BAC51D81C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9E683-ECA2-C42A-7071-F4689CF92AAD}"/>
              </a:ext>
            </a:extLst>
          </p:cNvPr>
          <p:cNvSpPr>
            <a:spLocks noGrp="1"/>
          </p:cNvSpPr>
          <p:nvPr>
            <p:ph type="title"/>
          </p:nvPr>
        </p:nvSpPr>
        <p:spPr>
          <a:xfrm>
            <a:off x="279400" y="67808"/>
            <a:ext cx="10515600" cy="1325563"/>
          </a:xfrm>
        </p:spPr>
        <p:txBody>
          <a:bodyPr>
            <a:normAutofit/>
          </a:bodyPr>
          <a:lstStyle/>
          <a:p>
            <a:r>
              <a:rPr lang="en-US" dirty="0"/>
              <a:t>Demonstration of “Less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&lt;</a:t>
            </a:r>
            <a:r>
              <a:rPr lang="en-US" sz="2800" dirty="0"/>
              <a:t> 101=?</a:t>
            </a:r>
            <a:endParaRPr lang="en-US" sz="3600" dirty="0">
              <a:solidFill>
                <a:srgbClr val="FF0000"/>
              </a:solidFill>
            </a:endParaRPr>
          </a:p>
        </p:txBody>
      </p:sp>
      <p:sp>
        <p:nvSpPr>
          <p:cNvPr id="4" name="Rectangle 3">
            <a:extLst>
              <a:ext uri="{FF2B5EF4-FFF2-40B4-BE49-F238E27FC236}">
                <a16:creationId xmlns:a16="http://schemas.microsoft.com/office/drawing/2014/main" id="{3CB21422-5E25-4F26-ABE8-8892EFD6FDB7}"/>
              </a:ext>
            </a:extLst>
          </p:cNvPr>
          <p:cNvSpPr/>
          <p:nvPr/>
        </p:nvSpPr>
        <p:spPr>
          <a:xfrm>
            <a:off x="391886" y="1393371"/>
            <a:ext cx="1167633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1A0A09D5-1931-BEA0-1D64-42209DD32FD3}"/>
              </a:ext>
            </a:extLst>
          </p:cNvPr>
          <p:cNvGraphicFramePr>
            <a:graphicFrameLocks noGrp="1"/>
          </p:cNvGraphicFramePr>
          <p:nvPr/>
        </p:nvGraphicFramePr>
        <p:xfrm>
          <a:off x="7704666" y="1613138"/>
          <a:ext cx="4270420" cy="1105796"/>
        </p:xfrm>
        <a:graphic>
          <a:graphicData uri="http://schemas.openxmlformats.org/drawingml/2006/table">
            <a:tbl>
              <a:tblPr firstRow="1" bandRow="1">
                <a:tableStyleId>{5C22544A-7EE6-4342-B048-85BDC9FD1C3A}</a:tableStyleId>
              </a:tblPr>
              <a:tblGrid>
                <a:gridCol w="1067605">
                  <a:extLst>
                    <a:ext uri="{9D8B030D-6E8A-4147-A177-3AD203B41FA5}">
                      <a16:colId xmlns:a16="http://schemas.microsoft.com/office/drawing/2014/main" val="4247149876"/>
                    </a:ext>
                  </a:extLst>
                </a:gridCol>
                <a:gridCol w="1067605">
                  <a:extLst>
                    <a:ext uri="{9D8B030D-6E8A-4147-A177-3AD203B41FA5}">
                      <a16:colId xmlns:a16="http://schemas.microsoft.com/office/drawing/2014/main" val="508427375"/>
                    </a:ext>
                  </a:extLst>
                </a:gridCol>
                <a:gridCol w="1067605">
                  <a:extLst>
                    <a:ext uri="{9D8B030D-6E8A-4147-A177-3AD203B41FA5}">
                      <a16:colId xmlns:a16="http://schemas.microsoft.com/office/drawing/2014/main" val="213524179"/>
                    </a:ext>
                  </a:extLst>
                </a:gridCol>
                <a:gridCol w="1067605">
                  <a:extLst>
                    <a:ext uri="{9D8B030D-6E8A-4147-A177-3AD203B41FA5}">
                      <a16:colId xmlns:a16="http://schemas.microsoft.com/office/drawing/2014/main" val="3023160714"/>
                    </a:ext>
                  </a:extLst>
                </a:gridCol>
              </a:tblGrid>
              <a:tr h="623793">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374276">
                <a:tc>
                  <a:txBody>
                    <a:bodyPr/>
                    <a:lstStyle/>
                    <a:p>
                      <a:pPr algn="ctr">
                        <a:lnSpc>
                          <a:spcPct val="115000"/>
                        </a:lnSpc>
                        <a:spcAft>
                          <a:spcPts val="800"/>
                        </a:spcAft>
                        <a:buNone/>
                      </a:pPr>
                      <a:r>
                        <a:rPr lang="en-US" sz="1600" kern="1200" dirty="0">
                          <a:solidFill>
                            <a:schemeClr val="tx1"/>
                          </a:solidFill>
                          <a:effectLst/>
                          <a:latin typeface="+mn-lt"/>
                          <a:ea typeface="+mn-ea"/>
                          <a:cs typeface="+mn-cs"/>
                        </a:rPr>
                        <a:t>101</a:t>
                      </a:r>
                      <a:r>
                        <a:rPr lang="tr-TR" sz="1600" kern="1200" dirty="0">
                          <a:solidFill>
                            <a:schemeClr val="tx1"/>
                          </a:solidFill>
                          <a:effectLst/>
                          <a:latin typeface="+mn-lt"/>
                          <a:ea typeface="+mn-ea"/>
                          <a:cs typeface="+mn-cs"/>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solidFill>
                            <a:schemeClr val="tx1"/>
                          </a:solidFill>
                          <a:effectLst/>
                        </a:rPr>
                        <a:t>A &lt; B</a:t>
                      </a:r>
                      <a:endParaRPr lang="en-US"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600" dirty="0">
                          <a:solidFill>
                            <a:schemeClr val="tx1"/>
                          </a:solidFill>
                          <a:latin typeface="Calibri" panose="020F0502020204030204" pitchFamily="34" charset="0"/>
                          <a:cs typeface="Calibri" panose="020F0502020204030204" pitchFamily="34" charset="0"/>
                        </a:rPr>
                        <a:t>00000000</a:t>
                      </a:r>
                      <a:endParaRPr lang="en-US" sz="16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sp>
        <p:nvSpPr>
          <p:cNvPr id="7" name="TextBox 6">
            <a:extLst>
              <a:ext uri="{FF2B5EF4-FFF2-40B4-BE49-F238E27FC236}">
                <a16:creationId xmlns:a16="http://schemas.microsoft.com/office/drawing/2014/main" id="{D51D5680-7E07-C932-5295-609CAA123140}"/>
              </a:ext>
            </a:extLst>
          </p:cNvPr>
          <p:cNvSpPr txBox="1"/>
          <p:nvPr/>
        </p:nvSpPr>
        <p:spPr>
          <a:xfrm>
            <a:off x="7838502" y="3026738"/>
            <a:ext cx="1551293" cy="461665"/>
          </a:xfrm>
          <a:prstGeom prst="rect">
            <a:avLst/>
          </a:prstGeom>
          <a:noFill/>
        </p:spPr>
        <p:txBody>
          <a:bodyPr wrap="square" rtlCol="0">
            <a:spAutoFit/>
          </a:bodyPr>
          <a:lstStyle/>
          <a:p>
            <a:r>
              <a:rPr lang="tr-TR" sz="2400" b="1" dirty="0">
                <a:solidFill>
                  <a:schemeClr val="bg1"/>
                </a:solidFill>
              </a:rPr>
              <a:t>INPUT B</a:t>
            </a:r>
          </a:p>
        </p:txBody>
      </p:sp>
      <p:pic>
        <p:nvPicPr>
          <p:cNvPr id="5" name="Resim 8" descr="ekran görüntüsü, renklilik içeren bir resim&#10;&#10;Yapay zeka tarafından oluşturulmuş içerik yanlış olabilir.">
            <a:extLst>
              <a:ext uri="{FF2B5EF4-FFF2-40B4-BE49-F238E27FC236}">
                <a16:creationId xmlns:a16="http://schemas.microsoft.com/office/drawing/2014/main" id="{38A4E789-5161-9C13-F008-C2B2FB466906}"/>
              </a:ext>
            </a:extLst>
          </p:cNvPr>
          <p:cNvPicPr>
            <a:picLocks noChangeAspect="1"/>
          </p:cNvPicPr>
          <p:nvPr/>
        </p:nvPicPr>
        <p:blipFill>
          <a:blip r:embed="rId2"/>
          <a:stretch>
            <a:fillRect/>
          </a:stretch>
        </p:blipFill>
        <p:spPr>
          <a:xfrm>
            <a:off x="391886" y="1516864"/>
            <a:ext cx="7242344" cy="4936097"/>
          </a:xfrm>
          <a:prstGeom prst="rect">
            <a:avLst/>
          </a:prstGeom>
        </p:spPr>
      </p:pic>
    </p:spTree>
    <p:extLst>
      <p:ext uri="{BB962C8B-B14F-4D97-AF65-F5344CB8AC3E}">
        <p14:creationId xmlns:p14="http://schemas.microsoft.com/office/powerpoint/2010/main" val="249650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F4A48-6BFC-58B0-496B-5FB392B405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DC3D8-6A96-313F-79F1-785BAE442D3A}"/>
              </a:ext>
            </a:extLst>
          </p:cNvPr>
          <p:cNvSpPr>
            <a:spLocks noGrp="1"/>
          </p:cNvSpPr>
          <p:nvPr>
            <p:ph type="title"/>
          </p:nvPr>
        </p:nvSpPr>
        <p:spPr>
          <a:xfrm>
            <a:off x="279400" y="67808"/>
            <a:ext cx="10515600" cy="1325563"/>
          </a:xfrm>
        </p:spPr>
        <p:txBody>
          <a:bodyPr>
            <a:normAutofit/>
          </a:bodyPr>
          <a:lstStyle/>
          <a:p>
            <a:r>
              <a:rPr lang="en-US" dirty="0"/>
              <a:t>Demonstration of “Less Than”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&lt;</a:t>
            </a:r>
            <a:r>
              <a:rPr lang="en-US" sz="2800" dirty="0"/>
              <a:t> 101=?</a:t>
            </a:r>
            <a:endParaRPr lang="en-US" sz="3600" dirty="0">
              <a:solidFill>
                <a:srgbClr val="FF0000"/>
              </a:solidFill>
            </a:endParaRPr>
          </a:p>
        </p:txBody>
      </p:sp>
      <p:sp>
        <p:nvSpPr>
          <p:cNvPr id="4" name="Rectangle 3">
            <a:extLst>
              <a:ext uri="{FF2B5EF4-FFF2-40B4-BE49-F238E27FC236}">
                <a16:creationId xmlns:a16="http://schemas.microsoft.com/office/drawing/2014/main" id="{833A7C20-899D-4D48-2351-28B2FD741C91}"/>
              </a:ext>
            </a:extLst>
          </p:cNvPr>
          <p:cNvSpPr/>
          <p:nvPr/>
        </p:nvSpPr>
        <p:spPr>
          <a:xfrm>
            <a:off x="391886" y="1393371"/>
            <a:ext cx="11676333"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D3E07FCD-B829-8C2D-F7B1-ED6E2ACEA0AB}"/>
              </a:ext>
            </a:extLst>
          </p:cNvPr>
          <p:cNvGraphicFramePr>
            <a:graphicFrameLocks noGrp="1"/>
          </p:cNvGraphicFramePr>
          <p:nvPr/>
        </p:nvGraphicFramePr>
        <p:xfrm>
          <a:off x="7704666" y="1613138"/>
          <a:ext cx="4270420" cy="1105796"/>
        </p:xfrm>
        <a:graphic>
          <a:graphicData uri="http://schemas.openxmlformats.org/drawingml/2006/table">
            <a:tbl>
              <a:tblPr firstRow="1" bandRow="1">
                <a:tableStyleId>{5C22544A-7EE6-4342-B048-85BDC9FD1C3A}</a:tableStyleId>
              </a:tblPr>
              <a:tblGrid>
                <a:gridCol w="1067605">
                  <a:extLst>
                    <a:ext uri="{9D8B030D-6E8A-4147-A177-3AD203B41FA5}">
                      <a16:colId xmlns:a16="http://schemas.microsoft.com/office/drawing/2014/main" val="4247149876"/>
                    </a:ext>
                  </a:extLst>
                </a:gridCol>
                <a:gridCol w="1067605">
                  <a:extLst>
                    <a:ext uri="{9D8B030D-6E8A-4147-A177-3AD203B41FA5}">
                      <a16:colId xmlns:a16="http://schemas.microsoft.com/office/drawing/2014/main" val="508427375"/>
                    </a:ext>
                  </a:extLst>
                </a:gridCol>
                <a:gridCol w="1067605">
                  <a:extLst>
                    <a:ext uri="{9D8B030D-6E8A-4147-A177-3AD203B41FA5}">
                      <a16:colId xmlns:a16="http://schemas.microsoft.com/office/drawing/2014/main" val="213524179"/>
                    </a:ext>
                  </a:extLst>
                </a:gridCol>
                <a:gridCol w="1067605">
                  <a:extLst>
                    <a:ext uri="{9D8B030D-6E8A-4147-A177-3AD203B41FA5}">
                      <a16:colId xmlns:a16="http://schemas.microsoft.com/office/drawing/2014/main" val="3023160714"/>
                    </a:ext>
                  </a:extLst>
                </a:gridCol>
              </a:tblGrid>
              <a:tr h="623793">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374276">
                <a:tc>
                  <a:txBody>
                    <a:bodyPr/>
                    <a:lstStyle/>
                    <a:p>
                      <a:pPr algn="ctr">
                        <a:lnSpc>
                          <a:spcPct val="115000"/>
                        </a:lnSpc>
                        <a:spcAft>
                          <a:spcPts val="800"/>
                        </a:spcAft>
                        <a:buNone/>
                      </a:pPr>
                      <a:r>
                        <a:rPr lang="en-US" sz="1600" kern="1200" dirty="0">
                          <a:solidFill>
                            <a:schemeClr val="tx1"/>
                          </a:solidFill>
                          <a:effectLst/>
                          <a:latin typeface="+mn-lt"/>
                          <a:ea typeface="+mn-ea"/>
                          <a:cs typeface="+mn-cs"/>
                        </a:rPr>
                        <a:t>101</a:t>
                      </a:r>
                      <a:r>
                        <a:rPr lang="tr-TR" sz="1600" kern="1200" dirty="0">
                          <a:solidFill>
                            <a:schemeClr val="tx1"/>
                          </a:solidFill>
                          <a:effectLst/>
                          <a:latin typeface="+mn-lt"/>
                          <a:ea typeface="+mn-ea"/>
                          <a:cs typeface="+mn-cs"/>
                        </a:rPr>
                        <a:t>1</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600" kern="0" dirty="0">
                          <a:solidFill>
                            <a:schemeClr val="tx1"/>
                          </a:solidFill>
                          <a:effectLst/>
                        </a:rPr>
                        <a:t>A &lt; B</a:t>
                      </a:r>
                      <a:endParaRPr lang="en-US" sz="16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tr-TR"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00000000</a:t>
                      </a:r>
                      <a:endParaRPr lang="en-US" sz="16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600" dirty="0">
                          <a:solidFill>
                            <a:schemeClr val="tx1"/>
                          </a:solidFill>
                          <a:latin typeface="Calibri" panose="020F0502020204030204" pitchFamily="34" charset="0"/>
                          <a:cs typeface="Calibri" panose="020F0502020204030204" pitchFamily="34" charset="0"/>
                        </a:rPr>
                        <a:t>00000000</a:t>
                      </a:r>
                      <a:endParaRPr lang="en-US" sz="16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6" name="Resim 6" descr="ekran görüntüsü, renklilik, çizgi, uzay, boşluk, mekan içeren bir resim&#10;&#10;Yapay zeka tarafından oluşturulmuş içerik yanlış olabilir.">
            <a:extLst>
              <a:ext uri="{FF2B5EF4-FFF2-40B4-BE49-F238E27FC236}">
                <a16:creationId xmlns:a16="http://schemas.microsoft.com/office/drawing/2014/main" id="{74349EA0-5AE7-DC76-E38B-148E5FF4B264}"/>
              </a:ext>
            </a:extLst>
          </p:cNvPr>
          <p:cNvPicPr>
            <a:picLocks noChangeAspect="1"/>
          </p:cNvPicPr>
          <p:nvPr/>
        </p:nvPicPr>
        <p:blipFill>
          <a:blip r:embed="rId2"/>
          <a:stretch>
            <a:fillRect/>
          </a:stretch>
        </p:blipFill>
        <p:spPr>
          <a:xfrm>
            <a:off x="461501" y="1490134"/>
            <a:ext cx="7173551" cy="4855913"/>
          </a:xfrm>
          <a:prstGeom prst="rect">
            <a:avLst/>
          </a:prstGeom>
        </p:spPr>
      </p:pic>
    </p:spTree>
    <p:extLst>
      <p:ext uri="{BB962C8B-B14F-4D97-AF65-F5344CB8AC3E}">
        <p14:creationId xmlns:p14="http://schemas.microsoft.com/office/powerpoint/2010/main" val="702333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ED420-1492-CCA4-E5D9-6404D917D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E5A33-8359-CEDE-CA97-B6529E15F8E2}"/>
              </a:ext>
            </a:extLst>
          </p:cNvPr>
          <p:cNvSpPr>
            <a:spLocks noGrp="1"/>
          </p:cNvSpPr>
          <p:nvPr>
            <p:ph type="title"/>
          </p:nvPr>
        </p:nvSpPr>
        <p:spPr>
          <a:xfrm>
            <a:off x="391886" y="67808"/>
            <a:ext cx="10515600" cy="1325563"/>
          </a:xfrm>
        </p:spPr>
        <p:txBody>
          <a:bodyPr>
            <a:normAutofit/>
          </a:bodyPr>
          <a:lstStyle/>
          <a:p>
            <a:r>
              <a:rPr lang="en-US" dirty="0"/>
              <a:t>Demonstration of “Arithmetic left shift”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&lt;&lt;&lt;1=?</a:t>
            </a:r>
            <a:endParaRPr lang="en-US" sz="3600" dirty="0"/>
          </a:p>
        </p:txBody>
      </p:sp>
      <p:sp>
        <p:nvSpPr>
          <p:cNvPr id="4" name="Rectangle 3">
            <a:extLst>
              <a:ext uri="{FF2B5EF4-FFF2-40B4-BE49-F238E27FC236}">
                <a16:creationId xmlns:a16="http://schemas.microsoft.com/office/drawing/2014/main" id="{DF8689AA-8F39-FA59-E021-341328E09DE7}"/>
              </a:ext>
            </a:extLst>
          </p:cNvPr>
          <p:cNvSpPr/>
          <p:nvPr/>
        </p:nvSpPr>
        <p:spPr>
          <a:xfrm>
            <a:off x="391886" y="1393371"/>
            <a:ext cx="11604169"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4B5694BD-9863-C1AF-1AE5-F877A9D46212}"/>
              </a:ext>
            </a:extLst>
          </p:cNvPr>
          <p:cNvGraphicFramePr>
            <a:graphicFrameLocks noGrp="1"/>
          </p:cNvGraphicFramePr>
          <p:nvPr>
            <p:extLst>
              <p:ext uri="{D42A27DB-BD31-4B8C-83A1-F6EECF244321}">
                <p14:modId xmlns:p14="http://schemas.microsoft.com/office/powerpoint/2010/main" val="2931565041"/>
              </p:ext>
            </p:extLst>
          </p:nvPr>
        </p:nvGraphicFramePr>
        <p:xfrm>
          <a:off x="7569199" y="1487691"/>
          <a:ext cx="4426856" cy="1138185"/>
        </p:xfrm>
        <a:graphic>
          <a:graphicData uri="http://schemas.openxmlformats.org/drawingml/2006/table">
            <a:tbl>
              <a:tblPr firstRow="1" bandRow="1">
                <a:tableStyleId>{5C22544A-7EE6-4342-B048-85BDC9FD1C3A}</a:tableStyleId>
              </a:tblPr>
              <a:tblGrid>
                <a:gridCol w="914399">
                  <a:extLst>
                    <a:ext uri="{9D8B030D-6E8A-4147-A177-3AD203B41FA5}">
                      <a16:colId xmlns:a16="http://schemas.microsoft.com/office/drawing/2014/main" val="4247149876"/>
                    </a:ext>
                  </a:extLst>
                </a:gridCol>
                <a:gridCol w="1092200">
                  <a:extLst>
                    <a:ext uri="{9D8B030D-6E8A-4147-A177-3AD203B41FA5}">
                      <a16:colId xmlns:a16="http://schemas.microsoft.com/office/drawing/2014/main" val="508427375"/>
                    </a:ext>
                  </a:extLst>
                </a:gridCol>
                <a:gridCol w="1126067">
                  <a:extLst>
                    <a:ext uri="{9D8B030D-6E8A-4147-A177-3AD203B41FA5}">
                      <a16:colId xmlns:a16="http://schemas.microsoft.com/office/drawing/2014/main" val="213524179"/>
                    </a:ext>
                  </a:extLst>
                </a:gridCol>
                <a:gridCol w="1294190">
                  <a:extLst>
                    <a:ext uri="{9D8B030D-6E8A-4147-A177-3AD203B41FA5}">
                      <a16:colId xmlns:a16="http://schemas.microsoft.com/office/drawing/2014/main" val="3023160714"/>
                    </a:ext>
                  </a:extLst>
                </a:gridCol>
              </a:tblGrid>
              <a:tr h="607032">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531153">
                <a:tc>
                  <a:txBody>
                    <a:bodyPr/>
                    <a:lstStyle/>
                    <a:p>
                      <a:pPr algn="ctr">
                        <a:lnSpc>
                          <a:spcPct val="115000"/>
                        </a:lnSpc>
                        <a:spcAft>
                          <a:spcPts val="800"/>
                        </a:spcAft>
                        <a:buNone/>
                      </a:pPr>
                      <a:r>
                        <a:rPr lang="en-US" sz="1800" kern="1200" dirty="0">
                          <a:solidFill>
                            <a:schemeClr val="tx1"/>
                          </a:solidFill>
                          <a:effectLst/>
                          <a:latin typeface="+mn-lt"/>
                          <a:ea typeface="+mn-ea"/>
                          <a:cs typeface="+mn-cs"/>
                        </a:rPr>
                        <a:t>1110</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&lt;&lt;&lt;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0011 0010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800" dirty="0">
                          <a:solidFill>
                            <a:schemeClr val="tx1"/>
                          </a:solidFill>
                          <a:latin typeface="Calibri" panose="020F0502020204030204" pitchFamily="34" charset="0"/>
                          <a:cs typeface="Calibri" panose="020F0502020204030204" pitchFamily="34" charset="0"/>
                        </a:rPr>
                        <a:t>00110010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8" name="Resim 7" descr="ekran görüntüsü, metin, çizgi içeren bir resim&#10;&#10;Yapay zeka tarafından oluşturulmuş içerik yanlış olabilir.">
            <a:extLst>
              <a:ext uri="{FF2B5EF4-FFF2-40B4-BE49-F238E27FC236}">
                <a16:creationId xmlns:a16="http://schemas.microsoft.com/office/drawing/2014/main" id="{DDA63326-28A4-2B67-045D-91FD9DD5261C}"/>
              </a:ext>
            </a:extLst>
          </p:cNvPr>
          <p:cNvPicPr>
            <a:picLocks noChangeAspect="1"/>
          </p:cNvPicPr>
          <p:nvPr/>
        </p:nvPicPr>
        <p:blipFill>
          <a:blip r:embed="rId2"/>
          <a:stretch>
            <a:fillRect/>
          </a:stretch>
        </p:blipFill>
        <p:spPr>
          <a:xfrm>
            <a:off x="535818" y="1487691"/>
            <a:ext cx="6923934" cy="4870776"/>
          </a:xfrm>
          <a:prstGeom prst="rect">
            <a:avLst/>
          </a:prstGeom>
        </p:spPr>
      </p:pic>
    </p:spTree>
    <p:extLst>
      <p:ext uri="{BB962C8B-B14F-4D97-AF65-F5344CB8AC3E}">
        <p14:creationId xmlns:p14="http://schemas.microsoft.com/office/powerpoint/2010/main" val="35654721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DDEFA-3FE1-9FDC-91B9-9F40D601C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1774F-3CCC-99A9-0BCE-E49D0560A05E}"/>
              </a:ext>
            </a:extLst>
          </p:cNvPr>
          <p:cNvSpPr>
            <a:spLocks noGrp="1"/>
          </p:cNvSpPr>
          <p:nvPr>
            <p:ph type="title"/>
          </p:nvPr>
        </p:nvSpPr>
        <p:spPr>
          <a:xfrm>
            <a:off x="391886" y="67808"/>
            <a:ext cx="10515600" cy="1325563"/>
          </a:xfrm>
        </p:spPr>
        <p:txBody>
          <a:bodyPr>
            <a:normAutofit/>
          </a:bodyPr>
          <a:lstStyle/>
          <a:p>
            <a:r>
              <a:rPr lang="en-US" dirty="0"/>
              <a:t>Demonstration of “Arithmetic left shift”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&lt;&lt;&lt;1=?</a:t>
            </a:r>
            <a:endParaRPr lang="en-US" sz="3600" dirty="0"/>
          </a:p>
        </p:txBody>
      </p:sp>
      <p:sp>
        <p:nvSpPr>
          <p:cNvPr id="4" name="Rectangle 3">
            <a:extLst>
              <a:ext uri="{FF2B5EF4-FFF2-40B4-BE49-F238E27FC236}">
                <a16:creationId xmlns:a16="http://schemas.microsoft.com/office/drawing/2014/main" id="{BEE7896A-B417-66DA-6458-F1FD4D8F5634}"/>
              </a:ext>
            </a:extLst>
          </p:cNvPr>
          <p:cNvSpPr/>
          <p:nvPr/>
        </p:nvSpPr>
        <p:spPr>
          <a:xfrm>
            <a:off x="391886" y="1393371"/>
            <a:ext cx="11604169"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90158E9C-7639-4439-88A1-0C6A5D646167}"/>
              </a:ext>
            </a:extLst>
          </p:cNvPr>
          <p:cNvGraphicFramePr>
            <a:graphicFrameLocks noGrp="1"/>
          </p:cNvGraphicFramePr>
          <p:nvPr/>
        </p:nvGraphicFramePr>
        <p:xfrm>
          <a:off x="7569199" y="1487691"/>
          <a:ext cx="4426856" cy="1138185"/>
        </p:xfrm>
        <a:graphic>
          <a:graphicData uri="http://schemas.openxmlformats.org/drawingml/2006/table">
            <a:tbl>
              <a:tblPr firstRow="1" bandRow="1">
                <a:tableStyleId>{5C22544A-7EE6-4342-B048-85BDC9FD1C3A}</a:tableStyleId>
              </a:tblPr>
              <a:tblGrid>
                <a:gridCol w="914399">
                  <a:extLst>
                    <a:ext uri="{9D8B030D-6E8A-4147-A177-3AD203B41FA5}">
                      <a16:colId xmlns:a16="http://schemas.microsoft.com/office/drawing/2014/main" val="4247149876"/>
                    </a:ext>
                  </a:extLst>
                </a:gridCol>
                <a:gridCol w="1092200">
                  <a:extLst>
                    <a:ext uri="{9D8B030D-6E8A-4147-A177-3AD203B41FA5}">
                      <a16:colId xmlns:a16="http://schemas.microsoft.com/office/drawing/2014/main" val="508427375"/>
                    </a:ext>
                  </a:extLst>
                </a:gridCol>
                <a:gridCol w="1126067">
                  <a:extLst>
                    <a:ext uri="{9D8B030D-6E8A-4147-A177-3AD203B41FA5}">
                      <a16:colId xmlns:a16="http://schemas.microsoft.com/office/drawing/2014/main" val="213524179"/>
                    </a:ext>
                  </a:extLst>
                </a:gridCol>
                <a:gridCol w="1294190">
                  <a:extLst>
                    <a:ext uri="{9D8B030D-6E8A-4147-A177-3AD203B41FA5}">
                      <a16:colId xmlns:a16="http://schemas.microsoft.com/office/drawing/2014/main" val="3023160714"/>
                    </a:ext>
                  </a:extLst>
                </a:gridCol>
              </a:tblGrid>
              <a:tr h="607032">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531153">
                <a:tc>
                  <a:txBody>
                    <a:bodyPr/>
                    <a:lstStyle/>
                    <a:p>
                      <a:pPr algn="ctr">
                        <a:lnSpc>
                          <a:spcPct val="115000"/>
                        </a:lnSpc>
                        <a:spcAft>
                          <a:spcPts val="800"/>
                        </a:spcAft>
                        <a:buNone/>
                      </a:pPr>
                      <a:r>
                        <a:rPr lang="en-US" sz="1800" kern="1200" dirty="0">
                          <a:solidFill>
                            <a:schemeClr val="tx1"/>
                          </a:solidFill>
                          <a:effectLst/>
                          <a:latin typeface="+mn-lt"/>
                          <a:ea typeface="+mn-ea"/>
                          <a:cs typeface="+mn-cs"/>
                        </a:rPr>
                        <a:t>1110</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&lt;&lt;&lt;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0011 0010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800" dirty="0">
                          <a:solidFill>
                            <a:schemeClr val="tx1"/>
                          </a:solidFill>
                          <a:latin typeface="Calibri" panose="020F0502020204030204" pitchFamily="34" charset="0"/>
                          <a:cs typeface="Calibri" panose="020F0502020204030204" pitchFamily="34" charset="0"/>
                        </a:rPr>
                        <a:t>00110010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5" name="Resim 6" descr="ekran görüntüsü içeren bir resim&#10;&#10;Yapay zeka tarafından oluşturulmuş içerik yanlış olabilir.">
            <a:extLst>
              <a:ext uri="{FF2B5EF4-FFF2-40B4-BE49-F238E27FC236}">
                <a16:creationId xmlns:a16="http://schemas.microsoft.com/office/drawing/2014/main" id="{38993C21-9C66-1CA0-D2CC-9C8E6D33B022}"/>
              </a:ext>
            </a:extLst>
          </p:cNvPr>
          <p:cNvPicPr>
            <a:picLocks noChangeAspect="1"/>
          </p:cNvPicPr>
          <p:nvPr/>
        </p:nvPicPr>
        <p:blipFill>
          <a:blip r:embed="rId2"/>
          <a:stretch>
            <a:fillRect/>
          </a:stretch>
        </p:blipFill>
        <p:spPr>
          <a:xfrm>
            <a:off x="451153" y="1487691"/>
            <a:ext cx="7005968" cy="4904642"/>
          </a:xfrm>
          <a:prstGeom prst="rect">
            <a:avLst/>
          </a:prstGeom>
        </p:spPr>
      </p:pic>
      <p:sp>
        <p:nvSpPr>
          <p:cNvPr id="6" name="TextBox 5">
            <a:extLst>
              <a:ext uri="{FF2B5EF4-FFF2-40B4-BE49-F238E27FC236}">
                <a16:creationId xmlns:a16="http://schemas.microsoft.com/office/drawing/2014/main" id="{87500108-53D2-A781-9CB8-B4A2654FF80E}"/>
              </a:ext>
            </a:extLst>
          </p:cNvPr>
          <p:cNvSpPr txBox="1"/>
          <p:nvPr/>
        </p:nvSpPr>
        <p:spPr>
          <a:xfrm>
            <a:off x="7838502" y="3026738"/>
            <a:ext cx="1551293" cy="461665"/>
          </a:xfrm>
          <a:prstGeom prst="rect">
            <a:avLst/>
          </a:prstGeom>
          <a:noFill/>
        </p:spPr>
        <p:txBody>
          <a:bodyPr wrap="square" rtlCol="0">
            <a:spAutoFit/>
          </a:bodyPr>
          <a:lstStyle/>
          <a:p>
            <a:r>
              <a:rPr lang="tr-TR" sz="2400" b="1" dirty="0">
                <a:solidFill>
                  <a:schemeClr val="bg1"/>
                </a:solidFill>
              </a:rPr>
              <a:t>INPUT A</a:t>
            </a:r>
          </a:p>
        </p:txBody>
      </p:sp>
    </p:spTree>
    <p:extLst>
      <p:ext uri="{BB962C8B-B14F-4D97-AF65-F5344CB8AC3E}">
        <p14:creationId xmlns:p14="http://schemas.microsoft.com/office/powerpoint/2010/main" val="298077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42DCF-A339-E4FA-CC2A-E52AB7630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CD5F5-FB2C-CC5F-7AA4-078D134A23A5}"/>
              </a:ext>
            </a:extLst>
          </p:cNvPr>
          <p:cNvSpPr>
            <a:spLocks noGrp="1"/>
          </p:cNvSpPr>
          <p:nvPr>
            <p:ph type="title"/>
          </p:nvPr>
        </p:nvSpPr>
        <p:spPr>
          <a:xfrm>
            <a:off x="391886" y="67808"/>
            <a:ext cx="10515600" cy="1325563"/>
          </a:xfrm>
        </p:spPr>
        <p:txBody>
          <a:bodyPr>
            <a:normAutofit/>
          </a:bodyPr>
          <a:lstStyle/>
          <a:p>
            <a:r>
              <a:rPr lang="en-US" dirty="0"/>
              <a:t>Demonstration of “Arithmetic left shift” </a:t>
            </a:r>
            <a:br>
              <a:rPr lang="en-US" dirty="0"/>
            </a:br>
            <a:r>
              <a:rPr lang="en-US" sz="2800" dirty="0"/>
              <a:t>Last 2 digit of </a:t>
            </a:r>
            <a:r>
              <a:rPr lang="tr-TR" sz="2800" dirty="0" err="1"/>
              <a:t>my</a:t>
            </a:r>
            <a:r>
              <a:rPr lang="en-US" sz="2800" dirty="0"/>
              <a:t> Student ID=</a:t>
            </a:r>
            <a:r>
              <a:rPr lang="tr-TR" sz="2800" dirty="0"/>
              <a:t> </a:t>
            </a:r>
            <a:r>
              <a:rPr lang="en-US" sz="2800" dirty="0"/>
              <a:t>0001</a:t>
            </a:r>
            <a:r>
              <a:rPr lang="tr-TR" sz="2800" dirty="0"/>
              <a:t>1001 </a:t>
            </a:r>
            <a:r>
              <a:rPr lang="en-US" sz="2800" dirty="0"/>
              <a:t>&lt;&lt;&lt;1=?</a:t>
            </a:r>
            <a:endParaRPr lang="en-US" sz="3600" dirty="0"/>
          </a:p>
        </p:txBody>
      </p:sp>
      <p:sp>
        <p:nvSpPr>
          <p:cNvPr id="4" name="Rectangle 3">
            <a:extLst>
              <a:ext uri="{FF2B5EF4-FFF2-40B4-BE49-F238E27FC236}">
                <a16:creationId xmlns:a16="http://schemas.microsoft.com/office/drawing/2014/main" id="{7E02DD7D-24FF-5CBA-4E39-82ECE7AB9527}"/>
              </a:ext>
            </a:extLst>
          </p:cNvPr>
          <p:cNvSpPr/>
          <p:nvPr/>
        </p:nvSpPr>
        <p:spPr>
          <a:xfrm>
            <a:off x="391886" y="1393371"/>
            <a:ext cx="11604169" cy="530134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77EA05FF-A66D-5B96-85CB-2F85180C9C57}"/>
              </a:ext>
            </a:extLst>
          </p:cNvPr>
          <p:cNvGraphicFramePr>
            <a:graphicFrameLocks noGrp="1"/>
          </p:cNvGraphicFramePr>
          <p:nvPr/>
        </p:nvGraphicFramePr>
        <p:xfrm>
          <a:off x="7569199" y="1487691"/>
          <a:ext cx="4426856" cy="1138185"/>
        </p:xfrm>
        <a:graphic>
          <a:graphicData uri="http://schemas.openxmlformats.org/drawingml/2006/table">
            <a:tbl>
              <a:tblPr firstRow="1" bandRow="1">
                <a:tableStyleId>{5C22544A-7EE6-4342-B048-85BDC9FD1C3A}</a:tableStyleId>
              </a:tblPr>
              <a:tblGrid>
                <a:gridCol w="914399">
                  <a:extLst>
                    <a:ext uri="{9D8B030D-6E8A-4147-A177-3AD203B41FA5}">
                      <a16:colId xmlns:a16="http://schemas.microsoft.com/office/drawing/2014/main" val="4247149876"/>
                    </a:ext>
                  </a:extLst>
                </a:gridCol>
                <a:gridCol w="1092200">
                  <a:extLst>
                    <a:ext uri="{9D8B030D-6E8A-4147-A177-3AD203B41FA5}">
                      <a16:colId xmlns:a16="http://schemas.microsoft.com/office/drawing/2014/main" val="508427375"/>
                    </a:ext>
                  </a:extLst>
                </a:gridCol>
                <a:gridCol w="1126067">
                  <a:extLst>
                    <a:ext uri="{9D8B030D-6E8A-4147-A177-3AD203B41FA5}">
                      <a16:colId xmlns:a16="http://schemas.microsoft.com/office/drawing/2014/main" val="213524179"/>
                    </a:ext>
                  </a:extLst>
                </a:gridCol>
                <a:gridCol w="1294190">
                  <a:extLst>
                    <a:ext uri="{9D8B030D-6E8A-4147-A177-3AD203B41FA5}">
                      <a16:colId xmlns:a16="http://schemas.microsoft.com/office/drawing/2014/main" val="3023160714"/>
                    </a:ext>
                  </a:extLst>
                </a:gridCol>
              </a:tblGrid>
              <a:tr h="607032">
                <a:tc>
                  <a:txBody>
                    <a:bodyPr/>
                    <a:lstStyle/>
                    <a:p>
                      <a:pPr algn="ctr">
                        <a:lnSpc>
                          <a:spcPct val="115000"/>
                        </a:lnSpc>
                        <a:spcAft>
                          <a:spcPts val="800"/>
                        </a:spcAft>
                        <a:buNone/>
                      </a:pPr>
                      <a:r>
                        <a:rPr lang="en-US" sz="1400" kern="0" dirty="0">
                          <a:effectLst/>
                        </a:rPr>
                        <a:t>Opcode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effectLst/>
                        </a:rPr>
                        <a:t>Operation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400" kern="0" dirty="0">
                          <a:solidFill>
                            <a:schemeClr val="tx1"/>
                          </a:solidFill>
                          <a:effectLst/>
                        </a:rPr>
                        <a:t>Expected Answer</a:t>
                      </a:r>
                      <a:endParaRPr lang="en-US" sz="1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r>
                        <a:rPr lang="en-US" sz="1400" dirty="0">
                          <a:solidFill>
                            <a:schemeClr val="tx1"/>
                          </a:solidFill>
                        </a:rPr>
                        <a:t>Result of the simulation</a:t>
                      </a:r>
                    </a:p>
                  </a:txBody>
                  <a:tcPr/>
                </a:tc>
                <a:extLst>
                  <a:ext uri="{0D108BD9-81ED-4DB2-BD59-A6C34878D82A}">
                    <a16:rowId xmlns:a16="http://schemas.microsoft.com/office/drawing/2014/main" val="3025210268"/>
                  </a:ext>
                </a:extLst>
              </a:tr>
              <a:tr h="531153">
                <a:tc>
                  <a:txBody>
                    <a:bodyPr/>
                    <a:lstStyle/>
                    <a:p>
                      <a:pPr algn="ctr">
                        <a:lnSpc>
                          <a:spcPct val="115000"/>
                        </a:lnSpc>
                        <a:spcAft>
                          <a:spcPts val="800"/>
                        </a:spcAft>
                        <a:buNone/>
                      </a:pPr>
                      <a:r>
                        <a:rPr lang="en-US" sz="1800" kern="1200" dirty="0">
                          <a:solidFill>
                            <a:schemeClr val="tx1"/>
                          </a:solidFill>
                          <a:effectLst/>
                          <a:latin typeface="+mn-lt"/>
                          <a:ea typeface="+mn-ea"/>
                          <a:cs typeface="+mn-cs"/>
                        </a:rPr>
                        <a:t>1110</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0" dirty="0">
                          <a:solidFill>
                            <a:schemeClr val="tx1"/>
                          </a:solidFill>
                          <a:effectLst/>
                        </a:rPr>
                        <a:t>A &lt;&lt;&lt; B</a:t>
                      </a:r>
                      <a:endPar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18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0011 0010</a:t>
                      </a:r>
                      <a:endParaRPr lang="en-US"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r>
                        <a:rPr lang="tr-TR" sz="1800" dirty="0">
                          <a:solidFill>
                            <a:schemeClr val="tx1"/>
                          </a:solidFill>
                          <a:latin typeface="Calibri" panose="020F0502020204030204" pitchFamily="34" charset="0"/>
                          <a:cs typeface="Calibri" panose="020F0502020204030204" pitchFamily="34" charset="0"/>
                        </a:rPr>
                        <a:t>00110010</a:t>
                      </a:r>
                      <a:endParaRPr lang="en-US" sz="1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2938399"/>
                  </a:ext>
                </a:extLst>
              </a:tr>
            </a:tbl>
          </a:graphicData>
        </a:graphic>
      </p:graphicFrame>
      <p:pic>
        <p:nvPicPr>
          <p:cNvPr id="7" name="Resim 6" descr="ekran görüntüsü, çizgi, metin içeren bir resim&#10;&#10;Yapay zeka tarafından oluşturulmuş içerik yanlış olabilir.">
            <a:extLst>
              <a:ext uri="{FF2B5EF4-FFF2-40B4-BE49-F238E27FC236}">
                <a16:creationId xmlns:a16="http://schemas.microsoft.com/office/drawing/2014/main" id="{8DC6EFFA-EB19-B5C3-B22B-B92CE31B8268}"/>
              </a:ext>
            </a:extLst>
          </p:cNvPr>
          <p:cNvPicPr>
            <a:picLocks noChangeAspect="1"/>
          </p:cNvPicPr>
          <p:nvPr/>
        </p:nvPicPr>
        <p:blipFill>
          <a:blip r:embed="rId2"/>
          <a:stretch>
            <a:fillRect/>
          </a:stretch>
        </p:blipFill>
        <p:spPr>
          <a:xfrm>
            <a:off x="445845" y="1487691"/>
            <a:ext cx="7069396" cy="4924666"/>
          </a:xfrm>
          <a:prstGeom prst="rect">
            <a:avLst/>
          </a:prstGeom>
        </p:spPr>
      </p:pic>
      <p:sp>
        <p:nvSpPr>
          <p:cNvPr id="8" name="TextBox 7">
            <a:extLst>
              <a:ext uri="{FF2B5EF4-FFF2-40B4-BE49-F238E27FC236}">
                <a16:creationId xmlns:a16="http://schemas.microsoft.com/office/drawing/2014/main" id="{542281E2-D017-8BE1-F4D3-676BFA7B5E2B}"/>
              </a:ext>
            </a:extLst>
          </p:cNvPr>
          <p:cNvSpPr txBox="1"/>
          <p:nvPr/>
        </p:nvSpPr>
        <p:spPr>
          <a:xfrm>
            <a:off x="7776660" y="3120712"/>
            <a:ext cx="4011934" cy="923330"/>
          </a:xfrm>
          <a:prstGeom prst="rect">
            <a:avLst/>
          </a:prstGeom>
          <a:noFill/>
        </p:spPr>
        <p:txBody>
          <a:bodyPr wrap="square" rtlCol="0">
            <a:spAutoFit/>
          </a:bodyPr>
          <a:lstStyle/>
          <a:p>
            <a:r>
              <a:rPr lang="tr-TR" dirty="0"/>
              <a:t>I </a:t>
            </a:r>
            <a:r>
              <a:rPr lang="tr-TR" dirty="0" err="1"/>
              <a:t>did</a:t>
            </a:r>
            <a:r>
              <a:rPr lang="tr-TR" dirty="0"/>
              <a:t> a </a:t>
            </a:r>
            <a:r>
              <a:rPr lang="tr-TR" dirty="0" err="1"/>
              <a:t>simple</a:t>
            </a:r>
            <a:r>
              <a:rPr lang="tr-TR" dirty="0"/>
              <a:t> </a:t>
            </a:r>
            <a:r>
              <a:rPr lang="tr-TR" dirty="0" err="1"/>
              <a:t>design</a:t>
            </a:r>
            <a:r>
              <a:rPr lang="tr-TR" dirty="0"/>
              <a:t> </a:t>
            </a:r>
            <a:r>
              <a:rPr lang="tr-TR" dirty="0" err="1"/>
              <a:t>for</a:t>
            </a:r>
            <a:r>
              <a:rPr lang="tr-TR" dirty="0"/>
              <a:t> </a:t>
            </a:r>
            <a:r>
              <a:rPr lang="tr-TR" dirty="0" err="1"/>
              <a:t>shift</a:t>
            </a:r>
            <a:r>
              <a:rPr lang="tr-TR" dirty="0"/>
              <a:t> </a:t>
            </a:r>
            <a:r>
              <a:rPr lang="tr-TR" dirty="0" err="1"/>
              <a:t>operations</a:t>
            </a:r>
            <a:r>
              <a:rPr lang="tr-TR" dirty="0"/>
              <a:t>. I </a:t>
            </a:r>
            <a:r>
              <a:rPr lang="tr-TR" dirty="0" err="1"/>
              <a:t>just</a:t>
            </a:r>
            <a:r>
              <a:rPr lang="tr-TR" dirty="0"/>
              <a:t> </a:t>
            </a:r>
            <a:r>
              <a:rPr lang="tr-TR" dirty="0" err="1"/>
              <a:t>used</a:t>
            </a:r>
            <a:r>
              <a:rPr lang="tr-TR" dirty="0"/>
              <a:t> </a:t>
            </a:r>
            <a:r>
              <a:rPr lang="tr-TR" dirty="0" err="1"/>
              <a:t>buffer</a:t>
            </a:r>
            <a:r>
              <a:rPr lang="tr-TR" dirty="0"/>
              <a:t> </a:t>
            </a:r>
            <a:r>
              <a:rPr lang="tr-TR" dirty="0" err="1"/>
              <a:t>therefore</a:t>
            </a:r>
            <a:r>
              <a:rPr lang="tr-TR" dirty="0"/>
              <a:t> it </a:t>
            </a:r>
            <a:r>
              <a:rPr lang="tr-TR" dirty="0" err="1"/>
              <a:t>become</a:t>
            </a:r>
            <a:r>
              <a:rPr lang="tr-TR" dirty="0"/>
              <a:t> </a:t>
            </a:r>
            <a:r>
              <a:rPr lang="tr-TR" dirty="0" err="1"/>
              <a:t>fast</a:t>
            </a:r>
            <a:r>
              <a:rPr lang="tr-TR" dirty="0"/>
              <a:t> </a:t>
            </a:r>
            <a:r>
              <a:rPr lang="tr-TR" dirty="0" err="1"/>
              <a:t>and</a:t>
            </a:r>
            <a:r>
              <a:rPr lang="tr-TR" dirty="0"/>
              <a:t> </a:t>
            </a:r>
            <a:r>
              <a:rPr lang="tr-TR" dirty="0" err="1"/>
              <a:t>simple</a:t>
            </a:r>
            <a:r>
              <a:rPr lang="tr-TR" dirty="0"/>
              <a:t>.</a:t>
            </a:r>
            <a:endParaRPr lang="en-US" dirty="0"/>
          </a:p>
        </p:txBody>
      </p:sp>
    </p:spTree>
    <p:extLst>
      <p:ext uri="{BB962C8B-B14F-4D97-AF65-F5344CB8AC3E}">
        <p14:creationId xmlns:p14="http://schemas.microsoft.com/office/powerpoint/2010/main" val="3740976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21DD-4146-4E09-B50F-3B3D7F868841}"/>
              </a:ext>
            </a:extLst>
          </p:cNvPr>
          <p:cNvSpPr>
            <a:spLocks noGrp="1"/>
          </p:cNvSpPr>
          <p:nvPr>
            <p:ph type="title"/>
          </p:nvPr>
        </p:nvSpPr>
        <p:spPr/>
        <p:txBody>
          <a:bodyPr/>
          <a:lstStyle/>
          <a:p>
            <a:r>
              <a:rPr lang="en-US" dirty="0"/>
              <a:t>Demonstration of Novel Approach</a:t>
            </a:r>
          </a:p>
        </p:txBody>
      </p:sp>
      <p:sp>
        <p:nvSpPr>
          <p:cNvPr id="3" name="Content Placeholder 2">
            <a:extLst>
              <a:ext uri="{FF2B5EF4-FFF2-40B4-BE49-F238E27FC236}">
                <a16:creationId xmlns:a16="http://schemas.microsoft.com/office/drawing/2014/main" id="{6D4430DA-9E04-88FE-EF15-DF152048708F}"/>
              </a:ext>
            </a:extLst>
          </p:cNvPr>
          <p:cNvSpPr>
            <a:spLocks noGrp="1"/>
          </p:cNvSpPr>
          <p:nvPr>
            <p:ph idx="1"/>
          </p:nvPr>
        </p:nvSpPr>
        <p:spPr/>
        <p:txBody>
          <a:bodyPr>
            <a:normAutofit fontScale="62500" lnSpcReduction="20000"/>
          </a:bodyPr>
          <a:lstStyle/>
          <a:p>
            <a:r>
              <a:rPr lang="en-US" dirty="0"/>
              <a:t>In this work, a static CMOS design approach was used throughout the entire system. All logic blocks were implemented using static CMOS topology to ensure reliable operation, low static power consumption, and robust noise margins. For multiplexing operations, transmission gate–based structures were preferred instead of conventional CMOS logic in order to reduce transistor count and improve signal integrity.</a:t>
            </a:r>
            <a:endParaRPr lang="tr-TR" dirty="0"/>
          </a:p>
          <a:p>
            <a:r>
              <a:rPr lang="en-US" dirty="0"/>
              <a:t>During testing, intentional delays were introduced at the input stage to analyze dynamic behavior. Rise time and fall time measurements were performed, and it was observed that inserting buffer stages at the inputs significantly improved signal quality. The buffers reduced the effective logical effort seen by subsequent stages, resulting in smoother transitions and reduced delay variations at the outputs.</a:t>
            </a:r>
          </a:p>
          <a:p>
            <a:r>
              <a:rPr lang="en-US" dirty="0"/>
              <a:t>Each operation was first designed at the 1-bit level, and these building blocks were then combined to form the complete 8-bit data path. This modular approach simplified both verification and layout implementation. Special care was taken to limit the design to a maximum of two metal layers in order to keep routing complexity low and maintain a compact layout structure.</a:t>
            </a:r>
          </a:p>
          <a:p>
            <a:r>
              <a:rPr lang="en-US" dirty="0"/>
              <a:t>For every functional block, a dedicated schematic was created, followed by a corresponding layout design. After layout completion, a Netlist Consistency Check (NCC) was performed to verify the correctness between schematic and layout. All operations were successfully implemented except for the multiplication unit, which could not be fully completed due to its higher structural complexity.</a:t>
            </a:r>
          </a:p>
        </p:txBody>
      </p:sp>
    </p:spTree>
    <p:extLst>
      <p:ext uri="{BB962C8B-B14F-4D97-AF65-F5344CB8AC3E}">
        <p14:creationId xmlns:p14="http://schemas.microsoft.com/office/powerpoint/2010/main" val="1390760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D04D-7A35-930D-C8D1-E79A203DE9C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812393-FB25-AB8A-7D28-2ACEB5C9B190}"/>
              </a:ext>
            </a:extLst>
          </p:cNvPr>
          <p:cNvSpPr>
            <a:spLocks noGrp="1"/>
          </p:cNvSpPr>
          <p:nvPr>
            <p:ph idx="1"/>
          </p:nvPr>
        </p:nvSpPr>
        <p:spPr/>
        <p:txBody>
          <a:bodyPr>
            <a:normAutofit/>
          </a:bodyPr>
          <a:lstStyle/>
          <a:p>
            <a:r>
              <a:rPr lang="en-US" sz="1800" dirty="0"/>
              <a:t>In this project, a complete 8-bit ALU was designed and implemented using static CMOS technology. All fundamental logic and arithmetic operations, including addition, subtraction, logical operations, shifting, and comparison, were successfully realized and verified. The design was constructed using a fully custom approach, where each functional block was developed from scratch and combined to form a complete data path. A custom cell library was created and utilized throughout the design, allowing full control over layout structure and signal behavior.</a:t>
            </a:r>
          </a:p>
          <a:p>
            <a:r>
              <a:rPr lang="en-US" sz="1800" dirty="0"/>
              <a:t>Although the multiplication operation was planned as part of the design, it could not be fully implemented within the given time frame due to its higher structural complexity and increased design effort compared to other operations. Despite this limitation, all remaining operations were successfully verified at both schematic and layout levels.</a:t>
            </a:r>
          </a:p>
          <a:p>
            <a:r>
              <a:rPr lang="en-US" sz="1800" dirty="0"/>
              <a:t>Overall, the project demonstrates a complete and functional ALU design using static CMOS logic, emphasizing modularity, layout awareness, and design correctness. The work provides a strong foundation for future extensions, such as completing the multiplier unit or optimizing the design for performance and area.</a:t>
            </a:r>
          </a:p>
          <a:p>
            <a:endParaRPr lang="en-US" sz="1800" dirty="0"/>
          </a:p>
        </p:txBody>
      </p:sp>
    </p:spTree>
    <p:extLst>
      <p:ext uri="{BB962C8B-B14F-4D97-AF65-F5344CB8AC3E}">
        <p14:creationId xmlns:p14="http://schemas.microsoft.com/office/powerpoint/2010/main" val="2842279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8852</TotalTime>
  <Words>2296</Words>
  <Application>Microsoft Office PowerPoint</Application>
  <PresentationFormat>Geniş ekran</PresentationFormat>
  <Paragraphs>285</Paragraphs>
  <Slides>40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40</vt:i4>
      </vt:variant>
    </vt:vector>
  </HeadingPairs>
  <TitlesOfParts>
    <vt:vector size="45" baseType="lpstr">
      <vt:lpstr>Aptos</vt:lpstr>
      <vt:lpstr>Aptos Display</vt:lpstr>
      <vt:lpstr>Arial</vt:lpstr>
      <vt:lpstr>Calibri</vt:lpstr>
      <vt:lpstr>Office Theme</vt:lpstr>
      <vt:lpstr>ELE419  IC Design Project</vt:lpstr>
      <vt:lpstr>Literature Review</vt:lpstr>
      <vt:lpstr>Literature Review</vt:lpstr>
      <vt:lpstr>Literature Review</vt:lpstr>
      <vt:lpstr>Literature Review</vt:lpstr>
      <vt:lpstr>Physical Layout of the Complete Design</vt:lpstr>
      <vt:lpstr>Additional Design Material  8-Bit Buffer Layout</vt:lpstr>
      <vt:lpstr>Additional Design Material  8-Bit Full Adder Layout</vt:lpstr>
      <vt:lpstr>Additional Design Material  8-Bit OR Layout</vt:lpstr>
      <vt:lpstr>Additional Design Material  8-Bit AND Layout</vt:lpstr>
      <vt:lpstr>Additional Design Material  8-Bit XOR Layout</vt:lpstr>
      <vt:lpstr>Additional Design Material  8-Bit Comparator (Subtractor Used)</vt:lpstr>
      <vt:lpstr>Additional Design Material  2x1 MUX Layout</vt:lpstr>
      <vt:lpstr>Additional Design Material  Left Shift Layout</vt:lpstr>
      <vt:lpstr>Demonstration of Addition  A = 01010101 B = Last 2 digit of my Student ID in binary = 00011001</vt:lpstr>
      <vt:lpstr>Demonstration of Addition  A = 01010101 B = Last 2 digit of my Student ID in binary = 00011001</vt:lpstr>
      <vt:lpstr>Demonstration of Addition  A = 01010101 B = Last 2 digit of my Student ID in binary = 00011001</vt:lpstr>
      <vt:lpstr>Demonstration of Addition  A = 01010101 B = Last 2 digit of my Student ID in binary = 00011001</vt:lpstr>
      <vt:lpstr>Demonstration of Subtraction  Last 2 digit of my Student ID= 00011001 - 1=?</vt:lpstr>
      <vt:lpstr>Demonstration of Subtraction  Last 2 digit of my Student ID= 00011001 - 1=?</vt:lpstr>
      <vt:lpstr>Demonstration of Subtraction  Last 2 digit of my Student ID= 00011001 - 1=?</vt:lpstr>
      <vt:lpstr>Demonstration of Subtraction  Last 2 digit of my Student ID= 00011001 - 1=?</vt:lpstr>
      <vt:lpstr>Demonstration of “Multiplication”  Last 2 digit of you Student ID in binary x 10101=?</vt:lpstr>
      <vt:lpstr>Demonstration of “Equality Check”  Last 2 digit of my Student ID= 00011001 == 101=?</vt:lpstr>
      <vt:lpstr>Demonstration of “Equality Check”  Last 2 digit of my Student ID= 00011001 == 101=?</vt:lpstr>
      <vt:lpstr>Demonstration of “Equality Check”  Last 2 digit of my Student ID= 00011001 == 101=?</vt:lpstr>
      <vt:lpstr>Demonstration of “Equality Check”  Last 2 digit of my Student ID= 00011001 == 101=?</vt:lpstr>
      <vt:lpstr>Demonstration of “Greater Than”  Last 2 digit of my Student ID= 00011001 &gt; 101=?</vt:lpstr>
      <vt:lpstr>Demonstration of “Greater Than”  Last 2 digit of my Student ID= 00011001 &gt; 101=?</vt:lpstr>
      <vt:lpstr>Demonstration of “Greater Than”  Last 2 digit of my Student ID= 00011001 &gt; 101=?</vt:lpstr>
      <vt:lpstr>Demonstration of “Greater Than”  Last 2 digit of my Student ID= 00011001 &gt; 101=?</vt:lpstr>
      <vt:lpstr>Demonstration of “Less Than”  Last 2 digit of my Student ID= 00011001 &lt; 101=?</vt:lpstr>
      <vt:lpstr>Demonstration of “Less Than”  Last 2 digit of my Student ID= 00011001 &lt; 101=?</vt:lpstr>
      <vt:lpstr>Demonstration of “Less Than”  Last 2 digit of my Student ID= 00011001 &lt; 101=?</vt:lpstr>
      <vt:lpstr>Demonstration of “Less Than”  Last 2 digit of my Student ID= 00011001 &lt; 101=?</vt:lpstr>
      <vt:lpstr>Demonstration of “Arithmetic left shift”  Last 2 digit of my Student ID= 00011001 &lt;&lt;&lt;1=?</vt:lpstr>
      <vt:lpstr>Demonstration of “Arithmetic left shift”  Last 2 digit of my Student ID= 00011001 &lt;&lt;&lt;1=?</vt:lpstr>
      <vt:lpstr>Demonstration of “Arithmetic left shift”  Last 2 digit of my Student ID= 00011001 &lt;&lt;&lt;1=?</vt:lpstr>
      <vt:lpstr>Demonstration of Novel Approach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DİNÇER GÖKCEN</dc:creator>
  <cp:lastModifiedBy>Ömer Yanmaz</cp:lastModifiedBy>
  <cp:revision>71</cp:revision>
  <dcterms:created xsi:type="dcterms:W3CDTF">2025-06-04T12:33:08Z</dcterms:created>
  <dcterms:modified xsi:type="dcterms:W3CDTF">2026-01-01T20:11:43Z</dcterms:modified>
</cp:coreProperties>
</file>