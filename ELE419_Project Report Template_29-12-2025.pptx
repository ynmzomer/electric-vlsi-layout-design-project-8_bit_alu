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5" r:id="rId4"/>
    <p:sldId id="257" r:id="rId5"/>
    <p:sldId id="266" r:id="rId6"/>
    <p:sldId id="258" r:id="rId7"/>
    <p:sldId id="259" r:id="rId8"/>
    <p:sldId id="263" r:id="rId9"/>
    <p:sldId id="270" r:id="rId10"/>
    <p:sldId id="260" r:id="rId11"/>
    <p:sldId id="269" r:id="rId12"/>
    <p:sldId id="262" r:id="rId13"/>
    <p:sldId id="264"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7" autoAdjust="0"/>
    <p:restoredTop sz="94660"/>
  </p:normalViewPr>
  <p:slideViewPr>
    <p:cSldViewPr snapToGrid="0">
      <p:cViewPr varScale="1">
        <p:scale>
          <a:sx n="106" d="100"/>
          <a:sy n="106" d="100"/>
        </p:scale>
        <p:origin x="6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9328-B5E6-98CE-062F-4264869BFC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B95F05-9CA8-62E3-5C24-653C31FD4F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B4CC14-AAB9-199A-0E19-8F2638D2F8DC}"/>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5" name="Footer Placeholder 4">
            <a:extLst>
              <a:ext uri="{FF2B5EF4-FFF2-40B4-BE49-F238E27FC236}">
                <a16:creationId xmlns:a16="http://schemas.microsoft.com/office/drawing/2014/main" id="{C5F29DD4-94D4-8BFB-F0FF-28E6A4CB7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9121E9-AC7C-D419-157B-1113EA3234A2}"/>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264676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B25C-D568-2F2C-B3F8-FB22DCC0B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09DFAE-88C6-3DFD-CF64-ADCBA1492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7E1AE-8747-C17C-F6BC-74D9C70E18D0}"/>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5" name="Footer Placeholder 4">
            <a:extLst>
              <a:ext uri="{FF2B5EF4-FFF2-40B4-BE49-F238E27FC236}">
                <a16:creationId xmlns:a16="http://schemas.microsoft.com/office/drawing/2014/main" id="{6A0786E1-79E6-A6B7-81A4-7A3DF6469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F6D8E-F049-47DB-7521-0136B95E4F7B}"/>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872882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A03E-F32B-EF97-EB5D-D9265F02CC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37730F-58BC-FBB5-FCCB-57141A1935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B751D2-89E8-CD17-A2D0-7B69BDDC4D9D}"/>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5" name="Footer Placeholder 4">
            <a:extLst>
              <a:ext uri="{FF2B5EF4-FFF2-40B4-BE49-F238E27FC236}">
                <a16:creationId xmlns:a16="http://schemas.microsoft.com/office/drawing/2014/main" id="{777B0289-6411-1E09-6CFC-81584CC67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C9661-30FD-C6CD-FECF-2A348C795CEB}"/>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53403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B4D5-AC0C-15B2-1A30-6110B1695C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54A9F-47AE-1D99-CB18-F5BE66C3DC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6468E2-5A6D-737F-8C1B-CC0BB299C0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CB0069-3478-FA03-9F33-47E944821929}"/>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6" name="Footer Placeholder 5">
            <a:extLst>
              <a:ext uri="{FF2B5EF4-FFF2-40B4-BE49-F238E27FC236}">
                <a16:creationId xmlns:a16="http://schemas.microsoft.com/office/drawing/2014/main" id="{7F4776F2-2B59-7792-65FE-D9B783B141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99DA99-1A03-5C05-094C-61B60690A54A}"/>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154642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4F451-1CD1-BD36-09F0-F3D81AE23E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8695AE-2AFE-9B6B-B6CF-2BF31F4041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75D8E2-AB58-63BD-B3C0-6766F8FC50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79982E-2C12-F6E5-D7D8-179F81A80C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DFB461-9DCD-BF66-E220-1800363DF1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4A8091-3178-5C74-EEBF-03441B4A91A1}"/>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8" name="Footer Placeholder 7">
            <a:extLst>
              <a:ext uri="{FF2B5EF4-FFF2-40B4-BE49-F238E27FC236}">
                <a16:creationId xmlns:a16="http://schemas.microsoft.com/office/drawing/2014/main" id="{BD0EF472-81D1-B95E-3263-E822F09027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3CAD9E-FA99-2C86-15AB-515F22F6F581}"/>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243542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4231-1C18-38FB-71F7-CEDE64D5C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57DE4B-0173-29AA-EB6C-6DB0F530012E}"/>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4" name="Footer Placeholder 3">
            <a:extLst>
              <a:ext uri="{FF2B5EF4-FFF2-40B4-BE49-F238E27FC236}">
                <a16:creationId xmlns:a16="http://schemas.microsoft.com/office/drawing/2014/main" id="{E01616F7-9926-2255-99F5-7C62B41C29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D21911-7096-1D7E-8DDB-814118A7B169}"/>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46107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10A48E-5FCB-0324-0E20-DF96A917ABAD}"/>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3" name="Footer Placeholder 2">
            <a:extLst>
              <a:ext uri="{FF2B5EF4-FFF2-40B4-BE49-F238E27FC236}">
                <a16:creationId xmlns:a16="http://schemas.microsoft.com/office/drawing/2014/main" id="{5BD36B5B-A162-3839-8EBF-80228955B0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EEE1E3-0ADE-6B97-31D9-06D9D5AE9E80}"/>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5271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693C1-3612-A881-DA9B-B67CE58F9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04E551-9FAE-1E03-562F-515E84588E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DC52AA-6825-B487-A894-2E682E2E5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91E27C-1C0F-563F-2074-88B254E8B0EC}"/>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6" name="Footer Placeholder 5">
            <a:extLst>
              <a:ext uri="{FF2B5EF4-FFF2-40B4-BE49-F238E27FC236}">
                <a16:creationId xmlns:a16="http://schemas.microsoft.com/office/drawing/2014/main" id="{19A89293-EBE2-2A93-4BFB-6D74D9B46C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0DF0F8-416C-6ADB-5F4A-2C8F42593297}"/>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2406818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8405-1F07-3B7C-3807-0F516521B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490-180B-8060-D6FF-7D0B3B5025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37DA8B-D57D-C7E4-8CBB-AA81303A6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C3F2F0-06AE-DD93-1D13-D9747D0C30CD}"/>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6" name="Footer Placeholder 5">
            <a:extLst>
              <a:ext uri="{FF2B5EF4-FFF2-40B4-BE49-F238E27FC236}">
                <a16:creationId xmlns:a16="http://schemas.microsoft.com/office/drawing/2014/main" id="{692F0934-F9E5-15B9-29E1-A3BFC33D29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EC418-84B7-38C4-5324-9276594A6369}"/>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71058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D338-B0CF-7567-D84E-A990F015A9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4C8BD-23E0-3D1A-F74F-65F62F1659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EAF10-C048-774D-FAB9-ECBD46665AE4}"/>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5" name="Footer Placeholder 4">
            <a:extLst>
              <a:ext uri="{FF2B5EF4-FFF2-40B4-BE49-F238E27FC236}">
                <a16:creationId xmlns:a16="http://schemas.microsoft.com/office/drawing/2014/main" id="{3F9093B2-DA37-77F5-A076-FC7A3B2B2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BDD94-664A-3523-7E79-8D7FC2BC986A}"/>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4208933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59ED2-E01B-DB3A-9EC2-4BCB3F4F6B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2504DE-0D5C-F8C4-2ADA-20DDE6396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ADCF3-BCD5-89EF-2E75-805085E7EE0F}"/>
              </a:ext>
            </a:extLst>
          </p:cNvPr>
          <p:cNvSpPr>
            <a:spLocks noGrp="1"/>
          </p:cNvSpPr>
          <p:nvPr>
            <p:ph type="dt" sz="half" idx="10"/>
          </p:nvPr>
        </p:nvSpPr>
        <p:spPr/>
        <p:txBody>
          <a:bodyPr/>
          <a:lstStyle/>
          <a:p>
            <a:fld id="{557E0D16-E236-4B4E-8FDF-1821910D2C78}" type="datetimeFigureOut">
              <a:rPr lang="en-US" smtClean="0"/>
              <a:t>12/29/2025</a:t>
            </a:fld>
            <a:endParaRPr lang="en-US"/>
          </a:p>
        </p:txBody>
      </p:sp>
      <p:sp>
        <p:nvSpPr>
          <p:cNvPr id="5" name="Footer Placeholder 4">
            <a:extLst>
              <a:ext uri="{FF2B5EF4-FFF2-40B4-BE49-F238E27FC236}">
                <a16:creationId xmlns:a16="http://schemas.microsoft.com/office/drawing/2014/main" id="{10595A05-0C90-E908-5B88-E26E6C249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01E78-0BBD-7B63-E74F-B9769929329C}"/>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130155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F78D73-1D3E-9874-D40E-7F8C2E9F19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CFFA1-5BF4-0B98-CD1D-9B7E2EF5B5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2C092-5704-2312-AD46-859F84D134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7E0D16-E236-4B4E-8FDF-1821910D2C78}" type="datetimeFigureOut">
              <a:rPr lang="en-US" smtClean="0"/>
              <a:t>12/29/2025</a:t>
            </a:fld>
            <a:endParaRPr lang="en-US"/>
          </a:p>
        </p:txBody>
      </p:sp>
      <p:sp>
        <p:nvSpPr>
          <p:cNvPr id="5" name="Footer Placeholder 4">
            <a:extLst>
              <a:ext uri="{FF2B5EF4-FFF2-40B4-BE49-F238E27FC236}">
                <a16:creationId xmlns:a16="http://schemas.microsoft.com/office/drawing/2014/main" id="{64E8C68A-3471-88E5-DC24-E15826DA90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ECDAA8-3125-D778-CDEB-C1369AEC2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2789F5-F626-42C6-B915-664D7C5E39D2}" type="slidenum">
              <a:rPr lang="en-US" smtClean="0"/>
              <a:t>‹#›</a:t>
            </a:fld>
            <a:endParaRPr lang="en-US"/>
          </a:p>
        </p:txBody>
      </p:sp>
    </p:spTree>
    <p:extLst>
      <p:ext uri="{BB962C8B-B14F-4D97-AF65-F5344CB8AC3E}">
        <p14:creationId xmlns:p14="http://schemas.microsoft.com/office/powerpoint/2010/main" val="1914171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F6BB-219F-B772-63E6-440FFEC1E628}"/>
              </a:ext>
            </a:extLst>
          </p:cNvPr>
          <p:cNvSpPr>
            <a:spLocks noGrp="1"/>
          </p:cNvSpPr>
          <p:nvPr>
            <p:ph type="ctrTitle"/>
          </p:nvPr>
        </p:nvSpPr>
        <p:spPr/>
        <p:txBody>
          <a:bodyPr/>
          <a:lstStyle/>
          <a:p>
            <a:r>
              <a:rPr lang="en-US" dirty="0"/>
              <a:t>ELE419 </a:t>
            </a:r>
            <a:br>
              <a:rPr lang="en-US" dirty="0"/>
            </a:br>
            <a:r>
              <a:rPr lang="en-US" dirty="0"/>
              <a:t>IC Design Project</a:t>
            </a:r>
          </a:p>
        </p:txBody>
      </p:sp>
      <p:sp>
        <p:nvSpPr>
          <p:cNvPr id="3" name="Subtitle 2">
            <a:extLst>
              <a:ext uri="{FF2B5EF4-FFF2-40B4-BE49-F238E27FC236}">
                <a16:creationId xmlns:a16="http://schemas.microsoft.com/office/drawing/2014/main" id="{B92CEE88-DE5B-A410-D7DF-9F9285BC8465}"/>
              </a:ext>
            </a:extLst>
          </p:cNvPr>
          <p:cNvSpPr>
            <a:spLocks noGrp="1"/>
          </p:cNvSpPr>
          <p:nvPr>
            <p:ph type="subTitle" idx="1"/>
          </p:nvPr>
        </p:nvSpPr>
        <p:spPr>
          <a:xfrm>
            <a:off x="1524000" y="3602037"/>
            <a:ext cx="9144000" cy="2769733"/>
          </a:xfrm>
        </p:spPr>
        <p:txBody>
          <a:bodyPr/>
          <a:lstStyle/>
          <a:p>
            <a:r>
              <a:rPr lang="en-US" sz="3200" dirty="0">
                <a:solidFill>
                  <a:srgbClr val="FF0000"/>
                </a:solidFill>
              </a:rPr>
              <a:t>Project Name</a:t>
            </a:r>
          </a:p>
          <a:p>
            <a:endParaRPr lang="en-US" sz="3200" dirty="0"/>
          </a:p>
          <a:p>
            <a:r>
              <a:rPr lang="en-US" dirty="0">
                <a:solidFill>
                  <a:srgbClr val="FF0000"/>
                </a:solidFill>
              </a:rPr>
              <a:t>First Name/Last Name</a:t>
            </a:r>
            <a:br>
              <a:rPr lang="en-US" dirty="0">
                <a:solidFill>
                  <a:srgbClr val="FF0000"/>
                </a:solidFill>
              </a:rPr>
            </a:br>
            <a:r>
              <a:rPr lang="en-US" dirty="0">
                <a:solidFill>
                  <a:srgbClr val="FF0000"/>
                </a:solidFill>
              </a:rPr>
              <a:t>Student ID</a:t>
            </a:r>
          </a:p>
        </p:txBody>
      </p:sp>
    </p:spTree>
    <p:extLst>
      <p:ext uri="{BB962C8B-B14F-4D97-AF65-F5344CB8AC3E}">
        <p14:creationId xmlns:p14="http://schemas.microsoft.com/office/powerpoint/2010/main" val="287659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3DDD2-9CDC-EF9B-6857-6FCD84F01FD2}"/>
              </a:ext>
            </a:extLst>
          </p:cNvPr>
          <p:cNvSpPr>
            <a:spLocks noGrp="1"/>
          </p:cNvSpPr>
          <p:nvPr>
            <p:ph type="title"/>
          </p:nvPr>
        </p:nvSpPr>
        <p:spPr/>
        <p:txBody>
          <a:bodyPr/>
          <a:lstStyle/>
          <a:p>
            <a:r>
              <a:rPr lang="en-US" dirty="0">
                <a:solidFill>
                  <a:srgbClr val="FF0000"/>
                </a:solidFill>
              </a:rPr>
              <a:t>Instructions</a:t>
            </a:r>
          </a:p>
        </p:txBody>
      </p:sp>
      <p:sp>
        <p:nvSpPr>
          <p:cNvPr id="3" name="Content Placeholder 2">
            <a:extLst>
              <a:ext uri="{FF2B5EF4-FFF2-40B4-BE49-F238E27FC236}">
                <a16:creationId xmlns:a16="http://schemas.microsoft.com/office/drawing/2014/main" id="{A8A7C275-51DB-5733-806E-1BFD5E788FBE}"/>
              </a:ext>
            </a:extLst>
          </p:cNvPr>
          <p:cNvSpPr>
            <a:spLocks noGrp="1"/>
          </p:cNvSpPr>
          <p:nvPr>
            <p:ph idx="1"/>
          </p:nvPr>
        </p:nvSpPr>
        <p:spPr/>
        <p:txBody>
          <a:bodyPr>
            <a:normAutofit lnSpcReduction="10000"/>
          </a:bodyPr>
          <a:lstStyle/>
          <a:p>
            <a:r>
              <a:rPr lang="en-US" dirty="0">
                <a:solidFill>
                  <a:srgbClr val="FF0000"/>
                </a:solidFill>
              </a:rPr>
              <a:t>The sections highlighted in </a:t>
            </a:r>
            <a:r>
              <a:rPr lang="en-US" u="sng" dirty="0">
                <a:solidFill>
                  <a:srgbClr val="FF0000"/>
                </a:solidFill>
              </a:rPr>
              <a:t>red</a:t>
            </a:r>
            <a:r>
              <a:rPr lang="en-US" dirty="0">
                <a:solidFill>
                  <a:srgbClr val="FF0000"/>
                </a:solidFill>
              </a:rPr>
              <a:t> should first be removed from the final version of your report. Instead, you must add the parts you are required to write. For example, if the last two digits of your student number are requested in binary form, you should directly write the binary number.</a:t>
            </a:r>
          </a:p>
          <a:p>
            <a:r>
              <a:rPr lang="en-US" dirty="0">
                <a:solidFill>
                  <a:srgbClr val="FF0000"/>
                </a:solidFill>
              </a:rPr>
              <a:t>Images should be placed in the boxed areas.</a:t>
            </a:r>
          </a:p>
          <a:p>
            <a:r>
              <a:rPr lang="en-US" dirty="0">
                <a:solidFill>
                  <a:srgbClr val="FF0000"/>
                </a:solidFill>
              </a:rPr>
              <a:t>The tables in the slides must be filled out accurately and completely with the correct data.</a:t>
            </a:r>
          </a:p>
          <a:p>
            <a:r>
              <a:rPr lang="en-US" dirty="0">
                <a:solidFill>
                  <a:srgbClr val="FF0000"/>
                </a:solidFill>
              </a:rPr>
              <a:t>Along with this file, you must also compress your design files into a RAR archive and include them in your submission to STAR system.</a:t>
            </a:r>
          </a:p>
        </p:txBody>
      </p:sp>
    </p:spTree>
    <p:extLst>
      <p:ext uri="{BB962C8B-B14F-4D97-AF65-F5344CB8AC3E}">
        <p14:creationId xmlns:p14="http://schemas.microsoft.com/office/powerpoint/2010/main" val="123508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1B77-999E-8F95-6DA8-B2D546F384E4}"/>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C1BA2707-5AB8-C68C-250D-A720EA617005}"/>
              </a:ext>
            </a:extLst>
          </p:cNvPr>
          <p:cNvSpPr>
            <a:spLocks noGrp="1"/>
          </p:cNvSpPr>
          <p:nvPr>
            <p:ph idx="1"/>
          </p:nvPr>
        </p:nvSpPr>
        <p:spPr/>
        <p:txBody>
          <a:bodyPr/>
          <a:lstStyle/>
          <a:p>
            <a:r>
              <a:rPr lang="en-US" dirty="0">
                <a:solidFill>
                  <a:srgbClr val="FF0000"/>
                </a:solidFill>
              </a:rPr>
              <a:t>Summarize the key literature and scholarly sources that informed your study, citing relevant references other than textbook and lecture notes.</a:t>
            </a:r>
          </a:p>
          <a:p>
            <a:r>
              <a:rPr lang="en-US" dirty="0">
                <a:solidFill>
                  <a:srgbClr val="FF0000"/>
                </a:solidFill>
              </a:rPr>
              <a:t>For example: The multiplication operation was performed using the method developed by David et al. (A. David, D. George, "Method for Efficient Multiplication Processing," IEEE Journal of Circuits and Systems, vol. 15, no. 3, pp. 242-250, June 2022).</a:t>
            </a:r>
          </a:p>
          <a:p>
            <a:endParaRPr lang="en-US" dirty="0"/>
          </a:p>
        </p:txBody>
      </p:sp>
    </p:spTree>
    <p:extLst>
      <p:ext uri="{BB962C8B-B14F-4D97-AF65-F5344CB8AC3E}">
        <p14:creationId xmlns:p14="http://schemas.microsoft.com/office/powerpoint/2010/main" val="3634297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61AB3F-043F-9F7D-534F-D6C34A48CF05}"/>
              </a:ext>
            </a:extLst>
          </p:cNvPr>
          <p:cNvSpPr/>
          <p:nvPr/>
        </p:nvSpPr>
        <p:spPr>
          <a:xfrm>
            <a:off x="391886" y="1393371"/>
            <a:ext cx="11451771" cy="534125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A3F5776-0C93-BE72-D4E9-7A98EA3B256D}"/>
              </a:ext>
            </a:extLst>
          </p:cNvPr>
          <p:cNvSpPr>
            <a:spLocks noGrp="1"/>
          </p:cNvSpPr>
          <p:nvPr>
            <p:ph type="title"/>
          </p:nvPr>
        </p:nvSpPr>
        <p:spPr/>
        <p:txBody>
          <a:bodyPr/>
          <a:lstStyle/>
          <a:p>
            <a:r>
              <a:rPr lang="en-US" dirty="0"/>
              <a:t>Physical Layout of the Complete Design</a:t>
            </a:r>
          </a:p>
        </p:txBody>
      </p:sp>
      <p:sp>
        <p:nvSpPr>
          <p:cNvPr id="4" name="TextBox 3">
            <a:extLst>
              <a:ext uri="{FF2B5EF4-FFF2-40B4-BE49-F238E27FC236}">
                <a16:creationId xmlns:a16="http://schemas.microsoft.com/office/drawing/2014/main" id="{07EECD89-FEBA-548B-5ADF-AB604B41CFDD}"/>
              </a:ext>
            </a:extLst>
          </p:cNvPr>
          <p:cNvSpPr txBox="1"/>
          <p:nvPr/>
        </p:nvSpPr>
        <p:spPr>
          <a:xfrm>
            <a:off x="2144487" y="2967335"/>
            <a:ext cx="7511142" cy="646331"/>
          </a:xfrm>
          <a:prstGeom prst="rect">
            <a:avLst/>
          </a:prstGeom>
          <a:noFill/>
        </p:spPr>
        <p:txBody>
          <a:bodyPr wrap="square" rtlCol="0">
            <a:spAutoFit/>
          </a:bodyPr>
          <a:lstStyle/>
          <a:p>
            <a:r>
              <a:rPr lang="en-US" dirty="0">
                <a:solidFill>
                  <a:srgbClr val="FF0000"/>
                </a:solidFill>
              </a:rPr>
              <a:t>Put the screenshot of the complete design inside the borders. </a:t>
            </a:r>
          </a:p>
          <a:p>
            <a:r>
              <a:rPr lang="en-US" dirty="0">
                <a:solidFill>
                  <a:srgbClr val="FF0000"/>
                </a:solidFill>
              </a:rPr>
              <a:t>Ensure the image has a high resolution for clarity.</a:t>
            </a:r>
          </a:p>
        </p:txBody>
      </p:sp>
    </p:spTree>
    <p:extLst>
      <p:ext uri="{BB962C8B-B14F-4D97-AF65-F5344CB8AC3E}">
        <p14:creationId xmlns:p14="http://schemas.microsoft.com/office/powerpoint/2010/main" val="7982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B03A0-945A-3DDF-DBBF-DC7317B90AAC}"/>
              </a:ext>
            </a:extLst>
          </p:cNvPr>
          <p:cNvSpPr>
            <a:spLocks noGrp="1"/>
          </p:cNvSpPr>
          <p:nvPr>
            <p:ph type="title"/>
          </p:nvPr>
        </p:nvSpPr>
        <p:spPr/>
        <p:txBody>
          <a:bodyPr/>
          <a:lstStyle/>
          <a:p>
            <a:r>
              <a:rPr lang="en-US" dirty="0"/>
              <a:t>Additional Design Material</a:t>
            </a:r>
          </a:p>
        </p:txBody>
      </p:sp>
      <p:sp>
        <p:nvSpPr>
          <p:cNvPr id="3" name="Content Placeholder 2">
            <a:extLst>
              <a:ext uri="{FF2B5EF4-FFF2-40B4-BE49-F238E27FC236}">
                <a16:creationId xmlns:a16="http://schemas.microsoft.com/office/drawing/2014/main" id="{2D11263F-B285-4108-3353-DF589BEC9CBE}"/>
              </a:ext>
            </a:extLst>
          </p:cNvPr>
          <p:cNvSpPr>
            <a:spLocks noGrp="1"/>
          </p:cNvSpPr>
          <p:nvPr>
            <p:ph idx="1"/>
          </p:nvPr>
        </p:nvSpPr>
        <p:spPr/>
        <p:txBody>
          <a:bodyPr/>
          <a:lstStyle/>
          <a:p>
            <a:r>
              <a:rPr lang="en-US" dirty="0">
                <a:solidFill>
                  <a:srgbClr val="FF0000"/>
                </a:solidFill>
              </a:rPr>
              <a:t>Put additional material you want to share such as transistor level design.</a:t>
            </a:r>
          </a:p>
        </p:txBody>
      </p:sp>
    </p:spTree>
    <p:extLst>
      <p:ext uri="{BB962C8B-B14F-4D97-AF65-F5344CB8AC3E}">
        <p14:creationId xmlns:p14="http://schemas.microsoft.com/office/powerpoint/2010/main" val="950985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E75B-F48C-CC79-E428-ACB15310F68F}"/>
              </a:ext>
            </a:extLst>
          </p:cNvPr>
          <p:cNvSpPr>
            <a:spLocks noGrp="1"/>
          </p:cNvSpPr>
          <p:nvPr>
            <p:ph type="title"/>
          </p:nvPr>
        </p:nvSpPr>
        <p:spPr>
          <a:xfrm>
            <a:off x="838200" y="67808"/>
            <a:ext cx="10515600" cy="1325563"/>
          </a:xfrm>
        </p:spPr>
        <p:txBody>
          <a:bodyPr>
            <a:normAutofit fontScale="90000"/>
          </a:bodyPr>
          <a:lstStyle/>
          <a:p>
            <a:r>
              <a:rPr lang="en-US" dirty="0"/>
              <a:t>Demonstration of Addition </a:t>
            </a:r>
            <a:br>
              <a:rPr lang="en-US" dirty="0"/>
            </a:br>
            <a:r>
              <a:rPr lang="en-US" sz="3600" dirty="0"/>
              <a:t>A = 01010101</a:t>
            </a:r>
            <a:br>
              <a:rPr lang="en-US" sz="3600" dirty="0"/>
            </a:br>
            <a:r>
              <a:rPr lang="en-US" sz="3600" dirty="0"/>
              <a:t>B = </a:t>
            </a:r>
            <a:r>
              <a:rPr lang="en-US" sz="3600" dirty="0">
                <a:solidFill>
                  <a:srgbClr val="FF0000"/>
                </a:solidFill>
              </a:rPr>
              <a:t>Last 2 digit of you Student ID in binary=?</a:t>
            </a:r>
          </a:p>
        </p:txBody>
      </p:sp>
      <p:sp>
        <p:nvSpPr>
          <p:cNvPr id="4" name="Rectangle 3">
            <a:extLst>
              <a:ext uri="{FF2B5EF4-FFF2-40B4-BE49-F238E27FC236}">
                <a16:creationId xmlns:a16="http://schemas.microsoft.com/office/drawing/2014/main" id="{664D26A9-2AA6-5591-2764-356E66F69817}"/>
              </a:ext>
            </a:extLst>
          </p:cNvPr>
          <p:cNvSpPr/>
          <p:nvPr/>
        </p:nvSpPr>
        <p:spPr>
          <a:xfrm>
            <a:off x="391886" y="1393371"/>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612FC84E-C6E9-81E4-0F88-96D092FDDAE2}"/>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graphicFrame>
        <p:nvGraphicFramePr>
          <p:cNvPr id="10" name="Table 9">
            <a:extLst>
              <a:ext uri="{FF2B5EF4-FFF2-40B4-BE49-F238E27FC236}">
                <a16:creationId xmlns:a16="http://schemas.microsoft.com/office/drawing/2014/main" id="{2C6971FA-B05F-781C-58C3-341DAEA87251}"/>
              </a:ext>
            </a:extLst>
          </p:cNvPr>
          <p:cNvGraphicFramePr>
            <a:graphicFrameLocks noGrp="1"/>
          </p:cNvGraphicFramePr>
          <p:nvPr>
            <p:extLst>
              <p:ext uri="{D42A27DB-BD31-4B8C-83A1-F6EECF244321}">
                <p14:modId xmlns:p14="http://schemas.microsoft.com/office/powerpoint/2010/main" val="301565541"/>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a:effectLst/>
                        </a:rPr>
                        <a:t>Operation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2400" kern="0" dirty="0">
                          <a:solidFill>
                            <a:srgbClr val="FF0000"/>
                          </a:solidFill>
                          <a:effectLst/>
                        </a:rPr>
                        <a:t>0000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a:effectLst/>
                        </a:rPr>
                        <a:t>A + B</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Tree>
    <p:extLst>
      <p:ext uri="{BB962C8B-B14F-4D97-AF65-F5344CB8AC3E}">
        <p14:creationId xmlns:p14="http://schemas.microsoft.com/office/powerpoint/2010/main" val="1937930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6BB6A-BD15-03B1-0197-402C6605B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DA143-FA45-420B-117D-36FACC14D24C}"/>
              </a:ext>
            </a:extLst>
          </p:cNvPr>
          <p:cNvSpPr>
            <a:spLocks noGrp="1"/>
          </p:cNvSpPr>
          <p:nvPr>
            <p:ph type="title"/>
          </p:nvPr>
        </p:nvSpPr>
        <p:spPr>
          <a:xfrm>
            <a:off x="838200" y="67808"/>
            <a:ext cx="10515600" cy="1325563"/>
          </a:xfrm>
        </p:spPr>
        <p:txBody>
          <a:bodyPr>
            <a:normAutofit/>
          </a:bodyPr>
          <a:lstStyle/>
          <a:p>
            <a:r>
              <a:rPr lang="en-US" dirty="0"/>
              <a:t>Demonstration of Subtraction </a:t>
            </a:r>
            <a:br>
              <a:rPr lang="en-US" dirty="0"/>
            </a:br>
            <a:r>
              <a:rPr lang="en-US" sz="3600" dirty="0">
                <a:solidFill>
                  <a:srgbClr val="FF0000"/>
                </a:solidFill>
              </a:rPr>
              <a:t>Last 2 digit of you Student ID in binary - 1=?</a:t>
            </a:r>
          </a:p>
        </p:txBody>
      </p:sp>
      <p:sp>
        <p:nvSpPr>
          <p:cNvPr id="4" name="Rectangle 3">
            <a:extLst>
              <a:ext uri="{FF2B5EF4-FFF2-40B4-BE49-F238E27FC236}">
                <a16:creationId xmlns:a16="http://schemas.microsoft.com/office/drawing/2014/main" id="{5A98D1C0-45CE-2685-D9E3-83B36EA40C50}"/>
              </a:ext>
            </a:extLst>
          </p:cNvPr>
          <p:cNvSpPr/>
          <p:nvPr/>
        </p:nvSpPr>
        <p:spPr>
          <a:xfrm>
            <a:off x="391886" y="1393371"/>
            <a:ext cx="956854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BD59B72-765C-85B8-DB93-624490373FBE}"/>
              </a:ext>
            </a:extLst>
          </p:cNvPr>
          <p:cNvGraphicFramePr>
            <a:graphicFrameLocks noGrp="1"/>
          </p:cNvGraphicFramePr>
          <p:nvPr>
            <p:extLst>
              <p:ext uri="{D42A27DB-BD31-4B8C-83A1-F6EECF244321}">
                <p14:modId xmlns:p14="http://schemas.microsoft.com/office/powerpoint/2010/main" val="1203894321"/>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2400" kern="0" dirty="0">
                          <a:solidFill>
                            <a:srgbClr val="FF0000"/>
                          </a:solidFill>
                          <a:effectLst/>
                        </a:rPr>
                        <a:t>0000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7990AE65-132D-DE2A-E1BD-1194E2D11C36}"/>
              </a:ext>
            </a:extLst>
          </p:cNvPr>
          <p:cNvSpPr txBox="1"/>
          <p:nvPr/>
        </p:nvSpPr>
        <p:spPr>
          <a:xfrm>
            <a:off x="10123714" y="2884714"/>
            <a:ext cx="1872343" cy="3693319"/>
          </a:xfrm>
          <a:prstGeom prst="rect">
            <a:avLst/>
          </a:prstGeom>
          <a:noFill/>
        </p:spPr>
        <p:txBody>
          <a:bodyPr wrap="square" rtlCol="0">
            <a:spAutoFit/>
          </a:bodyPr>
          <a:lstStyle/>
          <a:p>
            <a:r>
              <a:rPr lang="en-US" dirty="0">
                <a:solidFill>
                  <a:srgbClr val="FF0000"/>
                </a:solidFill>
              </a:rPr>
              <a:t>Comments with short sentences or bullets……………………………………………………………………………………………………………………………………………………………………………………………………………………………………</a:t>
            </a:r>
          </a:p>
        </p:txBody>
      </p:sp>
      <p:sp>
        <p:nvSpPr>
          <p:cNvPr id="7" name="TextBox 6">
            <a:extLst>
              <a:ext uri="{FF2B5EF4-FFF2-40B4-BE49-F238E27FC236}">
                <a16:creationId xmlns:a16="http://schemas.microsoft.com/office/drawing/2014/main" id="{A7CF40EA-02F0-D727-875D-278CFF67D14F}"/>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spTree>
    <p:extLst>
      <p:ext uri="{BB962C8B-B14F-4D97-AF65-F5344CB8AC3E}">
        <p14:creationId xmlns:p14="http://schemas.microsoft.com/office/powerpoint/2010/main" val="1682551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3F43-92AB-12B9-18A2-C0D03776E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1476F-250A-F54D-A18D-4BF02C16414E}"/>
              </a:ext>
            </a:extLst>
          </p:cNvPr>
          <p:cNvSpPr>
            <a:spLocks noGrp="1"/>
          </p:cNvSpPr>
          <p:nvPr>
            <p:ph type="title"/>
          </p:nvPr>
        </p:nvSpPr>
        <p:spPr>
          <a:xfrm>
            <a:off x="838200" y="67808"/>
            <a:ext cx="10515600" cy="1325563"/>
          </a:xfrm>
        </p:spPr>
        <p:txBody>
          <a:bodyPr>
            <a:normAutofit/>
          </a:bodyPr>
          <a:lstStyle/>
          <a:p>
            <a:r>
              <a:rPr lang="en-US" dirty="0"/>
              <a:t>Demonstration of “Multiplication” </a:t>
            </a:r>
            <a:br>
              <a:rPr lang="en-US" dirty="0"/>
            </a:br>
            <a:r>
              <a:rPr lang="en-US" sz="3600" dirty="0">
                <a:solidFill>
                  <a:srgbClr val="FF0000"/>
                </a:solidFill>
              </a:rPr>
              <a:t>Last 2 digit of you Student ID in binary x 10101=?</a:t>
            </a:r>
          </a:p>
        </p:txBody>
      </p:sp>
      <p:sp>
        <p:nvSpPr>
          <p:cNvPr id="4" name="Rectangle 3">
            <a:extLst>
              <a:ext uri="{FF2B5EF4-FFF2-40B4-BE49-F238E27FC236}">
                <a16:creationId xmlns:a16="http://schemas.microsoft.com/office/drawing/2014/main" id="{31D11571-38FD-1DB3-771C-8A642A852282}"/>
              </a:ext>
            </a:extLst>
          </p:cNvPr>
          <p:cNvSpPr/>
          <p:nvPr/>
        </p:nvSpPr>
        <p:spPr>
          <a:xfrm>
            <a:off x="391886" y="1393371"/>
            <a:ext cx="956854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9022E339-04CE-73DB-5D06-9AAF7BB1E644}"/>
              </a:ext>
            </a:extLst>
          </p:cNvPr>
          <p:cNvGraphicFramePr>
            <a:graphicFrameLocks noGrp="1"/>
          </p:cNvGraphicFramePr>
          <p:nvPr>
            <p:extLst>
              <p:ext uri="{D42A27DB-BD31-4B8C-83A1-F6EECF244321}">
                <p14:modId xmlns:p14="http://schemas.microsoft.com/office/powerpoint/2010/main" val="1915612084"/>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1000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x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BEFFE281-6497-9F71-E8F8-E7BDC194D777}"/>
              </a:ext>
            </a:extLst>
          </p:cNvPr>
          <p:cNvSpPr txBox="1"/>
          <p:nvPr/>
        </p:nvSpPr>
        <p:spPr>
          <a:xfrm>
            <a:off x="10123714" y="2884714"/>
            <a:ext cx="1872343" cy="3693319"/>
          </a:xfrm>
          <a:prstGeom prst="rect">
            <a:avLst/>
          </a:prstGeom>
          <a:noFill/>
        </p:spPr>
        <p:txBody>
          <a:bodyPr wrap="square" rtlCol="0">
            <a:spAutoFit/>
          </a:bodyPr>
          <a:lstStyle/>
          <a:p>
            <a:r>
              <a:rPr lang="en-US" dirty="0">
                <a:solidFill>
                  <a:srgbClr val="FF0000"/>
                </a:solidFill>
              </a:rPr>
              <a:t>Comments with short sentences or bullets……………………………………………………………………………………………………………………………………………………………………………………………………………………………………</a:t>
            </a:r>
          </a:p>
        </p:txBody>
      </p:sp>
      <p:sp>
        <p:nvSpPr>
          <p:cNvPr id="7" name="TextBox 6">
            <a:extLst>
              <a:ext uri="{FF2B5EF4-FFF2-40B4-BE49-F238E27FC236}">
                <a16:creationId xmlns:a16="http://schemas.microsoft.com/office/drawing/2014/main" id="{E737008C-E975-16D9-C783-74B2C6268E36}"/>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spTree>
    <p:extLst>
      <p:ext uri="{BB962C8B-B14F-4D97-AF65-F5344CB8AC3E}">
        <p14:creationId xmlns:p14="http://schemas.microsoft.com/office/powerpoint/2010/main" val="4191621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884F0-02E6-8590-3CA4-C9793470C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FA732-3A2B-CD9F-3CE2-108F28981B0D}"/>
              </a:ext>
            </a:extLst>
          </p:cNvPr>
          <p:cNvSpPr>
            <a:spLocks noGrp="1"/>
          </p:cNvSpPr>
          <p:nvPr>
            <p:ph type="title"/>
          </p:nvPr>
        </p:nvSpPr>
        <p:spPr>
          <a:xfrm>
            <a:off x="838200" y="67808"/>
            <a:ext cx="10515600" cy="1325563"/>
          </a:xfrm>
        </p:spPr>
        <p:txBody>
          <a:bodyPr>
            <a:normAutofit/>
          </a:bodyPr>
          <a:lstStyle/>
          <a:p>
            <a:r>
              <a:rPr lang="en-US" dirty="0"/>
              <a:t>Demonstration of “Equality Check” </a:t>
            </a:r>
            <a:br>
              <a:rPr lang="en-US" dirty="0"/>
            </a:br>
            <a:r>
              <a:rPr lang="en-US" sz="3600" dirty="0">
                <a:solidFill>
                  <a:srgbClr val="FF0000"/>
                </a:solidFill>
              </a:rPr>
              <a:t>Last 2 digit of you Student ID in binary == 101=?</a:t>
            </a:r>
          </a:p>
        </p:txBody>
      </p:sp>
      <p:sp>
        <p:nvSpPr>
          <p:cNvPr id="4" name="Rectangle 3">
            <a:extLst>
              <a:ext uri="{FF2B5EF4-FFF2-40B4-BE49-F238E27FC236}">
                <a16:creationId xmlns:a16="http://schemas.microsoft.com/office/drawing/2014/main" id="{8A8CDCD2-EAF1-0716-C764-BCE1AD5A5D33}"/>
              </a:ext>
            </a:extLst>
          </p:cNvPr>
          <p:cNvSpPr/>
          <p:nvPr/>
        </p:nvSpPr>
        <p:spPr>
          <a:xfrm>
            <a:off x="391886" y="1393371"/>
            <a:ext cx="956854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C46E60E8-0B2B-8657-F57A-E7FB2BEBDECA}"/>
              </a:ext>
            </a:extLst>
          </p:cNvPr>
          <p:cNvGraphicFramePr>
            <a:graphicFrameLocks noGrp="1"/>
          </p:cNvGraphicFramePr>
          <p:nvPr>
            <p:extLst>
              <p:ext uri="{D42A27DB-BD31-4B8C-83A1-F6EECF244321}">
                <p14:modId xmlns:p14="http://schemas.microsoft.com/office/powerpoint/2010/main" val="1447686997"/>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1001</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92B6A522-44B2-5E66-169D-D92A7CE1097A}"/>
              </a:ext>
            </a:extLst>
          </p:cNvPr>
          <p:cNvSpPr txBox="1"/>
          <p:nvPr/>
        </p:nvSpPr>
        <p:spPr>
          <a:xfrm>
            <a:off x="10123714" y="2884714"/>
            <a:ext cx="1872343" cy="3693319"/>
          </a:xfrm>
          <a:prstGeom prst="rect">
            <a:avLst/>
          </a:prstGeom>
          <a:noFill/>
        </p:spPr>
        <p:txBody>
          <a:bodyPr wrap="square" rtlCol="0">
            <a:spAutoFit/>
          </a:bodyPr>
          <a:lstStyle/>
          <a:p>
            <a:r>
              <a:rPr lang="en-US" dirty="0">
                <a:solidFill>
                  <a:srgbClr val="FF0000"/>
                </a:solidFill>
              </a:rPr>
              <a:t>Comments with short sentences or bullets……………………………………………………………………………………………………………………………………………………………………………………………………………………………………</a:t>
            </a:r>
          </a:p>
        </p:txBody>
      </p:sp>
      <p:sp>
        <p:nvSpPr>
          <p:cNvPr id="7" name="TextBox 6">
            <a:extLst>
              <a:ext uri="{FF2B5EF4-FFF2-40B4-BE49-F238E27FC236}">
                <a16:creationId xmlns:a16="http://schemas.microsoft.com/office/drawing/2014/main" id="{559FD47D-1B1B-EE1E-1935-A2DB28583DD5}"/>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spTree>
    <p:extLst>
      <p:ext uri="{BB962C8B-B14F-4D97-AF65-F5344CB8AC3E}">
        <p14:creationId xmlns:p14="http://schemas.microsoft.com/office/powerpoint/2010/main" val="2332011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C469-DC7B-E2E1-2150-619A1B3C7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A32BB-2DEE-C5FD-8535-C92E2D8584E9}"/>
              </a:ext>
            </a:extLst>
          </p:cNvPr>
          <p:cNvSpPr>
            <a:spLocks noGrp="1"/>
          </p:cNvSpPr>
          <p:nvPr>
            <p:ph type="title"/>
          </p:nvPr>
        </p:nvSpPr>
        <p:spPr>
          <a:xfrm>
            <a:off x="838200" y="67808"/>
            <a:ext cx="10515600" cy="1325563"/>
          </a:xfrm>
        </p:spPr>
        <p:txBody>
          <a:bodyPr>
            <a:normAutofit/>
          </a:bodyPr>
          <a:lstStyle/>
          <a:p>
            <a:r>
              <a:rPr lang="en-US" dirty="0"/>
              <a:t>Demonstration of “Greater Than” </a:t>
            </a:r>
            <a:br>
              <a:rPr lang="en-US" dirty="0"/>
            </a:br>
            <a:r>
              <a:rPr lang="en-US" sz="3600" dirty="0">
                <a:solidFill>
                  <a:srgbClr val="FF0000"/>
                </a:solidFill>
              </a:rPr>
              <a:t>Last 2 digit of you Student ID in binary &gt; 101=?</a:t>
            </a:r>
          </a:p>
        </p:txBody>
      </p:sp>
      <p:sp>
        <p:nvSpPr>
          <p:cNvPr id="4" name="Rectangle 3">
            <a:extLst>
              <a:ext uri="{FF2B5EF4-FFF2-40B4-BE49-F238E27FC236}">
                <a16:creationId xmlns:a16="http://schemas.microsoft.com/office/drawing/2014/main" id="{CC28B4AE-29AE-7F40-F414-2798C9AC8338}"/>
              </a:ext>
            </a:extLst>
          </p:cNvPr>
          <p:cNvSpPr/>
          <p:nvPr/>
        </p:nvSpPr>
        <p:spPr>
          <a:xfrm>
            <a:off x="391886" y="1393371"/>
            <a:ext cx="956854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D4C4160-FF7C-E1D1-4DC2-C7F5B3A418B5}"/>
              </a:ext>
            </a:extLst>
          </p:cNvPr>
          <p:cNvGraphicFramePr>
            <a:graphicFrameLocks noGrp="1"/>
          </p:cNvGraphicFramePr>
          <p:nvPr>
            <p:extLst>
              <p:ext uri="{D42A27DB-BD31-4B8C-83A1-F6EECF244321}">
                <p14:modId xmlns:p14="http://schemas.microsoft.com/office/powerpoint/2010/main" val="2747425042"/>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1010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&gt;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ACE1E947-CC4F-84CD-7D47-416F651EB52F}"/>
              </a:ext>
            </a:extLst>
          </p:cNvPr>
          <p:cNvSpPr txBox="1"/>
          <p:nvPr/>
        </p:nvSpPr>
        <p:spPr>
          <a:xfrm>
            <a:off x="10123714" y="2884714"/>
            <a:ext cx="1872343" cy="3693319"/>
          </a:xfrm>
          <a:prstGeom prst="rect">
            <a:avLst/>
          </a:prstGeom>
          <a:noFill/>
        </p:spPr>
        <p:txBody>
          <a:bodyPr wrap="square" rtlCol="0">
            <a:spAutoFit/>
          </a:bodyPr>
          <a:lstStyle/>
          <a:p>
            <a:r>
              <a:rPr lang="en-US" dirty="0">
                <a:solidFill>
                  <a:srgbClr val="FF0000"/>
                </a:solidFill>
              </a:rPr>
              <a:t>Comments with short sentences or bullets……………………………………………………………………………………………………………………………………………………………………………………………………………………………………</a:t>
            </a:r>
          </a:p>
        </p:txBody>
      </p:sp>
      <p:sp>
        <p:nvSpPr>
          <p:cNvPr id="7" name="TextBox 6">
            <a:extLst>
              <a:ext uri="{FF2B5EF4-FFF2-40B4-BE49-F238E27FC236}">
                <a16:creationId xmlns:a16="http://schemas.microsoft.com/office/drawing/2014/main" id="{ED91D731-F2FC-30D0-1EC5-207DDE8790CC}"/>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spTree>
    <p:extLst>
      <p:ext uri="{BB962C8B-B14F-4D97-AF65-F5344CB8AC3E}">
        <p14:creationId xmlns:p14="http://schemas.microsoft.com/office/powerpoint/2010/main" val="2755174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2C27C-50CC-0E7D-96EB-525163BE9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C2B26-EACF-4A18-36A4-DE7DE842728D}"/>
              </a:ext>
            </a:extLst>
          </p:cNvPr>
          <p:cNvSpPr>
            <a:spLocks noGrp="1"/>
          </p:cNvSpPr>
          <p:nvPr>
            <p:ph type="title"/>
          </p:nvPr>
        </p:nvSpPr>
        <p:spPr>
          <a:xfrm>
            <a:off x="838200" y="67808"/>
            <a:ext cx="10515600" cy="1325563"/>
          </a:xfrm>
        </p:spPr>
        <p:txBody>
          <a:bodyPr>
            <a:normAutofit/>
          </a:bodyPr>
          <a:lstStyle/>
          <a:p>
            <a:r>
              <a:rPr lang="en-US" dirty="0"/>
              <a:t>Demonstration of “Less Than” </a:t>
            </a:r>
            <a:br>
              <a:rPr lang="en-US" dirty="0"/>
            </a:br>
            <a:r>
              <a:rPr lang="en-US" sz="3600" dirty="0">
                <a:solidFill>
                  <a:srgbClr val="FF0000"/>
                </a:solidFill>
              </a:rPr>
              <a:t>Last 2 digit of you Student ID in binary &lt; 101=?</a:t>
            </a:r>
          </a:p>
        </p:txBody>
      </p:sp>
      <p:sp>
        <p:nvSpPr>
          <p:cNvPr id="4" name="Rectangle 3">
            <a:extLst>
              <a:ext uri="{FF2B5EF4-FFF2-40B4-BE49-F238E27FC236}">
                <a16:creationId xmlns:a16="http://schemas.microsoft.com/office/drawing/2014/main" id="{C5E73E06-14D1-A9DD-6BF9-3F2972B387C5}"/>
              </a:ext>
            </a:extLst>
          </p:cNvPr>
          <p:cNvSpPr/>
          <p:nvPr/>
        </p:nvSpPr>
        <p:spPr>
          <a:xfrm>
            <a:off x="391886" y="1393371"/>
            <a:ext cx="956854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85572201-DA1A-9D5D-9A72-0F9618DC0F44}"/>
              </a:ext>
            </a:extLst>
          </p:cNvPr>
          <p:cNvGraphicFramePr>
            <a:graphicFrameLocks noGrp="1"/>
          </p:cNvGraphicFramePr>
          <p:nvPr>
            <p:extLst>
              <p:ext uri="{D42A27DB-BD31-4B8C-83A1-F6EECF244321}">
                <p14:modId xmlns:p14="http://schemas.microsoft.com/office/powerpoint/2010/main" val="2738167265"/>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1010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&lt;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E4D0CA6D-CAD5-9C7D-7E9C-F5A3285086EA}"/>
              </a:ext>
            </a:extLst>
          </p:cNvPr>
          <p:cNvSpPr txBox="1"/>
          <p:nvPr/>
        </p:nvSpPr>
        <p:spPr>
          <a:xfrm>
            <a:off x="10123714" y="2884714"/>
            <a:ext cx="1872343" cy="3693319"/>
          </a:xfrm>
          <a:prstGeom prst="rect">
            <a:avLst/>
          </a:prstGeom>
          <a:noFill/>
        </p:spPr>
        <p:txBody>
          <a:bodyPr wrap="square" rtlCol="0">
            <a:spAutoFit/>
          </a:bodyPr>
          <a:lstStyle/>
          <a:p>
            <a:r>
              <a:rPr lang="en-US" dirty="0">
                <a:solidFill>
                  <a:srgbClr val="FF0000"/>
                </a:solidFill>
              </a:rPr>
              <a:t>Comments with short sentences or bullets……………………………………………………………………………………………………………………………………………………………………………………………………………………………………</a:t>
            </a:r>
          </a:p>
        </p:txBody>
      </p:sp>
      <p:sp>
        <p:nvSpPr>
          <p:cNvPr id="7" name="TextBox 6">
            <a:extLst>
              <a:ext uri="{FF2B5EF4-FFF2-40B4-BE49-F238E27FC236}">
                <a16:creationId xmlns:a16="http://schemas.microsoft.com/office/drawing/2014/main" id="{9EC93A86-8398-D3DD-A9DC-C75CC27AAC6D}"/>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spTree>
    <p:extLst>
      <p:ext uri="{BB962C8B-B14F-4D97-AF65-F5344CB8AC3E}">
        <p14:creationId xmlns:p14="http://schemas.microsoft.com/office/powerpoint/2010/main" val="3830342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D420-1492-CCA4-E5D9-6404D917D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E5A33-8359-CEDE-CA97-B6529E15F8E2}"/>
              </a:ext>
            </a:extLst>
          </p:cNvPr>
          <p:cNvSpPr>
            <a:spLocks noGrp="1"/>
          </p:cNvSpPr>
          <p:nvPr>
            <p:ph type="title"/>
          </p:nvPr>
        </p:nvSpPr>
        <p:spPr>
          <a:xfrm>
            <a:off x="838200" y="67808"/>
            <a:ext cx="10515600" cy="1325563"/>
          </a:xfrm>
        </p:spPr>
        <p:txBody>
          <a:bodyPr>
            <a:normAutofit/>
          </a:bodyPr>
          <a:lstStyle/>
          <a:p>
            <a:r>
              <a:rPr lang="en-US" dirty="0"/>
              <a:t>Demonstration of “Arithmetic left shift” </a:t>
            </a:r>
            <a:br>
              <a:rPr lang="en-US" dirty="0"/>
            </a:br>
            <a:r>
              <a:rPr lang="en-US" sz="3600" dirty="0">
                <a:solidFill>
                  <a:srgbClr val="FF0000"/>
                </a:solidFill>
              </a:rPr>
              <a:t>Last 2 digit of you Student ID in binary &lt;&lt;&lt;1=?</a:t>
            </a:r>
          </a:p>
        </p:txBody>
      </p:sp>
      <p:sp>
        <p:nvSpPr>
          <p:cNvPr id="4" name="Rectangle 3">
            <a:extLst>
              <a:ext uri="{FF2B5EF4-FFF2-40B4-BE49-F238E27FC236}">
                <a16:creationId xmlns:a16="http://schemas.microsoft.com/office/drawing/2014/main" id="{DF8689AA-8F39-FA59-E021-341328E09DE7}"/>
              </a:ext>
            </a:extLst>
          </p:cNvPr>
          <p:cNvSpPr/>
          <p:nvPr/>
        </p:nvSpPr>
        <p:spPr>
          <a:xfrm>
            <a:off x="391886" y="1393371"/>
            <a:ext cx="956854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B5694BD-9863-C1AF-1AE5-F877A9D46212}"/>
              </a:ext>
            </a:extLst>
          </p:cNvPr>
          <p:cNvGraphicFramePr>
            <a:graphicFrameLocks noGrp="1"/>
          </p:cNvGraphicFramePr>
          <p:nvPr>
            <p:extLst>
              <p:ext uri="{D42A27DB-BD31-4B8C-83A1-F6EECF244321}">
                <p14:modId xmlns:p14="http://schemas.microsoft.com/office/powerpoint/2010/main" val="2257891144"/>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1110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&lt;&lt;&lt;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
                      </a:r>
                    </a:p>
                  </a:txBody>
                  <a:tcPr marL="9525" marR="9525" marT="9525" marB="9525" anchor="ctr"/>
                </a:tc>
                <a:tc>
                  <a:txBody>
                    <a:bodyPr/>
                    <a:lstStyle/>
                    <a:p>
                      <a:r>
                        <a:rPr lang="en-US" sz="1800" dirty="0">
                          <a:solidFill>
                            <a:srgbClr val="FF0000"/>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E9C619AA-2BB4-0892-D8FA-F7A201DE4E5C}"/>
              </a:ext>
            </a:extLst>
          </p:cNvPr>
          <p:cNvSpPr txBox="1"/>
          <p:nvPr/>
        </p:nvSpPr>
        <p:spPr>
          <a:xfrm>
            <a:off x="10123714" y="2884714"/>
            <a:ext cx="1872343" cy="3693319"/>
          </a:xfrm>
          <a:prstGeom prst="rect">
            <a:avLst/>
          </a:prstGeom>
          <a:noFill/>
        </p:spPr>
        <p:txBody>
          <a:bodyPr wrap="square" rtlCol="0">
            <a:spAutoFit/>
          </a:bodyPr>
          <a:lstStyle/>
          <a:p>
            <a:r>
              <a:rPr lang="en-US" dirty="0">
                <a:solidFill>
                  <a:srgbClr val="FF0000"/>
                </a:solidFill>
              </a:rPr>
              <a:t>Comments with short sentences or bullets……………………………………………………………………………………………………………………………………………………………………………………………………………………………………</a:t>
            </a:r>
          </a:p>
        </p:txBody>
      </p:sp>
      <p:sp>
        <p:nvSpPr>
          <p:cNvPr id="7" name="TextBox 6">
            <a:extLst>
              <a:ext uri="{FF2B5EF4-FFF2-40B4-BE49-F238E27FC236}">
                <a16:creationId xmlns:a16="http://schemas.microsoft.com/office/drawing/2014/main" id="{750AEF3E-C5BD-48C0-D2C5-7D8EBCE3153E}"/>
              </a:ext>
            </a:extLst>
          </p:cNvPr>
          <p:cNvSpPr txBox="1"/>
          <p:nvPr/>
        </p:nvSpPr>
        <p:spPr>
          <a:xfrm>
            <a:off x="2111829" y="3722449"/>
            <a:ext cx="5769427" cy="1477328"/>
          </a:xfrm>
          <a:prstGeom prst="rect">
            <a:avLst/>
          </a:prstGeom>
          <a:noFill/>
        </p:spPr>
        <p:txBody>
          <a:bodyPr wrap="square" rtlCol="0">
            <a:spAutoFit/>
          </a:bodyPr>
          <a:lstStyle/>
          <a:p>
            <a:r>
              <a:rPr lang="en-US" dirty="0">
                <a:solidFill>
                  <a:srgbClr val="FF0000"/>
                </a:solidFill>
              </a:rPr>
              <a:t>Put Spice simulation results here in the following order: </a:t>
            </a:r>
          </a:p>
          <a:p>
            <a:r>
              <a:rPr lang="en-US" dirty="0">
                <a:solidFill>
                  <a:srgbClr val="FF0000"/>
                </a:solidFill>
              </a:rPr>
              <a:t>Opcode</a:t>
            </a:r>
          </a:p>
          <a:p>
            <a:r>
              <a:rPr lang="en-US" dirty="0">
                <a:solidFill>
                  <a:srgbClr val="FF0000"/>
                </a:solidFill>
              </a:rPr>
              <a:t>A input</a:t>
            </a:r>
          </a:p>
          <a:p>
            <a:r>
              <a:rPr lang="en-US" dirty="0">
                <a:solidFill>
                  <a:srgbClr val="FF0000"/>
                </a:solidFill>
              </a:rPr>
              <a:t>B input</a:t>
            </a:r>
          </a:p>
          <a:p>
            <a:r>
              <a:rPr lang="en-US" dirty="0">
                <a:solidFill>
                  <a:srgbClr val="FF0000"/>
                </a:solidFill>
              </a:rPr>
              <a:t>Result</a:t>
            </a:r>
          </a:p>
        </p:txBody>
      </p:sp>
    </p:spTree>
    <p:extLst>
      <p:ext uri="{BB962C8B-B14F-4D97-AF65-F5344CB8AC3E}">
        <p14:creationId xmlns:p14="http://schemas.microsoft.com/office/powerpoint/2010/main" val="3565472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21DD-4146-4E09-B50F-3B3D7F868841}"/>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6D4430DA-9E04-88FE-EF15-DF152048708F}"/>
              </a:ext>
            </a:extLst>
          </p:cNvPr>
          <p:cNvSpPr>
            <a:spLocks noGrp="1"/>
          </p:cNvSpPr>
          <p:nvPr>
            <p:ph idx="1"/>
          </p:nvPr>
        </p:nvSpPr>
        <p:spPr/>
        <p:txBody>
          <a:bodyPr/>
          <a:lstStyle/>
          <a:p>
            <a:r>
              <a:rPr lang="en-US" dirty="0">
                <a:solidFill>
                  <a:srgbClr val="FF0000"/>
                </a:solidFill>
              </a:rPr>
              <a:t>Explain the novel approach you used in your designs.</a:t>
            </a:r>
          </a:p>
          <a:p>
            <a:r>
              <a:rPr lang="en-US" dirty="0">
                <a:solidFill>
                  <a:srgbClr val="FF0000"/>
                </a:solidFill>
              </a:rPr>
              <a:t>Demonstrate with Figures from simulations or circuit designs.</a:t>
            </a:r>
          </a:p>
        </p:txBody>
      </p:sp>
    </p:spTree>
    <p:extLst>
      <p:ext uri="{BB962C8B-B14F-4D97-AF65-F5344CB8AC3E}">
        <p14:creationId xmlns:p14="http://schemas.microsoft.com/office/powerpoint/2010/main" val="1390760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D04D-7A35-930D-C8D1-E79A203DE9C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812393-FB25-AB8A-7D28-2ACEB5C9B19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42279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8656</TotalTime>
  <Words>653</Words>
  <Application>Microsoft Office PowerPoint</Application>
  <PresentationFormat>Widescreen</PresentationFormat>
  <Paragraphs>125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ELE419  IC Design Project</vt:lpstr>
      <vt:lpstr>Instructions</vt:lpstr>
      <vt:lpstr>Literature Review</vt:lpstr>
      <vt:lpstr>Physical Layout of the Complete Design</vt:lpstr>
      <vt:lpstr>Additional Design Material</vt:lpstr>
      <vt:lpstr>Demonstration of Addition  A = 01010101 B = Last 2 digit of you Student ID in binary=?</vt:lpstr>
      <vt:lpstr>Demonstration of Subtraction  Last 2 digit of you Student ID in binary - 1=?</vt:lpstr>
      <vt:lpstr>Demonstration of “Multiplication”  Last 2 digit of you Student ID in binary x 10101=?</vt:lpstr>
      <vt:lpstr>Demonstration of “Equality Check”  Last 2 digit of you Student ID in binary == 101=?</vt:lpstr>
      <vt:lpstr>Demonstration of “Greater Than”  Last 2 digit of you Student ID in binary &gt; 101=?</vt:lpstr>
      <vt:lpstr>Demonstration of “Less Than”  Last 2 digit of you Student ID in binary &lt; 101=?</vt:lpstr>
      <vt:lpstr>Demonstration of “Arithmetic left shift”  Last 2 digit of you Student ID in binary &lt;&lt;&lt;1=?</vt:lpstr>
      <vt:lpstr>Demonstration of Novel Approach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DİNÇER GÖKCEN</dc:creator>
  <cp:lastModifiedBy>DİNÇER GÖKCEN</cp:lastModifiedBy>
  <cp:revision>7</cp:revision>
  <dcterms:created xsi:type="dcterms:W3CDTF">2025-06-04T12:33:08Z</dcterms:created>
  <dcterms:modified xsi:type="dcterms:W3CDTF">2025-12-29T09:34:33Z</dcterms:modified>
</cp:coreProperties>
</file>